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9"/>
  </p:notesMasterIdLst>
  <p:sldIdLst>
    <p:sldId id="293" r:id="rId2"/>
    <p:sldId id="269" r:id="rId3"/>
    <p:sldId id="259" r:id="rId4"/>
    <p:sldId id="298" r:id="rId5"/>
    <p:sldId id="299" r:id="rId6"/>
    <p:sldId id="289" r:id="rId7"/>
    <p:sldId id="312" r:id="rId8"/>
    <p:sldId id="313" r:id="rId9"/>
    <p:sldId id="314" r:id="rId10"/>
    <p:sldId id="315" r:id="rId11"/>
    <p:sldId id="294" r:id="rId12"/>
    <p:sldId id="316" r:id="rId13"/>
    <p:sldId id="317" r:id="rId14"/>
    <p:sldId id="318" r:id="rId15"/>
    <p:sldId id="319" r:id="rId16"/>
    <p:sldId id="320" r:id="rId17"/>
    <p:sldId id="321" r:id="rId18"/>
    <p:sldId id="322" r:id="rId19"/>
    <p:sldId id="323" r:id="rId20"/>
    <p:sldId id="324" r:id="rId21"/>
    <p:sldId id="325" r:id="rId22"/>
    <p:sldId id="326" r:id="rId23"/>
    <p:sldId id="295" r:id="rId24"/>
    <p:sldId id="327" r:id="rId25"/>
    <p:sldId id="328" r:id="rId26"/>
    <p:sldId id="300" r:id="rId27"/>
    <p:sldId id="306" r:id="rId28"/>
    <p:sldId id="307" r:id="rId29"/>
    <p:sldId id="331" r:id="rId30"/>
    <p:sldId id="332" r:id="rId31"/>
    <p:sldId id="296" r:id="rId32"/>
    <p:sldId id="311" r:id="rId33"/>
    <p:sldId id="308" r:id="rId34"/>
    <p:sldId id="297" r:id="rId35"/>
    <p:sldId id="329" r:id="rId36"/>
    <p:sldId id="330" r:id="rId37"/>
    <p:sldId id="333" r:id="rId63"/>
    <p:sldId id="334" r:id="rId64"/>
    <p:sldId id="335" r:id="rId65"/>
    <p:sldId id="336" r:id="rId66"/>
    <p:sldId id="287" r:id="rId38"/>
  </p:sldIdLst>
  <p:sldSz cx="12192000" cy="6858000"/>
  <p:notesSz cx="6858000" cy="9144000"/>
  <p:embeddedFontLst>
    <p:embeddedFont>
      <p:font typeface="Inter" panose="020B0604020202020204" charset="0"/>
      <p:regular r:id="rId40"/>
      <p:bold r:id="rId41"/>
      <p:italic r:id="rId42"/>
      <p:boldItalic r:id="rId43"/>
    </p:embeddedFont>
    <p:embeddedFont>
      <p:font typeface="Inter Medium" panose="020B0604020202020204" charset="0"/>
      <p:regular r:id="rId44"/>
      <p:bold r:id="rId45"/>
      <p:italic r:id="rId46"/>
      <p:boldItalic r:id="rId47"/>
    </p:embeddedFont>
    <p:embeddedFont>
      <p:font typeface="Inter SemiBold" panose="020B0604020202020204" charset="0"/>
      <p:regular r:id="rId48"/>
      <p:bold r:id="rId49"/>
      <p:italic r:id="rId50"/>
      <p:boldItalic r:id="rId51"/>
    </p:embeddedFont>
    <p:embeddedFont>
      <p:font typeface="Plus Jakarta Sans" panose="020B0604020202020204" charset="0"/>
      <p:regular r:id="rId52"/>
      <p:bold r:id="rId53"/>
      <p:italic r:id="rId54"/>
      <p:boldItalic r:id="rId55"/>
    </p:embeddedFont>
    <p:embeddedFont>
      <p:font typeface="Plus Jakarta Sans ExtraBold" panose="020B0604020202020204" charset="0"/>
      <p:bold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95">
          <p15:clr>
            <a:srgbClr val="A4A3A4"/>
          </p15:clr>
        </p15:guide>
        <p15:guide id="2" pos="3840">
          <p15:clr>
            <a:srgbClr val="A4A3A4"/>
          </p15:clr>
        </p15:guide>
        <p15:guide id="3" orient="horz" pos="187">
          <p15:clr>
            <a:srgbClr val="A4A3A4"/>
          </p15:clr>
        </p15:guide>
        <p15:guide id="4" pos="438">
          <p15:clr>
            <a:srgbClr val="A4A3A4"/>
          </p15:clr>
        </p15:guide>
        <p15:guide id="5" orient="horz" pos="2387">
          <p15:clr>
            <a:srgbClr val="A4A3A4"/>
          </p15:clr>
        </p15:guide>
        <p15:guide id="6" orient="horz" pos="2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8" roundtripDataSignature="AMtx7miuq0NguNk5LHHA5FwT6FGEpdEKb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57BCAD3-15E7-4015-9B5F-DF1D467188F8}">
  <a:tblStyle styleId="{457BCAD3-15E7-4015-9B5F-DF1D467188F8}"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BE7"/>
          </a:solidFill>
        </a:fill>
      </a:tcStyle>
    </a:wholeTbl>
    <a:band1H>
      <a:tcTxStyle/>
      <a:tcStyle>
        <a:tcBdr/>
        <a:fill>
          <a:solidFill>
            <a:srgbClr val="CAD5CC"/>
          </a:solidFill>
        </a:fill>
      </a:tcStyle>
    </a:band1H>
    <a:band2H>
      <a:tcTxStyle/>
      <a:tcStyle>
        <a:tcBdr/>
      </a:tcStyle>
    </a:band2H>
    <a:band1V>
      <a:tcTxStyle/>
      <a:tcStyle>
        <a:tcBdr/>
        <a:fill>
          <a:solidFill>
            <a:srgbClr val="CAD5CC"/>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873" autoAdjust="0"/>
    <p:restoredTop sz="94660"/>
  </p:normalViewPr>
  <p:slideViewPr>
    <p:cSldViewPr snapToGrid="0">
      <p:cViewPr varScale="1">
        <p:scale>
          <a:sx n="83" d="100"/>
          <a:sy n="83" d="100"/>
        </p:scale>
        <p:origin x="108" y="138"/>
      </p:cViewPr>
      <p:guideLst>
        <p:guide orient="horz" pos="595"/>
        <p:guide pos="3840"/>
        <p:guide orient="horz" pos="187"/>
        <p:guide pos="438"/>
        <p:guide orient="horz" pos="2387"/>
        <p:guide orient="horz" pos="2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font" Target="fonts/font1.fntdata"/><Relationship Id="rId41" Type="http://schemas.openxmlformats.org/officeDocument/2006/relationships/font" Target="fonts/font2.fntdata"/><Relationship Id="rId42" Type="http://schemas.openxmlformats.org/officeDocument/2006/relationships/font" Target="fonts/font3.fntdata"/><Relationship Id="rId43" Type="http://schemas.openxmlformats.org/officeDocument/2006/relationships/font" Target="fonts/font4.fntdata"/><Relationship Id="rId44" Type="http://schemas.openxmlformats.org/officeDocument/2006/relationships/font" Target="fonts/font5.fntdata"/><Relationship Id="rId45" Type="http://schemas.openxmlformats.org/officeDocument/2006/relationships/font" Target="fonts/font6.fntdata"/><Relationship Id="rId46" Type="http://schemas.openxmlformats.org/officeDocument/2006/relationships/font" Target="fonts/font7.fntdata"/><Relationship Id="rId47" Type="http://schemas.openxmlformats.org/officeDocument/2006/relationships/font" Target="fonts/font8.fntdata"/><Relationship Id="rId48" Type="http://schemas.openxmlformats.org/officeDocument/2006/relationships/font" Target="fonts/font9.fntdata"/><Relationship Id="rId49" Type="http://schemas.openxmlformats.org/officeDocument/2006/relationships/font" Target="fonts/font10.fntdata"/><Relationship Id="rId50" Type="http://schemas.openxmlformats.org/officeDocument/2006/relationships/font" Target="fonts/font11.fntdata"/><Relationship Id="rId51" Type="http://schemas.openxmlformats.org/officeDocument/2006/relationships/font" Target="fonts/font12.fntdata"/><Relationship Id="rId52" Type="http://schemas.openxmlformats.org/officeDocument/2006/relationships/font" Target="fonts/font13.fntdata"/><Relationship Id="rId53" Type="http://schemas.openxmlformats.org/officeDocument/2006/relationships/font" Target="fonts/font14.fntdata"/><Relationship Id="rId54" Type="http://schemas.openxmlformats.org/officeDocument/2006/relationships/font" Target="fonts/font15.fntdata"/><Relationship Id="rId55" Type="http://schemas.openxmlformats.org/officeDocument/2006/relationships/font" Target="fonts/font16.fntdata"/><Relationship Id="rId56" Type="http://schemas.openxmlformats.org/officeDocument/2006/relationships/font" Target="fonts/font17.fntdata"/><Relationship Id="rId57" Type="http://schemas.openxmlformats.org/officeDocument/2006/relationships/font" Target="fonts/font18.fntdata"/><Relationship Id="rId58" Type="http://customschemas.google.com/relationships/presentationmetadata" Target="metadata"/><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 Id="rId63" Type="http://schemas.openxmlformats.org/officeDocument/2006/relationships/slide" Target="slides/slide38.xml"/><Relationship Id="rId64" Type="http://schemas.openxmlformats.org/officeDocument/2006/relationships/slide" Target="slides/slide39.xml"/><Relationship Id="rId65" Type="http://schemas.openxmlformats.org/officeDocument/2006/relationships/slide" Target="slides/slide40.xml"/><Relationship Id="rId66"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CO"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355996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8869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5867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54350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8933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14738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67023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3756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1081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4534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5723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22596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2502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83105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53921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3305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7086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16084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13904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44023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97136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6990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19948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93372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16358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626276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80547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7743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93096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80065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7158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74443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136108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4433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3" name="Google Shape;433;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5"/>
        <p:cNvGrpSpPr/>
        <p:nvPr/>
      </p:nvGrpSpPr>
      <p:grpSpPr>
        <a:xfrm>
          <a:off x="0" y="0"/>
          <a:ext cx="0" cy="0"/>
          <a:chOff x="0" y="0"/>
          <a:chExt cx="0" cy="0"/>
        </a:xfrm>
      </p:grpSpPr>
      <p:sp>
        <p:nvSpPr>
          <p:cNvPr id="16" name="Google Shape;16;p34"/>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4"/>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21"/>
        <p:cNvGrpSpPr/>
        <p:nvPr/>
      </p:nvGrpSpPr>
      <p:grpSpPr>
        <a:xfrm>
          <a:off x="0" y="0"/>
          <a:ext cx="0" cy="0"/>
          <a:chOff x="0" y="0"/>
          <a:chExt cx="0" cy="0"/>
        </a:xfrm>
      </p:grpSpPr>
      <p:sp>
        <p:nvSpPr>
          <p:cNvPr id="22" name="Google Shape;22;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5"/>
        <p:cNvGrpSpPr/>
        <p:nvPr/>
      </p:nvGrpSpPr>
      <p:grpSpPr>
        <a:xfrm>
          <a:off x="0" y="0"/>
          <a:ext cx="0" cy="0"/>
          <a:chOff x="0" y="0"/>
          <a:chExt cx="0" cy="0"/>
        </a:xfrm>
      </p:grpSpPr>
      <p:sp>
        <p:nvSpPr>
          <p:cNvPr id="46" name="Google Shape;46;p3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3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EC388"/>
              </a:buClr>
              <a:buSzPts val="2400"/>
              <a:buNone/>
              <a:defRPr sz="2400">
                <a:solidFill>
                  <a:srgbClr val="8EC388"/>
                </a:solidFill>
              </a:defRPr>
            </a:lvl1pPr>
            <a:lvl2pPr marL="914400" lvl="1" indent="-228600" algn="l">
              <a:lnSpc>
                <a:spcPct val="90000"/>
              </a:lnSpc>
              <a:spcBef>
                <a:spcPts val="500"/>
              </a:spcBef>
              <a:spcAft>
                <a:spcPts val="0"/>
              </a:spcAft>
              <a:buClr>
                <a:srgbClr val="8EC388"/>
              </a:buClr>
              <a:buSzPts val="2000"/>
              <a:buNone/>
              <a:defRPr sz="2000">
                <a:solidFill>
                  <a:srgbClr val="8EC388"/>
                </a:solidFill>
              </a:defRPr>
            </a:lvl2pPr>
            <a:lvl3pPr marL="1371600" lvl="2" indent="-228600" algn="l">
              <a:lnSpc>
                <a:spcPct val="90000"/>
              </a:lnSpc>
              <a:spcBef>
                <a:spcPts val="500"/>
              </a:spcBef>
              <a:spcAft>
                <a:spcPts val="0"/>
              </a:spcAft>
              <a:buClr>
                <a:srgbClr val="8EC388"/>
              </a:buClr>
              <a:buSzPts val="1800"/>
              <a:buNone/>
              <a:defRPr sz="1800">
                <a:solidFill>
                  <a:srgbClr val="8EC388"/>
                </a:solidFill>
              </a:defRPr>
            </a:lvl3pPr>
            <a:lvl4pPr marL="1828800" lvl="3" indent="-228600" algn="l">
              <a:lnSpc>
                <a:spcPct val="90000"/>
              </a:lnSpc>
              <a:spcBef>
                <a:spcPts val="500"/>
              </a:spcBef>
              <a:spcAft>
                <a:spcPts val="0"/>
              </a:spcAft>
              <a:buClr>
                <a:srgbClr val="8EC388"/>
              </a:buClr>
              <a:buSzPts val="1600"/>
              <a:buNone/>
              <a:defRPr sz="1600">
                <a:solidFill>
                  <a:srgbClr val="8EC388"/>
                </a:solidFill>
              </a:defRPr>
            </a:lvl4pPr>
            <a:lvl5pPr marL="2286000" lvl="4" indent="-228600" algn="l">
              <a:lnSpc>
                <a:spcPct val="90000"/>
              </a:lnSpc>
              <a:spcBef>
                <a:spcPts val="500"/>
              </a:spcBef>
              <a:spcAft>
                <a:spcPts val="0"/>
              </a:spcAft>
              <a:buClr>
                <a:srgbClr val="8EC388"/>
              </a:buClr>
              <a:buSzPts val="1600"/>
              <a:buNone/>
              <a:defRPr sz="1600">
                <a:solidFill>
                  <a:srgbClr val="8EC388"/>
                </a:solidFill>
              </a:defRPr>
            </a:lvl5pPr>
            <a:lvl6pPr marL="2743200" lvl="5" indent="-228600" algn="l">
              <a:lnSpc>
                <a:spcPct val="90000"/>
              </a:lnSpc>
              <a:spcBef>
                <a:spcPts val="500"/>
              </a:spcBef>
              <a:spcAft>
                <a:spcPts val="0"/>
              </a:spcAft>
              <a:buClr>
                <a:srgbClr val="8EC388"/>
              </a:buClr>
              <a:buSzPts val="1600"/>
              <a:buNone/>
              <a:defRPr sz="1600">
                <a:solidFill>
                  <a:srgbClr val="8EC388"/>
                </a:solidFill>
              </a:defRPr>
            </a:lvl6pPr>
            <a:lvl7pPr marL="3200400" lvl="6" indent="-228600" algn="l">
              <a:lnSpc>
                <a:spcPct val="90000"/>
              </a:lnSpc>
              <a:spcBef>
                <a:spcPts val="500"/>
              </a:spcBef>
              <a:spcAft>
                <a:spcPts val="0"/>
              </a:spcAft>
              <a:buClr>
                <a:srgbClr val="8EC388"/>
              </a:buClr>
              <a:buSzPts val="1600"/>
              <a:buNone/>
              <a:defRPr sz="1600">
                <a:solidFill>
                  <a:srgbClr val="8EC388"/>
                </a:solidFill>
              </a:defRPr>
            </a:lvl7pPr>
            <a:lvl8pPr marL="3657600" lvl="7" indent="-228600" algn="l">
              <a:lnSpc>
                <a:spcPct val="90000"/>
              </a:lnSpc>
              <a:spcBef>
                <a:spcPts val="500"/>
              </a:spcBef>
              <a:spcAft>
                <a:spcPts val="0"/>
              </a:spcAft>
              <a:buClr>
                <a:srgbClr val="8EC388"/>
              </a:buClr>
              <a:buSzPts val="1600"/>
              <a:buNone/>
              <a:defRPr sz="1600">
                <a:solidFill>
                  <a:srgbClr val="8EC388"/>
                </a:solidFill>
              </a:defRPr>
            </a:lvl8pPr>
            <a:lvl9pPr marL="4114800" lvl="8" indent="-228600" algn="l">
              <a:lnSpc>
                <a:spcPct val="90000"/>
              </a:lnSpc>
              <a:spcBef>
                <a:spcPts val="500"/>
              </a:spcBef>
              <a:spcAft>
                <a:spcPts val="0"/>
              </a:spcAft>
              <a:buClr>
                <a:srgbClr val="8EC388"/>
              </a:buClr>
              <a:buSzPts val="1600"/>
              <a:buNone/>
              <a:defRPr sz="1600">
                <a:solidFill>
                  <a:srgbClr val="8EC388"/>
                </a:solidFill>
              </a:defRPr>
            </a:lvl9pPr>
          </a:lstStyle>
          <a:p>
            <a:endParaRPr/>
          </a:p>
        </p:txBody>
      </p:sp>
      <p:sp>
        <p:nvSpPr>
          <p:cNvPr id="48" name="Google Shape;48;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1"/>
        <p:cNvGrpSpPr/>
        <p:nvPr/>
      </p:nvGrpSpPr>
      <p:grpSpPr>
        <a:xfrm>
          <a:off x="0" y="0"/>
          <a:ext cx="0" cy="0"/>
          <a:chOff x="0" y="0"/>
          <a:chExt cx="0" cy="0"/>
        </a:xfrm>
      </p:grpSpPr>
      <p:sp>
        <p:nvSpPr>
          <p:cNvPr id="52" name="Google Shape;52;p40"/>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40"/>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40"/>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40"/>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40"/>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0"/>
        <p:cNvGrpSpPr/>
        <p:nvPr/>
      </p:nvGrpSpPr>
      <p:grpSpPr>
        <a:xfrm>
          <a:off x="0" y="0"/>
          <a:ext cx="0" cy="0"/>
          <a:chOff x="0" y="0"/>
          <a:chExt cx="0" cy="0"/>
        </a:xfrm>
      </p:grpSpPr>
      <p:sp>
        <p:nvSpPr>
          <p:cNvPr id="61" name="Google Shape;61;p4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5"/>
        <p:cNvGrpSpPr/>
        <p:nvPr/>
      </p:nvGrpSpPr>
      <p:grpSpPr>
        <a:xfrm>
          <a:off x="0" y="0"/>
          <a:ext cx="0" cy="0"/>
          <a:chOff x="0" y="0"/>
          <a:chExt cx="0" cy="0"/>
        </a:xfrm>
      </p:grpSpPr>
      <p:sp>
        <p:nvSpPr>
          <p:cNvPr id="66" name="Google Shape;66;p4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42"/>
          <p:cNvSpPr>
            <a:spLocks noGrp="1"/>
          </p:cNvSpPr>
          <p:nvPr>
            <p:ph type="pic" idx="2"/>
          </p:nvPr>
        </p:nvSpPr>
        <p:spPr>
          <a:xfrm>
            <a:off x="5183188" y="987425"/>
            <a:ext cx="6172200" cy="4873625"/>
          </a:xfrm>
          <a:prstGeom prst="rect">
            <a:avLst/>
          </a:prstGeom>
          <a:noFill/>
          <a:ln>
            <a:noFill/>
          </a:ln>
        </p:spPr>
      </p:sp>
      <p:sp>
        <p:nvSpPr>
          <p:cNvPr id="68" name="Google Shape;68;p4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4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4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4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2"/>
        <p:cNvGrpSpPr/>
        <p:nvPr/>
      </p:nvGrpSpPr>
      <p:grpSpPr>
        <a:xfrm>
          <a:off x="0" y="0"/>
          <a:ext cx="0" cy="0"/>
          <a:chOff x="0" y="0"/>
          <a:chExt cx="0" cy="0"/>
        </a:xfrm>
      </p:grpSpPr>
      <p:sp>
        <p:nvSpPr>
          <p:cNvPr id="73" name="Google Shape;73;p4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78"/>
        <p:cNvGrpSpPr/>
        <p:nvPr/>
      </p:nvGrpSpPr>
      <p:grpSpPr>
        <a:xfrm>
          <a:off x="0" y="0"/>
          <a:ext cx="0" cy="0"/>
          <a:chOff x="0" y="0"/>
          <a:chExt cx="0" cy="0"/>
        </a:xfrm>
      </p:grpSpPr>
      <p:sp>
        <p:nvSpPr>
          <p:cNvPr id="79" name="Google Shape;79;p4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84"/>
        <p:cNvGrpSpPr/>
        <p:nvPr/>
      </p:nvGrpSpPr>
      <p:grpSpPr>
        <a:xfrm>
          <a:off x="0" y="0"/>
          <a:ext cx="0" cy="0"/>
          <a:chOff x="0" y="0"/>
          <a:chExt cx="0" cy="0"/>
        </a:xfrm>
      </p:grpSpPr>
      <p:sp>
        <p:nvSpPr>
          <p:cNvPr id="85" name="Google Shape;85;p4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4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4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3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EC388"/>
                </a:solidFill>
                <a:latin typeface="Calibri"/>
                <a:ea typeface="Calibri"/>
                <a:cs typeface="Calibri"/>
                <a:sym typeface="Calibri"/>
              </a:defRPr>
            </a:lvl1pPr>
            <a:lvl2pPr marL="0" marR="0" lvl="1" indent="0" algn="r" rtl="0">
              <a:spcBef>
                <a:spcPts val="0"/>
              </a:spcBef>
              <a:buNone/>
              <a:defRPr sz="1200" b="0" i="0" u="none" strike="noStrike" cap="none">
                <a:solidFill>
                  <a:srgbClr val="8EC388"/>
                </a:solidFill>
                <a:latin typeface="Calibri"/>
                <a:ea typeface="Calibri"/>
                <a:cs typeface="Calibri"/>
                <a:sym typeface="Calibri"/>
              </a:defRPr>
            </a:lvl2pPr>
            <a:lvl3pPr marL="0" marR="0" lvl="2" indent="0" algn="r" rtl="0">
              <a:spcBef>
                <a:spcPts val="0"/>
              </a:spcBef>
              <a:buNone/>
              <a:defRPr sz="1200" b="0" i="0" u="none" strike="noStrike" cap="none">
                <a:solidFill>
                  <a:srgbClr val="8EC388"/>
                </a:solidFill>
                <a:latin typeface="Calibri"/>
                <a:ea typeface="Calibri"/>
                <a:cs typeface="Calibri"/>
                <a:sym typeface="Calibri"/>
              </a:defRPr>
            </a:lvl3pPr>
            <a:lvl4pPr marL="0" marR="0" lvl="3" indent="0" algn="r" rtl="0">
              <a:spcBef>
                <a:spcPts val="0"/>
              </a:spcBef>
              <a:buNone/>
              <a:defRPr sz="1200" b="0" i="0" u="none" strike="noStrike" cap="none">
                <a:solidFill>
                  <a:srgbClr val="8EC388"/>
                </a:solidFill>
                <a:latin typeface="Calibri"/>
                <a:ea typeface="Calibri"/>
                <a:cs typeface="Calibri"/>
                <a:sym typeface="Calibri"/>
              </a:defRPr>
            </a:lvl4pPr>
            <a:lvl5pPr marL="0" marR="0" lvl="4" indent="0" algn="r" rtl="0">
              <a:spcBef>
                <a:spcPts val="0"/>
              </a:spcBef>
              <a:buNone/>
              <a:defRPr sz="1200" b="0" i="0" u="none" strike="noStrike" cap="none">
                <a:solidFill>
                  <a:srgbClr val="8EC388"/>
                </a:solidFill>
                <a:latin typeface="Calibri"/>
                <a:ea typeface="Calibri"/>
                <a:cs typeface="Calibri"/>
                <a:sym typeface="Calibri"/>
              </a:defRPr>
            </a:lvl5pPr>
            <a:lvl6pPr marL="0" marR="0" lvl="5" indent="0" algn="r" rtl="0">
              <a:spcBef>
                <a:spcPts val="0"/>
              </a:spcBef>
              <a:buNone/>
              <a:defRPr sz="1200" b="0" i="0" u="none" strike="noStrike" cap="none">
                <a:solidFill>
                  <a:srgbClr val="8EC388"/>
                </a:solidFill>
                <a:latin typeface="Calibri"/>
                <a:ea typeface="Calibri"/>
                <a:cs typeface="Calibri"/>
                <a:sym typeface="Calibri"/>
              </a:defRPr>
            </a:lvl6pPr>
            <a:lvl7pPr marL="0" marR="0" lvl="6" indent="0" algn="r" rtl="0">
              <a:spcBef>
                <a:spcPts val="0"/>
              </a:spcBef>
              <a:buNone/>
              <a:defRPr sz="1200" b="0" i="0" u="none" strike="noStrike" cap="none">
                <a:solidFill>
                  <a:srgbClr val="8EC388"/>
                </a:solidFill>
                <a:latin typeface="Calibri"/>
                <a:ea typeface="Calibri"/>
                <a:cs typeface="Calibri"/>
                <a:sym typeface="Calibri"/>
              </a:defRPr>
            </a:lvl7pPr>
            <a:lvl8pPr marL="0" marR="0" lvl="7" indent="0" algn="r" rtl="0">
              <a:spcBef>
                <a:spcPts val="0"/>
              </a:spcBef>
              <a:buNone/>
              <a:defRPr sz="1200" b="0" i="0" u="none" strike="noStrike" cap="none">
                <a:solidFill>
                  <a:srgbClr val="8EC388"/>
                </a:solidFill>
                <a:latin typeface="Calibri"/>
                <a:ea typeface="Calibri"/>
                <a:cs typeface="Calibri"/>
                <a:sym typeface="Calibri"/>
              </a:defRPr>
            </a:lvl8pPr>
            <a:lvl9pPr marL="0" marR="0" lvl="8" indent="0" algn="r" rtl="0">
              <a:spcBef>
                <a:spcPts val="0"/>
              </a:spcBef>
              <a:buNone/>
              <a:defRPr sz="1200" b="0" i="0" u="none" strike="noStrike" cap="none">
                <a:solidFill>
                  <a:srgbClr val="8EC3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CO"/>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4" r:id="rId4"/>
    <p:sldLayoutId id="2147483655" r:id="rId5"/>
    <p:sldLayoutId id="2147483656" r:id="rId6"/>
    <p:sldLayoutId id="2147483657" r:id="rId7"/>
    <p:sldLayoutId id="2147483658" r:id="rId8"/>
    <p:sldLayoutId id="2147483659"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4.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4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4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5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5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1.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1.pn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54.png"/><Relationship Id="rId7" Type="http://schemas.openxmlformats.org/officeDocument/2006/relationships/image" Target="../media/image5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5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5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54.png"/><Relationship Id="rId6"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2"/>
        <p:cNvGrpSpPr/>
        <p:nvPr/>
      </p:nvGrpSpPr>
      <p:grpSpPr>
        <a:xfrm>
          <a:off x="0" y="0"/>
          <a:ext cx="0" cy="0"/>
          <a:chOff x="0" y="0"/>
          <a:chExt cx="0" cy="0"/>
        </a:xfrm>
      </p:grpSpPr>
      <p:pic>
        <p:nvPicPr>
          <p:cNvPr id="93" name="Google Shape;93;p1"/>
          <p:cNvPicPr preferRelativeResize="0"/>
          <p:nvPr/>
        </p:nvPicPr>
        <p:blipFill rotWithShape="1">
          <a:blip r:embed="rId4">
            <a:alphaModFix/>
          </a:blip>
          <a:srcRect l="24976" t="22927" r="24976" b="22927"/>
          <a:stretch/>
        </p:blipFill>
        <p:spPr>
          <a:xfrm>
            <a:off x="10424123" y="870486"/>
            <a:ext cx="923111" cy="908760"/>
          </a:xfrm>
          <a:prstGeom prst="rect">
            <a:avLst/>
          </a:prstGeom>
          <a:noFill/>
          <a:ln>
            <a:noFill/>
          </a:ln>
        </p:spPr>
      </p:pic>
      <p:sp>
        <p:nvSpPr>
          <p:cNvPr id="5" name="Subtítulo 4">
            <a:extLst>
              <a:ext uri="{FF2B5EF4-FFF2-40B4-BE49-F238E27FC236}">
                <a16:creationId xmlns:a16="http://schemas.microsoft.com/office/drawing/2014/main" id="{0D27D3C6-3047-48C6-E08D-1D2554CFC2F0}"/>
              </a:ext>
            </a:extLst>
          </p:cNvPr>
          <p:cNvSpPr>
            <a:spLocks noGrp="1"/>
          </p:cNvSpPr>
          <p:nvPr>
            <p:ph type="subTitle" idx="1"/>
          </p:nvPr>
        </p:nvSpPr>
        <p:spPr>
          <a:xfrm>
            <a:off x="4306443" y="3996267"/>
            <a:ext cx="3579112" cy="1915365"/>
          </a:xfrm>
        </p:spPr>
        <p:txBody>
          <a:bodyPr>
            <a:normAutofit/>
          </a:bodyPr>
          <a:lstStyle/>
          <a:p>
            <a:pPr algn="ctr"/>
            <a:r>
              <a:rPr sz="1600" b="1">
                <a:solidFill>
                  <a:srgbClr val="1F3B73"/>
                </a:solidFill>
                <a:latin typeface="Arial"/>
              </a:rPr>
              <a:t>INTEGRANTES:</a:t>
            </a:r>
            <a:endParaRPr lang="es-CO" sz="1600" b="1" dirty="0">
              <a:solidFill>
                <a:srgbClr val="334155"/>
              </a:solidFill>
              <a:latin typeface="Inter"/>
              <a:cs typeface="Inter"/>
              <a:sym typeface="Arial"/>
            </a:endParaRPr>
          </a:p>
          <a:p>
            <a:pPr algn="ctr"/>
            <a:r>
              <a:rPr sz="1600" b="0">
                <a:solidFill>
                  <a:srgbClr val="33373D"/>
                </a:solidFill>
                <a:latin typeface="Arial"/>
              </a:rPr>
              <a:t/>
            </a:r>
          </a:p>
          <a:p>
            <a:pPr algn="ctr"/>
            <a:r>
              <a:rPr sz="1600" b="1">
                <a:solidFill>
                  <a:srgbClr val="33373D"/>
                </a:solidFill>
                <a:latin typeface="Arial"/>
              </a:rPr>
              <a:t>BRANDON ARLEY RESTREPO GÉLVEZ</a:t>
            </a:r>
          </a:p>
          <a:p>
            <a:pPr algn="ctr"/>
            <a:r>
              <a:rPr sz="1600" b="1">
                <a:solidFill>
                  <a:srgbClr val="33373D"/>
                </a:solidFill>
                <a:latin typeface="Arial"/>
              </a:rPr>
              <a:t>JOHAN SEBASTIÁN ACOSTA SÁNCHEZ</a:t>
            </a:r>
          </a:p>
          <a:p>
            <a:pPr algn="ctr"/>
            <a:r>
              <a:rPr sz="1600" b="1">
                <a:solidFill>
                  <a:srgbClr val="33373D"/>
                </a:solidFill>
                <a:latin typeface="Arial"/>
              </a:rPr>
              <a:t>WILMER JESÚS CONTRERAS RANGEL</a:t>
            </a:r>
          </a:p>
          <a:p>
            <a:pPr algn="ctr"/>
            <a:r>
              <a:rPr sz="1600" b="0">
                <a:solidFill>
                  <a:srgbClr val="33373D"/>
                </a:solidFill>
                <a:latin typeface="Arial"/>
              </a:rPr>
              <a:t/>
            </a:r>
          </a:p>
          <a:p>
            <a:pPr algn="ctr"/>
            <a:r>
              <a:rPr sz="1600" b="0">
                <a:solidFill>
                  <a:srgbClr val="33373D"/>
                </a:solidFill>
                <a:latin typeface="Arial"/>
              </a:rPr>
              <a:t>Ficha 3115426</a:t>
            </a:r>
          </a:p>
        </p:txBody>
      </p:sp>
      <p:pic>
        <p:nvPicPr>
          <p:cNvPr id="3" name="Google Shape;90;p13" descr="image.png">
            <a:extLst>
              <a:ext uri="{FF2B5EF4-FFF2-40B4-BE49-F238E27FC236}">
                <a16:creationId xmlns:a16="http://schemas.microsoft.com/office/drawing/2014/main" id="{24B006EC-E35D-15B6-DB4E-F558902378F7}"/>
              </a:ext>
            </a:extLst>
          </p:cNvPr>
          <p:cNvPicPr preferRelativeResize="0"/>
          <p:nvPr/>
        </p:nvPicPr>
        <p:blipFill rotWithShape="1">
          <a:blip r:embed="rId5">
            <a:alphaModFix/>
          </a:blip>
          <a:srcRect/>
          <a:stretch/>
        </p:blipFill>
        <p:spPr>
          <a:xfrm>
            <a:off x="4571999" y="618067"/>
            <a:ext cx="3048000" cy="3048000"/>
          </a:xfrm>
          <a:prstGeom prst="rect">
            <a:avLst/>
          </a:prstGeom>
          <a:noFill/>
          <a:ln>
            <a:noFill/>
          </a:ln>
        </p:spPr>
      </p:pic>
    </p:spTree>
    <p:extLst>
      <p:ext uri="{BB962C8B-B14F-4D97-AF65-F5344CB8AC3E}">
        <p14:creationId xmlns:p14="http://schemas.microsoft.com/office/powerpoint/2010/main" val="77085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1D120AAC-3F32-0221-6CDC-92BF2903B211}"/>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pic>
        <p:nvPicPr>
          <p:cNvPr id="3" name="Google Shape;85;p13" descr="image.png">
            <a:extLst>
              <a:ext uri="{FF2B5EF4-FFF2-40B4-BE49-F238E27FC236}">
                <a16:creationId xmlns:a16="http://schemas.microsoft.com/office/drawing/2014/main" id="{6F82DF70-D1DF-BB77-7DA3-E4B341DD6031}"/>
              </a:ext>
            </a:extLst>
          </p:cNvPr>
          <p:cNvPicPr preferRelativeResize="0"/>
          <p:nvPr/>
        </p:nvPicPr>
        <p:blipFill rotWithShape="1">
          <a:blip r:embed="rId5">
            <a:alphaModFix/>
          </a:blip>
          <a:srcRect/>
          <a:stretch/>
        </p:blipFill>
        <p:spPr>
          <a:xfrm>
            <a:off x="6096000" y="1430934"/>
            <a:ext cx="4715581" cy="3996132"/>
          </a:xfrm>
          <a:prstGeom prst="rect">
            <a:avLst/>
          </a:prstGeom>
          <a:noFill/>
          <a:ln>
            <a:noFill/>
          </a:ln>
        </p:spPr>
      </p:pic>
      <p:pic>
        <p:nvPicPr>
          <p:cNvPr id="5" name="Google Shape;86;p13" descr="image.png">
            <a:extLst>
              <a:ext uri="{FF2B5EF4-FFF2-40B4-BE49-F238E27FC236}">
                <a16:creationId xmlns:a16="http://schemas.microsoft.com/office/drawing/2014/main" id="{8FC35288-A11A-A47A-B1D2-293289B98EAC}"/>
              </a:ext>
            </a:extLst>
          </p:cNvPr>
          <p:cNvPicPr preferRelativeResize="0"/>
          <p:nvPr/>
        </p:nvPicPr>
        <p:blipFill rotWithShape="1">
          <a:blip r:embed="rId6">
            <a:alphaModFix/>
          </a:blip>
          <a:srcRect/>
          <a:stretch/>
        </p:blipFill>
        <p:spPr>
          <a:xfrm>
            <a:off x="1029053" y="4713643"/>
            <a:ext cx="2362200" cy="352425"/>
          </a:xfrm>
          <a:prstGeom prst="rect">
            <a:avLst/>
          </a:prstGeom>
          <a:noFill/>
          <a:ln>
            <a:noFill/>
          </a:ln>
        </p:spPr>
      </p:pic>
      <p:pic>
        <p:nvPicPr>
          <p:cNvPr id="6" name="Google Shape;87;p13" descr="image.png">
            <a:extLst>
              <a:ext uri="{FF2B5EF4-FFF2-40B4-BE49-F238E27FC236}">
                <a16:creationId xmlns:a16="http://schemas.microsoft.com/office/drawing/2014/main" id="{1413AA8C-5895-3BE3-7C09-659710DFA8AD}"/>
              </a:ext>
            </a:extLst>
          </p:cNvPr>
          <p:cNvPicPr preferRelativeResize="0"/>
          <p:nvPr/>
        </p:nvPicPr>
        <p:blipFill rotWithShape="1">
          <a:blip r:embed="rId7">
            <a:alphaModFix/>
          </a:blip>
          <a:srcRect/>
          <a:stretch/>
        </p:blipFill>
        <p:spPr>
          <a:xfrm>
            <a:off x="1029053" y="1154709"/>
            <a:ext cx="2057400" cy="276225"/>
          </a:xfrm>
          <a:prstGeom prst="rect">
            <a:avLst/>
          </a:prstGeom>
          <a:noFill/>
          <a:ln>
            <a:noFill/>
          </a:ln>
        </p:spPr>
      </p:pic>
      <p:sp>
        <p:nvSpPr>
          <p:cNvPr id="7" name="Google Shape;88;p13">
            <a:extLst>
              <a:ext uri="{FF2B5EF4-FFF2-40B4-BE49-F238E27FC236}">
                <a16:creationId xmlns:a16="http://schemas.microsoft.com/office/drawing/2014/main" id="{06A82DE9-312C-9BF6-8485-7633EE9826C0}"/>
              </a:ext>
            </a:extLst>
          </p:cNvPr>
          <p:cNvSpPr txBox="1"/>
          <p:nvPr/>
        </p:nvSpPr>
        <p:spPr>
          <a:xfrm>
            <a:off x="1100667" y="1796641"/>
            <a:ext cx="2555522" cy="690189"/>
          </a:xfrm>
          <a:prstGeom prst="rect">
            <a:avLst/>
          </a:prstGeom>
          <a:noFill/>
          <a:ln>
            <a:noFill/>
          </a:ln>
        </p:spPr>
        <p:txBody>
          <a:bodyPr spcFirstLastPara="1" wrap="square" lIns="0" tIns="0" rIns="0" bIns="0" anchor="t" anchorCtr="0">
            <a:spAutoFit/>
          </a:bodyPr>
          <a:lstStyle/>
          <a:p>
            <a:pPr marL="0" marR="0" lvl="0" indent="0" algn="l" rtl="0">
              <a:lnSpc>
                <a:spcPct val="114974"/>
              </a:lnSpc>
              <a:spcBef>
                <a:spcPts val="0"/>
              </a:spcBef>
              <a:spcAft>
                <a:spcPts val="0"/>
              </a:spcAft>
              <a:buNone/>
            </a:pPr>
            <a:r>
              <a:rPr lang="en-US" sz="3900" b="1" i="0" u="none" strike="noStrike" cap="none" dirty="0" err="1">
                <a:solidFill>
                  <a:srgbClr val="003366"/>
                </a:solidFill>
                <a:latin typeface="Plus Jakarta Sans"/>
                <a:ea typeface="Plus Jakarta Sans"/>
                <a:cs typeface="Plus Jakarta Sans"/>
                <a:sym typeface="Plus Jakarta Sans"/>
              </a:rPr>
              <a:t>FactuGest</a:t>
            </a:r>
            <a:endParaRPr dirty="0"/>
          </a:p>
        </p:txBody>
      </p:sp>
      <p:sp>
        <p:nvSpPr>
          <p:cNvPr id="8" name="Google Shape;89;p13">
            <a:extLst>
              <a:ext uri="{FF2B5EF4-FFF2-40B4-BE49-F238E27FC236}">
                <a16:creationId xmlns:a16="http://schemas.microsoft.com/office/drawing/2014/main" id="{C69884FC-0D06-AD26-4B09-9A0E6F0199C6}"/>
              </a:ext>
            </a:extLst>
          </p:cNvPr>
          <p:cNvSpPr txBox="1"/>
          <p:nvPr/>
        </p:nvSpPr>
        <p:spPr>
          <a:xfrm>
            <a:off x="1033639" y="3013774"/>
            <a:ext cx="4799895" cy="1107996"/>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sz="2000">
                <a:solidFill>
                  <a:srgbClr val="33373D"/>
                </a:solidFill>
                <a:latin typeface="Arial"/>
              </a:rPr>
              <a:t>Plataforma web de facturación electrónica que emite por cuenta de terceros mediante una API de integración.</a:t>
            </a:r>
            <a:endParaRPr sz="1600" dirty="0"/>
          </a:p>
        </p:txBody>
      </p:sp>
      <p:pic>
        <p:nvPicPr>
          <p:cNvPr id="9" name="Google Shape;90;p13" descr="image.png">
            <a:extLst>
              <a:ext uri="{FF2B5EF4-FFF2-40B4-BE49-F238E27FC236}">
                <a16:creationId xmlns:a16="http://schemas.microsoft.com/office/drawing/2014/main" id="{180BC0BB-653F-7D4E-99DB-6BE23B72993E}"/>
              </a:ext>
            </a:extLst>
          </p:cNvPr>
          <p:cNvPicPr preferRelativeResize="0"/>
          <p:nvPr/>
        </p:nvPicPr>
        <p:blipFill rotWithShape="1">
          <a:blip r:embed="rId8">
            <a:alphaModFix/>
          </a:blip>
          <a:srcRect b="21597"/>
          <a:stretch/>
        </p:blipFill>
        <p:spPr>
          <a:xfrm>
            <a:off x="6929790" y="2065609"/>
            <a:ext cx="3048000" cy="2496988"/>
          </a:xfrm>
          <a:prstGeom prst="rect">
            <a:avLst/>
          </a:prstGeom>
          <a:noFill/>
          <a:ln>
            <a:noFill/>
          </a:ln>
        </p:spPr>
      </p:pic>
      <p:pic>
        <p:nvPicPr>
          <p:cNvPr id="10" name="Google Shape;91;p13" descr="image.png">
            <a:extLst>
              <a:ext uri="{FF2B5EF4-FFF2-40B4-BE49-F238E27FC236}">
                <a16:creationId xmlns:a16="http://schemas.microsoft.com/office/drawing/2014/main" id="{B074B4B6-84CD-D85F-C918-B84500ED341E}"/>
              </a:ext>
            </a:extLst>
          </p:cNvPr>
          <p:cNvPicPr preferRelativeResize="0"/>
          <p:nvPr/>
        </p:nvPicPr>
        <p:blipFill rotWithShape="1">
          <a:blip r:embed="rId9">
            <a:alphaModFix/>
          </a:blip>
          <a:srcRect/>
          <a:stretch/>
        </p:blipFill>
        <p:spPr>
          <a:xfrm>
            <a:off x="1129242" y="4823180"/>
            <a:ext cx="171450" cy="133350"/>
          </a:xfrm>
          <a:prstGeom prst="rect">
            <a:avLst/>
          </a:prstGeom>
          <a:noFill/>
          <a:ln>
            <a:noFill/>
          </a:ln>
        </p:spPr>
      </p:pic>
      <p:sp>
        <p:nvSpPr>
          <p:cNvPr id="11" name="CuadroTexto 10">
            <a:extLst>
              <a:ext uri="{FF2B5EF4-FFF2-40B4-BE49-F238E27FC236}">
                <a16:creationId xmlns:a16="http://schemas.microsoft.com/office/drawing/2014/main" id="{B98E55B9-4796-1AD4-FD91-7F8439DF9EDA}"/>
              </a:ext>
            </a:extLst>
          </p:cNvPr>
          <p:cNvSpPr txBox="1"/>
          <p:nvPr/>
        </p:nvSpPr>
        <p:spPr>
          <a:xfrm>
            <a:off x="7703256" y="4892245"/>
            <a:ext cx="3836106" cy="369332"/>
          </a:xfrm>
          <a:prstGeom prst="rect">
            <a:avLst/>
          </a:prstGeom>
          <a:noFill/>
        </p:spPr>
        <p:txBody>
          <a:bodyPr wrap="square">
            <a:spAutoFit/>
          </a:bodyPr>
          <a:lstStyle/>
          <a:p>
            <a:r>
              <a:rPr lang="es-CO" sz="1800" dirty="0"/>
              <a:t> </a:t>
            </a:r>
            <a:endParaRPr lang="es-CO"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11;p3">
            <a:extLst>
              <a:ext uri="{FF2B5EF4-FFF2-40B4-BE49-F238E27FC236}">
                <a16:creationId xmlns:a16="http://schemas.microsoft.com/office/drawing/2014/main" id="{C3D3D267-D1DB-7794-090F-4F88F9C7C45B}"/>
              </a:ext>
            </a:extLst>
          </p:cNvPr>
          <p:cNvSpPr txBox="1"/>
          <p:nvPr/>
        </p:nvSpPr>
        <p:spPr>
          <a:xfrm>
            <a:off x="2100942" y="2640764"/>
            <a:ext cx="7990115" cy="1576471"/>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 FORMULACIÓN DEL PROYECTO</a:t>
            </a:r>
            <a:endParaRPr sz="1100" dirty="0"/>
          </a:p>
        </p:txBody>
      </p:sp>
      <p:pic>
        <p:nvPicPr>
          <p:cNvPr id="3" name="Google Shape;84;p13" descr="image.png">
            <a:extLst>
              <a:ext uri="{FF2B5EF4-FFF2-40B4-BE49-F238E27FC236}">
                <a16:creationId xmlns:a16="http://schemas.microsoft.com/office/drawing/2014/main" id="{F8DFFA8D-D658-9F01-0D10-9353E89340DC}"/>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4" name="TextBox 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 / 41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4" name="Imagen 13">
            <a:extLst>
              <a:ext uri="{FF2B5EF4-FFF2-40B4-BE49-F238E27FC236}">
                <a16:creationId xmlns:a16="http://schemas.microsoft.com/office/drawing/2014/main" id="{8DF402D3-A560-9210-3DEA-358303C1CE08}"/>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6D8587E6-BFC7-BE58-BA04-C802D8D4E3F7}"/>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12" name="Google Shape;107;p14">
            <a:extLst>
              <a:ext uri="{FF2B5EF4-FFF2-40B4-BE49-F238E27FC236}">
                <a16:creationId xmlns:a16="http://schemas.microsoft.com/office/drawing/2014/main" id="{EEE9E0F4-D1BB-7771-0302-5F992181AFCD}"/>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 name="Google Shape;106;p14">
            <a:extLst>
              <a:ext uri="{FF2B5EF4-FFF2-40B4-BE49-F238E27FC236}">
                <a16:creationId xmlns:a16="http://schemas.microsoft.com/office/drawing/2014/main" id="{72A46E4C-75C3-B387-4882-65CAAFC1DC0B}"/>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Planteamiento del Problema</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
            </a:r>
            <a:endParaRPr dirty="0"/>
          </a:p>
        </p:txBody>
      </p:sp>
      <p:pic>
        <p:nvPicPr>
          <p:cNvPr id="18" name="Imagen 17">
            <a:extLst>
              <a:ext uri="{FF2B5EF4-FFF2-40B4-BE49-F238E27FC236}">
                <a16:creationId xmlns:a16="http://schemas.microsoft.com/office/drawing/2014/main" id="{299E4AC5-0AD0-CBE8-2F4D-2BE03FB0B61F}"/>
              </a:ext>
            </a:extLst>
          </p:cNvPr>
          <p:cNvPicPr>
            <a:picLocks noChangeAspect="1"/>
          </p:cNvPicPr>
          <p:nvPr/>
        </p:nvPicPr>
        <p:blipFill>
          <a:blip r:embed="rId7"/>
          <a:stretch>
            <a:fillRect/>
          </a:stretch>
        </p:blipFill>
        <p:spPr>
          <a:xfrm>
            <a:off x="10689091" y="5260006"/>
            <a:ext cx="1606476" cy="1606476"/>
          </a:xfrm>
          <a:prstGeom prst="rect">
            <a:avLst/>
          </a:prstGeom>
        </p:spPr>
      </p:pic>
      <p:sp>
        <p:nvSpPr>
          <p:cNvPr id="19" name="TextBox 18"/>
          <p:cNvSpPr txBox="1"/>
          <p:nvPr/>
        </p:nvSpPr>
        <p:spPr>
          <a:xfrm>
            <a:off x="640080" y="1417320"/>
            <a:ext cx="10881360" cy="822960"/>
          </a:xfrm>
          <a:prstGeom prst="rect">
            <a:avLst/>
          </a:prstGeom>
          <a:noFill/>
        </p:spPr>
        <p:txBody>
          <a:bodyPr wrap="square">
            <a:spAutoFit/>
          </a:bodyPr>
          <a:lstStyle/>
          <a:p>
            <a:pPr algn="l"/>
            <a:r>
              <a:rPr sz="2400" b="1">
                <a:solidFill>
                  <a:srgbClr val="1F3B73"/>
                </a:solidFill>
                <a:latin typeface="Arial"/>
              </a:rPr>
              <a:t>La facturación electrónica es obligatoria en Colombia, pero la mayoría de las mipymes todavía no la ha adoptado.</a:t>
            </a:r>
          </a:p>
        </p:txBody>
      </p:sp>
      <p:sp>
        <p:nvSpPr>
          <p:cNvPr id="20" name="TextBox 19"/>
          <p:cNvSpPr txBox="1"/>
          <p:nvPr/>
        </p:nvSpPr>
        <p:spPr>
          <a:xfrm>
            <a:off x="822960" y="2788920"/>
            <a:ext cx="10424160" cy="1143000"/>
          </a:xfrm>
          <a:prstGeom prst="rect">
            <a:avLst/>
          </a:prstGeom>
          <a:noFill/>
        </p:spPr>
        <p:txBody>
          <a:bodyPr wrap="square">
            <a:spAutoFit/>
          </a:bodyPr>
          <a:lstStyle/>
          <a:p>
            <a:r>
              <a:rPr sz="2000">
                <a:solidFill>
                  <a:srgbClr val="33373D"/>
                </a:solidFill>
                <a:latin typeface="Arial"/>
              </a:rPr>
              <a:t>La mayoría de estas empresas ya opera con un software propio, sea un punto de venta, un sistema contable o una aplicación hecha a la medida años atrás.</a:t>
            </a:r>
          </a:p>
        </p:txBody>
      </p:sp>
      <p:sp>
        <p:nvSpPr>
          <p:cNvPr id="21" name="TextBox 20"/>
          <p:cNvSpPr txBox="1"/>
          <p:nvPr/>
        </p:nvSpPr>
        <p:spPr>
          <a:xfrm>
            <a:off x="822960" y="3931920"/>
            <a:ext cx="10424160" cy="1143000"/>
          </a:xfrm>
          <a:prstGeom prst="rect">
            <a:avLst/>
          </a:prstGeom>
          <a:noFill/>
        </p:spPr>
        <p:txBody>
          <a:bodyPr wrap="square">
            <a:spAutoFit/>
          </a:bodyPr>
          <a:lstStyle/>
          <a:p>
            <a:r>
              <a:rPr sz="2000">
                <a:solidFill>
                  <a:srgbClr val="33373D"/>
                </a:solidFill>
                <a:latin typeface="Arial"/>
              </a:rPr>
              <a:t>La oferta habitual del mercado exige reemplazar esa herramienta, migrar la información, capacitar de nuevo al personal e interrumpir la operación mientras dura el cambio.</a:t>
            </a:r>
          </a:p>
        </p:txBody>
      </p:sp>
      <p:sp>
        <p:nvSpPr>
          <p:cNvPr id="22" name="TextBox 21"/>
          <p:cNvSpPr txBox="1"/>
          <p:nvPr/>
        </p:nvSpPr>
        <p:spPr>
          <a:xfrm>
            <a:off x="822960" y="5074920"/>
            <a:ext cx="10424160" cy="1143000"/>
          </a:xfrm>
          <a:prstGeom prst="rect">
            <a:avLst/>
          </a:prstGeom>
          <a:noFill/>
        </p:spPr>
        <p:txBody>
          <a:bodyPr wrap="square">
            <a:spAutoFit/>
          </a:bodyPr>
          <a:lstStyle/>
          <a:p>
            <a:r>
              <a:rPr sz="2000">
                <a:solidFill>
                  <a:srgbClr val="33373D"/>
                </a:solidFill>
                <a:latin typeface="Arial"/>
              </a:rPr>
              <a:t>El problema no es tecnológico sino de reemplazo, porque estas empresas no rechazan facturar electrónicamente sino abandonar el sistema con el que ya trabajan.</a:t>
            </a:r>
          </a:p>
        </p:txBody>
      </p:sp>
      <p:sp>
        <p:nvSpPr>
          <p:cNvPr id="23" name="TextBox 22"/>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Fuente: elaboración propia con base en la encuesta aplicada a 45 empresas.</a:t>
            </a:r>
          </a:p>
        </p:txBody>
      </p:sp>
      <p:sp>
        <p:nvSpPr>
          <p:cNvPr id="24" name="TextBox 2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4 / 41</a:t>
            </a:r>
          </a:p>
        </p:txBody>
      </p:sp>
    </p:spTree>
    <p:extLst>
      <p:ext uri="{BB962C8B-B14F-4D97-AF65-F5344CB8AC3E}">
        <p14:creationId xmlns:p14="http://schemas.microsoft.com/office/powerpoint/2010/main" val="41502274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2" name="Imagen 21">
            <a:extLst>
              <a:ext uri="{FF2B5EF4-FFF2-40B4-BE49-F238E27FC236}">
                <a16:creationId xmlns:a16="http://schemas.microsoft.com/office/drawing/2014/main" id="{13495FBF-C467-5FBA-8029-DB074EC699BC}"/>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pic>
        <p:nvPicPr>
          <p:cNvPr id="3" name="Google Shape;138;p16" descr="image.png">
            <a:extLst>
              <a:ext uri="{FF2B5EF4-FFF2-40B4-BE49-F238E27FC236}">
                <a16:creationId xmlns:a16="http://schemas.microsoft.com/office/drawing/2014/main" id="{6E2E430C-E153-EE1C-9507-83BAA4900C86}"/>
              </a:ext>
            </a:extLst>
          </p:cNvPr>
          <p:cNvPicPr preferRelativeResize="0"/>
          <p:nvPr/>
        </p:nvPicPr>
        <p:blipFill rotWithShape="1">
          <a:blip r:embed="rId6">
            <a:alphaModFix/>
          </a:blip>
          <a:srcRect/>
          <a:stretch/>
        </p:blipFill>
        <p:spPr>
          <a:xfrm>
            <a:off x="571424" y="4722657"/>
            <a:ext cx="11049000" cy="857250"/>
          </a:xfrm>
          <a:prstGeom prst="rect">
            <a:avLst/>
          </a:prstGeom>
          <a:noFill/>
          <a:ln>
            <a:noFill/>
          </a:ln>
        </p:spPr>
      </p:pic>
      <p:pic>
        <p:nvPicPr>
          <p:cNvPr id="4" name="Google Shape;139;p16" descr="image.png">
            <a:extLst>
              <a:ext uri="{FF2B5EF4-FFF2-40B4-BE49-F238E27FC236}">
                <a16:creationId xmlns:a16="http://schemas.microsoft.com/office/drawing/2014/main" id="{468D5443-582F-1671-D734-A0438BEAA997}"/>
              </a:ext>
            </a:extLst>
          </p:cNvPr>
          <p:cNvPicPr preferRelativeResize="0"/>
          <p:nvPr/>
        </p:nvPicPr>
        <p:blipFill rotWithShape="1">
          <a:blip r:embed="rId7">
            <a:alphaModFix/>
          </a:blip>
          <a:srcRect/>
          <a:stretch/>
        </p:blipFill>
        <p:spPr>
          <a:xfrm>
            <a:off x="571500" y="2143125"/>
            <a:ext cx="3530500" cy="2143125"/>
          </a:xfrm>
          <a:prstGeom prst="rect">
            <a:avLst/>
          </a:prstGeom>
          <a:noFill/>
          <a:ln>
            <a:noFill/>
          </a:ln>
        </p:spPr>
      </p:pic>
      <p:pic>
        <p:nvPicPr>
          <p:cNvPr id="5" name="Google Shape;140;p16" descr="image.png">
            <a:extLst>
              <a:ext uri="{FF2B5EF4-FFF2-40B4-BE49-F238E27FC236}">
                <a16:creationId xmlns:a16="http://schemas.microsoft.com/office/drawing/2014/main" id="{FC5C9815-BADF-30F6-D886-CBF83C550DC2}"/>
              </a:ext>
            </a:extLst>
          </p:cNvPr>
          <p:cNvPicPr preferRelativeResize="0"/>
          <p:nvPr/>
        </p:nvPicPr>
        <p:blipFill rotWithShape="1">
          <a:blip r:embed="rId8">
            <a:alphaModFix/>
          </a:blip>
          <a:srcRect/>
          <a:stretch/>
        </p:blipFill>
        <p:spPr>
          <a:xfrm>
            <a:off x="4330600" y="2143125"/>
            <a:ext cx="3530649" cy="2143125"/>
          </a:xfrm>
          <a:prstGeom prst="rect">
            <a:avLst/>
          </a:prstGeom>
          <a:noFill/>
          <a:ln>
            <a:noFill/>
          </a:ln>
        </p:spPr>
      </p:pic>
      <p:pic>
        <p:nvPicPr>
          <p:cNvPr id="6" name="Google Shape;141;p16" descr="image.png">
            <a:extLst>
              <a:ext uri="{FF2B5EF4-FFF2-40B4-BE49-F238E27FC236}">
                <a16:creationId xmlns:a16="http://schemas.microsoft.com/office/drawing/2014/main" id="{DB18B452-3E7B-2BAD-B2A3-F989A189E07E}"/>
              </a:ext>
            </a:extLst>
          </p:cNvPr>
          <p:cNvPicPr preferRelativeResize="0"/>
          <p:nvPr/>
        </p:nvPicPr>
        <p:blipFill rotWithShape="1">
          <a:blip r:embed="rId9">
            <a:alphaModFix/>
          </a:blip>
          <a:srcRect/>
          <a:stretch/>
        </p:blipFill>
        <p:spPr>
          <a:xfrm>
            <a:off x="8089850" y="2143125"/>
            <a:ext cx="3530500" cy="2143125"/>
          </a:xfrm>
          <a:prstGeom prst="rect">
            <a:avLst/>
          </a:prstGeom>
          <a:noFill/>
          <a:ln>
            <a:noFill/>
          </a:ln>
        </p:spPr>
      </p:pic>
      <p:sp>
        <p:nvSpPr>
          <p:cNvPr id="18" name="Google Shape;154;p16">
            <a:extLst>
              <a:ext uri="{FF2B5EF4-FFF2-40B4-BE49-F238E27FC236}">
                <a16:creationId xmlns:a16="http://schemas.microsoft.com/office/drawing/2014/main" id="{4CF8287F-6AA8-24B0-6B72-8A0480EFA084}"/>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 name="Google Shape;153;p16">
            <a:extLst>
              <a:ext uri="{FF2B5EF4-FFF2-40B4-BE49-F238E27FC236}">
                <a16:creationId xmlns:a16="http://schemas.microsoft.com/office/drawing/2014/main" id="{3A3C55D1-1764-1508-0286-5FAFD912FB5C}"/>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Justificación del Proyecto</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endParaRPr dirty="0"/>
          </a:p>
        </p:txBody>
      </p:sp>
      <p:sp>
        <p:nvSpPr>
          <p:cNvPr id="23" name="TextBox 22"/>
          <p:cNvSpPr txBox="1"/>
          <p:nvPr/>
        </p:nvSpPr>
        <p:spPr>
          <a:xfrm>
            <a:off x="768096" y="2331720"/>
            <a:ext cx="3127248" cy="640080"/>
          </a:xfrm>
          <a:prstGeom prst="rect">
            <a:avLst/>
          </a:prstGeom>
          <a:noFill/>
        </p:spPr>
        <p:txBody>
          <a:bodyPr wrap="square">
            <a:spAutoFit/>
          </a:bodyPr>
          <a:lstStyle/>
          <a:p>
            <a:pPr algn="l"/>
            <a:r>
              <a:rPr sz="4000" b="1">
                <a:solidFill>
                  <a:srgbClr val="1F3B73"/>
                </a:solidFill>
                <a:latin typeface="Arial"/>
              </a:rPr>
              <a:t>82%</a:t>
            </a:r>
          </a:p>
        </p:txBody>
      </p:sp>
      <p:sp>
        <p:nvSpPr>
          <p:cNvPr id="24" name="TextBox 23"/>
          <p:cNvSpPr txBox="1"/>
          <p:nvPr/>
        </p:nvSpPr>
        <p:spPr>
          <a:xfrm>
            <a:off x="768096" y="3035808"/>
            <a:ext cx="3127248" cy="274320"/>
          </a:xfrm>
          <a:prstGeom prst="rect">
            <a:avLst/>
          </a:prstGeom>
          <a:noFill/>
        </p:spPr>
        <p:txBody>
          <a:bodyPr wrap="square">
            <a:spAutoFit/>
          </a:bodyPr>
          <a:lstStyle/>
          <a:p>
            <a:pPr algn="l"/>
            <a:r>
              <a:rPr sz="1400" b="1">
                <a:solidFill>
                  <a:srgbClr val="F5A623"/>
                </a:solidFill>
                <a:latin typeface="Arial"/>
              </a:rPr>
              <a:t>ESTÁN OBLIGADAS</a:t>
            </a:r>
          </a:p>
        </p:txBody>
      </p:sp>
      <p:sp>
        <p:nvSpPr>
          <p:cNvPr id="25" name="TextBox 24"/>
          <p:cNvSpPr txBox="1"/>
          <p:nvPr/>
        </p:nvSpPr>
        <p:spPr>
          <a:xfrm>
            <a:off x="768096" y="3364992"/>
            <a:ext cx="3017520" cy="1097280"/>
          </a:xfrm>
          <a:prstGeom prst="rect">
            <a:avLst/>
          </a:prstGeom>
          <a:noFill/>
        </p:spPr>
        <p:txBody>
          <a:bodyPr wrap="square">
            <a:spAutoFit/>
          </a:bodyPr>
          <a:lstStyle/>
          <a:p>
            <a:pPr algn="l"/>
            <a:r>
              <a:rPr sz="1500" b="0">
                <a:solidFill>
                  <a:srgbClr val="33373D"/>
                </a:solidFill>
                <a:latin typeface="Arial"/>
              </a:rPr>
              <a:t>de las empresas consultadas debe facturar electrónicamente ante la DIAN.</a:t>
            </a:r>
          </a:p>
        </p:txBody>
      </p:sp>
      <p:sp>
        <p:nvSpPr>
          <p:cNvPr id="26" name="TextBox 25"/>
          <p:cNvSpPr txBox="1"/>
          <p:nvPr/>
        </p:nvSpPr>
        <p:spPr>
          <a:xfrm>
            <a:off x="4526280" y="2331720"/>
            <a:ext cx="3127248" cy="640080"/>
          </a:xfrm>
          <a:prstGeom prst="rect">
            <a:avLst/>
          </a:prstGeom>
          <a:noFill/>
        </p:spPr>
        <p:txBody>
          <a:bodyPr wrap="square">
            <a:spAutoFit/>
          </a:bodyPr>
          <a:lstStyle/>
          <a:p>
            <a:pPr algn="l"/>
            <a:r>
              <a:rPr sz="4000" b="1">
                <a:solidFill>
                  <a:srgbClr val="1F3B73"/>
                </a:solidFill>
                <a:latin typeface="Arial"/>
              </a:rPr>
              <a:t>38%</a:t>
            </a:r>
          </a:p>
        </p:txBody>
      </p:sp>
      <p:sp>
        <p:nvSpPr>
          <p:cNvPr id="27" name="TextBox 26"/>
          <p:cNvSpPr txBox="1"/>
          <p:nvPr/>
        </p:nvSpPr>
        <p:spPr>
          <a:xfrm>
            <a:off x="4526280" y="3035808"/>
            <a:ext cx="3127248" cy="274320"/>
          </a:xfrm>
          <a:prstGeom prst="rect">
            <a:avLst/>
          </a:prstGeom>
          <a:noFill/>
        </p:spPr>
        <p:txBody>
          <a:bodyPr wrap="square">
            <a:spAutoFit/>
          </a:bodyPr>
          <a:lstStyle/>
          <a:p>
            <a:pPr algn="l"/>
            <a:r>
              <a:rPr sz="1400" b="1">
                <a:solidFill>
                  <a:srgbClr val="F5A623"/>
                </a:solidFill>
                <a:latin typeface="Arial"/>
              </a:rPr>
              <a:t>CAMBIAR DE SOFTWARE</a:t>
            </a:r>
          </a:p>
        </p:txBody>
      </p:sp>
      <p:sp>
        <p:nvSpPr>
          <p:cNvPr id="28" name="TextBox 27"/>
          <p:cNvSpPr txBox="1"/>
          <p:nvPr/>
        </p:nvSpPr>
        <p:spPr>
          <a:xfrm>
            <a:off x="4526280" y="3364992"/>
            <a:ext cx="3017520" cy="1097280"/>
          </a:xfrm>
          <a:prstGeom prst="rect">
            <a:avLst/>
          </a:prstGeom>
          <a:noFill/>
        </p:spPr>
        <p:txBody>
          <a:bodyPr wrap="square">
            <a:spAutoFit/>
          </a:bodyPr>
          <a:lstStyle/>
          <a:p>
            <a:pPr algn="l"/>
            <a:r>
              <a:rPr sz="1500" b="0">
                <a:solidFill>
                  <a:srgbClr val="33373D"/>
                </a:solidFill>
                <a:latin typeface="Arial"/>
              </a:rPr>
              <a:t>señaló el reemplazo de su herramienta como la principal barrera para adoptarla.</a:t>
            </a:r>
          </a:p>
        </p:txBody>
      </p:sp>
      <p:sp>
        <p:nvSpPr>
          <p:cNvPr id="29" name="TextBox 28"/>
          <p:cNvSpPr txBox="1"/>
          <p:nvPr/>
        </p:nvSpPr>
        <p:spPr>
          <a:xfrm>
            <a:off x="8293608" y="2331720"/>
            <a:ext cx="3127248" cy="640080"/>
          </a:xfrm>
          <a:prstGeom prst="rect">
            <a:avLst/>
          </a:prstGeom>
          <a:noFill/>
        </p:spPr>
        <p:txBody>
          <a:bodyPr wrap="square">
            <a:spAutoFit/>
          </a:bodyPr>
          <a:lstStyle/>
          <a:p>
            <a:pPr algn="l"/>
            <a:r>
              <a:rPr sz="4000" b="1">
                <a:solidFill>
                  <a:srgbClr val="1F3B73"/>
                </a:solidFill>
                <a:latin typeface="Arial"/>
              </a:rPr>
              <a:t>84%</a:t>
            </a:r>
          </a:p>
        </p:txBody>
      </p:sp>
      <p:sp>
        <p:nvSpPr>
          <p:cNvPr id="30" name="TextBox 29"/>
          <p:cNvSpPr txBox="1"/>
          <p:nvPr/>
        </p:nvSpPr>
        <p:spPr>
          <a:xfrm>
            <a:off x="8293608" y="3035808"/>
            <a:ext cx="3127248" cy="274320"/>
          </a:xfrm>
          <a:prstGeom prst="rect">
            <a:avLst/>
          </a:prstGeom>
          <a:noFill/>
        </p:spPr>
        <p:txBody>
          <a:bodyPr wrap="square">
            <a:spAutoFit/>
          </a:bodyPr>
          <a:lstStyle/>
          <a:p>
            <a:pPr algn="l"/>
            <a:r>
              <a:rPr sz="1400" b="1">
                <a:solidFill>
                  <a:srgbClr val="F5A623"/>
                </a:solidFill>
                <a:latin typeface="Arial"/>
              </a:rPr>
              <a:t>SÍ LO HARÍAN</a:t>
            </a:r>
          </a:p>
        </p:txBody>
      </p:sp>
      <p:sp>
        <p:nvSpPr>
          <p:cNvPr id="31" name="TextBox 30"/>
          <p:cNvSpPr txBox="1"/>
          <p:nvPr/>
        </p:nvSpPr>
        <p:spPr>
          <a:xfrm>
            <a:off x="8293608" y="3364992"/>
            <a:ext cx="3017520" cy="1097280"/>
          </a:xfrm>
          <a:prstGeom prst="rect">
            <a:avLst/>
          </a:prstGeom>
          <a:noFill/>
        </p:spPr>
        <p:txBody>
          <a:bodyPr wrap="square">
            <a:spAutoFit/>
          </a:bodyPr>
          <a:lstStyle/>
          <a:p>
            <a:pPr algn="l"/>
            <a:r>
              <a:rPr sz="1500" b="0">
                <a:solidFill>
                  <a:srgbClr val="33373D"/>
                </a:solidFill>
                <a:latin typeface="Arial"/>
              </a:rPr>
              <a:t>facturaría electrónicamente si no tuviera que cambiar de software.</a:t>
            </a:r>
          </a:p>
        </p:txBody>
      </p:sp>
      <p:sp>
        <p:nvSpPr>
          <p:cNvPr id="32" name="TextBox 31"/>
          <p:cNvSpPr txBox="1"/>
          <p:nvPr/>
        </p:nvSpPr>
        <p:spPr>
          <a:xfrm>
            <a:off x="850392" y="4901184"/>
            <a:ext cx="10515600" cy="548640"/>
          </a:xfrm>
          <a:prstGeom prst="rect">
            <a:avLst/>
          </a:prstGeom>
          <a:noFill/>
        </p:spPr>
        <p:txBody>
          <a:bodyPr wrap="square">
            <a:spAutoFit/>
          </a:bodyPr>
          <a:lstStyle/>
          <a:p>
            <a:pPr algn="l"/>
            <a:r>
              <a:rPr sz="2400" b="1">
                <a:solidFill>
                  <a:srgbClr val="1F3B73"/>
                </a:solidFill>
                <a:latin typeface="Arial"/>
              </a:rPr>
              <a:t>FactuGest permite cumplir la obligación sin reemplazar el software con el que la empresa ya trabaja.</a:t>
            </a:r>
          </a:p>
        </p:txBody>
      </p:sp>
      <p:sp>
        <p:nvSpPr>
          <p:cNvPr id="33" name="TextBox 32"/>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Fuente: encuesta aplicada a 45 empresas de Cúcuta durante la fase de análisis.</a:t>
            </a:r>
          </a:p>
        </p:txBody>
      </p:sp>
      <p:sp>
        <p:nvSpPr>
          <p:cNvPr id="34" name="TextBox 3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5 / 41</a:t>
            </a:r>
          </a:p>
        </p:txBody>
      </p:sp>
    </p:spTree>
    <p:extLst>
      <p:ext uri="{BB962C8B-B14F-4D97-AF65-F5344CB8AC3E}">
        <p14:creationId xmlns:p14="http://schemas.microsoft.com/office/powerpoint/2010/main" val="1556841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272611BD-5090-88E2-8DB2-78DB7477A217}"/>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Objetivo General</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endParaRPr dirty="0"/>
          </a:p>
        </p:txBody>
      </p:sp>
      <p:sp>
        <p:nvSpPr>
          <p:cNvPr id="24" name="TextBox 23"/>
          <p:cNvSpPr txBox="1"/>
          <p:nvPr/>
        </p:nvSpPr>
        <p:spPr>
          <a:xfrm>
            <a:off x="1280160" y="2286000"/>
            <a:ext cx="9692640" cy="2743200"/>
          </a:xfrm>
          <a:prstGeom prst="rect">
            <a:avLst/>
          </a:prstGeom>
          <a:noFill/>
        </p:spPr>
        <p:txBody>
          <a:bodyPr wrap="square">
            <a:spAutoFit/>
          </a:bodyPr>
          <a:lstStyle/>
          <a:p>
            <a:pPr algn="ctr"/>
            <a:r>
              <a:rPr sz="2400" b="1">
                <a:solidFill>
                  <a:srgbClr val="1F3B73"/>
                </a:solidFill>
                <a:latin typeface="Arial"/>
              </a:rPr>
              <a:t>Desarrollar FactuGest, una plataforma web de facturación electrónica que opere como proveedor tecnológico para micro, pequeñas y medianas empresas de Colombia, permitiéndoles emitir facturas de venta, notas crédito y notas débito conforme a la normativa de la DIAN a través de una API de integración que se conecta con los sistemas que ya utilizan.</a:t>
            </a:r>
          </a:p>
        </p:txBody>
      </p:sp>
      <p:sp>
        <p:nvSpPr>
          <p:cNvPr id="25" name="TextBox 24"/>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6 / 41</a:t>
            </a:r>
          </a:p>
        </p:txBody>
      </p:sp>
    </p:spTree>
    <p:extLst>
      <p:ext uri="{BB962C8B-B14F-4D97-AF65-F5344CB8AC3E}">
        <p14:creationId xmlns:p14="http://schemas.microsoft.com/office/powerpoint/2010/main" val="968519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4B0AA0B5-E4A9-52D1-B9C7-4150FF2200E4}"/>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Objetivos Específicos</a:t>
            </a:r>
            <a:r>
              <a:rPr lang="en-US" sz="2700" dirty="0" err="1">
                <a:solidFill>
                  <a:srgbClr val="003366"/>
                </a:solidFill>
                <a:latin typeface="Plus Jakarta Sans ExtraBold"/>
                <a:ea typeface="Plus Jakarta Sans ExtraBold"/>
                <a:cs typeface="Plus Jakarta Sans ExtraBold"/>
                <a:sym typeface="Plus Jakarta Sans ExtraBold"/>
              </a:rPr>
              <a:t/>
            </a:r>
            <a:r>
              <a:rPr lang="en-US" sz="2700" dirty="0">
                <a:solidFill>
                  <a:srgbClr val="003366"/>
                </a:solidFill>
                <a:latin typeface="Plus Jakarta Sans ExtraBold"/>
                <a:ea typeface="Plus Jakarta Sans ExtraBold"/>
                <a:cs typeface="Plus Jakarta Sans ExtraBold"/>
                <a:sym typeface="Plus Jakarta Sans ExtraBold"/>
              </a:rPr>
              <a:t/>
            </a:r>
            <a:r>
              <a:rPr lang="en-US" sz="2700" dirty="0" err="1">
                <a:solidFill>
                  <a:srgbClr val="003366"/>
                </a:solidFill>
                <a:latin typeface="Plus Jakarta Sans ExtraBold"/>
                <a:ea typeface="Plus Jakarta Sans ExtraBold"/>
                <a:cs typeface="Plus Jakarta Sans ExtraBold"/>
                <a:sym typeface="Plus Jakarta Sans ExtraBold"/>
              </a:rPr>
              <a:t/>
            </a:r>
            <a:endParaRPr dirty="0"/>
          </a:p>
        </p:txBody>
      </p:sp>
      <p:sp>
        <p:nvSpPr>
          <p:cNvPr id="24" name="TextBox 23"/>
          <p:cNvSpPr txBox="1"/>
          <p:nvPr/>
        </p:nvSpPr>
        <p:spPr>
          <a:xfrm>
            <a:off x="822960" y="1600200"/>
            <a:ext cx="10424160" cy="960120"/>
          </a:xfrm>
          <a:prstGeom prst="rect">
            <a:avLst/>
          </a:prstGeom>
          <a:noFill/>
        </p:spPr>
        <p:txBody>
          <a:bodyPr wrap="square">
            <a:spAutoFit/>
          </a:bodyPr>
          <a:lstStyle/>
          <a:p>
            <a:r>
              <a:rPr sz="2000">
                <a:solidFill>
                  <a:srgbClr val="33373D"/>
                </a:solidFill>
                <a:latin typeface="Arial"/>
              </a:rPr>
              <a:t>1. Implementar el módulo de emisión de documentos electrónicos con su cálculo tributario, su consecutivo autorizado, su CUFE, su PDF y su XML bajo UBL 2.1.</a:t>
            </a:r>
          </a:p>
        </p:txBody>
      </p:sp>
      <p:sp>
        <p:nvSpPr>
          <p:cNvPr id="25" name="TextBox 24"/>
          <p:cNvSpPr txBox="1"/>
          <p:nvPr/>
        </p:nvSpPr>
        <p:spPr>
          <a:xfrm>
            <a:off x="822960" y="2560320"/>
            <a:ext cx="10424160" cy="960120"/>
          </a:xfrm>
          <a:prstGeom prst="rect">
            <a:avLst/>
          </a:prstGeom>
          <a:noFill/>
        </p:spPr>
        <p:txBody>
          <a:bodyPr wrap="square">
            <a:spAutoFit/>
          </a:bodyPr>
          <a:lstStyle/>
          <a:p>
            <a:r>
              <a:rPr sz="2000">
                <a:solidFill>
                  <a:srgbClr val="33373D"/>
                </a:solidFill>
                <a:latin typeface="Arial"/>
              </a:rPr>
              <a:t>2. Construir una API REST de integración con autenticación por llave, control de cupo y una forma única de error documentada en OpenAPI.</a:t>
            </a:r>
          </a:p>
        </p:txBody>
      </p:sp>
      <p:sp>
        <p:nvSpPr>
          <p:cNvPr id="26" name="TextBox 25"/>
          <p:cNvSpPr txBox="1"/>
          <p:nvPr/>
        </p:nvSpPr>
        <p:spPr>
          <a:xfrm>
            <a:off x="822960" y="3520440"/>
            <a:ext cx="10424160" cy="960120"/>
          </a:xfrm>
          <a:prstGeom prst="rect">
            <a:avLst/>
          </a:prstGeom>
          <a:noFill/>
        </p:spPr>
        <p:txBody>
          <a:bodyPr wrap="square">
            <a:spAutoFit/>
          </a:bodyPr>
          <a:lstStyle/>
          <a:p>
            <a:r>
              <a:rPr sz="2000">
                <a:solidFill>
                  <a:srgbClr val="33373D"/>
                </a:solidFill>
                <a:latin typeface="Arial"/>
              </a:rPr>
              <a:t>3. Desarrollar el módulo de clientes API y planes de suscripción, con la generación y rotación de llaves y el control del consumo mensual.</a:t>
            </a:r>
          </a:p>
        </p:txBody>
      </p:sp>
      <p:sp>
        <p:nvSpPr>
          <p:cNvPr id="27" name="TextBox 26"/>
          <p:cNvSpPr txBox="1"/>
          <p:nvPr/>
        </p:nvSpPr>
        <p:spPr>
          <a:xfrm>
            <a:off x="822960" y="4480560"/>
            <a:ext cx="10424160" cy="960120"/>
          </a:xfrm>
          <a:prstGeom prst="rect">
            <a:avLst/>
          </a:prstGeom>
          <a:noFill/>
        </p:spPr>
        <p:txBody>
          <a:bodyPr wrap="square">
            <a:spAutoFit/>
          </a:bodyPr>
          <a:lstStyle/>
          <a:p>
            <a:r>
              <a:rPr sz="2000">
                <a:solidFill>
                  <a:srgbClr val="33373D"/>
                </a:solidFill>
                <a:latin typeface="Arial"/>
              </a:rPr>
              <a:t>4. Implementar un panel de control y un módulo de reportes exportables a CSV y a PDF.</a:t>
            </a:r>
          </a:p>
        </p:txBody>
      </p:sp>
      <p:sp>
        <p:nvSpPr>
          <p:cNvPr id="28" name="TextBox 27"/>
          <p:cNvSpPr txBox="1"/>
          <p:nvPr/>
        </p:nvSpPr>
        <p:spPr>
          <a:xfrm>
            <a:off x="822960" y="5440680"/>
            <a:ext cx="10424160" cy="960120"/>
          </a:xfrm>
          <a:prstGeom prst="rect">
            <a:avLst/>
          </a:prstGeom>
          <a:noFill/>
        </p:spPr>
        <p:txBody>
          <a:bodyPr wrap="square">
            <a:spAutoFit/>
          </a:bodyPr>
          <a:lstStyle/>
          <a:p>
            <a:r>
              <a:rPr sz="2000">
                <a:solidFill>
                  <a:srgbClr val="33373D"/>
                </a:solidFill>
                <a:latin typeface="Arial"/>
              </a:rPr>
              <a:t>5. Establecer el esquema de seguridad con autenticación, roles jerárquicos y registro de auditoría de las operaciones de escritura.</a:t>
            </a:r>
          </a:p>
        </p:txBody>
      </p:sp>
      <p:sp>
        <p:nvSpPr>
          <p:cNvPr id="29" name="TextBox 28"/>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7 / 41</a:t>
            </a:r>
          </a:p>
        </p:txBody>
      </p:sp>
    </p:spTree>
    <p:extLst>
      <p:ext uri="{BB962C8B-B14F-4D97-AF65-F5344CB8AC3E}">
        <p14:creationId xmlns:p14="http://schemas.microsoft.com/office/powerpoint/2010/main" val="2594821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3FE379AC-14BA-0D80-78A8-2080EA36BF69}"/>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Alcance</a:t>
            </a:r>
            <a:endParaRPr dirty="0"/>
          </a:p>
        </p:txBody>
      </p:sp>
      <p:sp>
        <p:nvSpPr>
          <p:cNvPr id="24" name="TextBox 23"/>
          <p:cNvSpPr txBox="1"/>
          <p:nvPr/>
        </p:nvSpPr>
        <p:spPr>
          <a:xfrm>
            <a:off x="822960" y="1463040"/>
            <a:ext cx="4937760" cy="365760"/>
          </a:xfrm>
          <a:prstGeom prst="rect">
            <a:avLst/>
          </a:prstGeom>
          <a:noFill/>
        </p:spPr>
        <p:txBody>
          <a:bodyPr wrap="square">
            <a:spAutoFit/>
          </a:bodyPr>
          <a:lstStyle/>
          <a:p>
            <a:pPr algn="l"/>
            <a:r>
              <a:rPr sz="2200" b="1">
                <a:solidFill>
                  <a:srgbClr val="1F3B73"/>
                </a:solidFill>
                <a:latin typeface="Arial"/>
              </a:rPr>
              <a:t>Lo que el sistema hace</a:t>
            </a:r>
          </a:p>
        </p:txBody>
      </p:sp>
      <p:sp>
        <p:nvSpPr>
          <p:cNvPr id="25" name="TextBox 24"/>
          <p:cNvSpPr txBox="1"/>
          <p:nvPr/>
        </p:nvSpPr>
        <p:spPr>
          <a:xfrm>
            <a:off x="822960" y="2011680"/>
            <a:ext cx="4937760" cy="786384"/>
          </a:xfrm>
          <a:prstGeom prst="rect">
            <a:avLst/>
          </a:prstGeom>
          <a:noFill/>
        </p:spPr>
        <p:txBody>
          <a:bodyPr wrap="square">
            <a:spAutoFit/>
          </a:bodyPr>
          <a:lstStyle/>
          <a:p>
            <a:r>
              <a:rPr sz="1700">
                <a:solidFill>
                  <a:srgbClr val="33373D"/>
                </a:solidFill>
                <a:latin typeface="Arial"/>
              </a:rPr>
              <a:t>Emite facturas de venta, notas crédito y notas débito por cuenta de terceros.</a:t>
            </a:r>
          </a:p>
        </p:txBody>
      </p:sp>
      <p:sp>
        <p:nvSpPr>
          <p:cNvPr id="26" name="TextBox 25"/>
          <p:cNvSpPr txBox="1"/>
          <p:nvPr/>
        </p:nvSpPr>
        <p:spPr>
          <a:xfrm>
            <a:off x="822960" y="2798064"/>
            <a:ext cx="4937760" cy="786384"/>
          </a:xfrm>
          <a:prstGeom prst="rect">
            <a:avLst/>
          </a:prstGeom>
          <a:noFill/>
        </p:spPr>
        <p:txBody>
          <a:bodyPr wrap="square">
            <a:spAutoFit/>
          </a:bodyPr>
          <a:lstStyle/>
          <a:p>
            <a:r>
              <a:rPr sz="1700">
                <a:solidFill>
                  <a:srgbClr val="33373D"/>
                </a:solidFill>
                <a:latin typeface="Arial"/>
              </a:rPr>
              <a:t>Expone una API que el software del cliente consume para emitir sus documentos.</a:t>
            </a:r>
          </a:p>
        </p:txBody>
      </p:sp>
      <p:sp>
        <p:nvSpPr>
          <p:cNvPr id="27" name="TextBox 26"/>
          <p:cNvSpPr txBox="1"/>
          <p:nvPr/>
        </p:nvSpPr>
        <p:spPr>
          <a:xfrm>
            <a:off x="822960" y="3584448"/>
            <a:ext cx="4937760" cy="786384"/>
          </a:xfrm>
          <a:prstGeom prst="rect">
            <a:avLst/>
          </a:prstGeom>
          <a:noFill/>
        </p:spPr>
        <p:txBody>
          <a:bodyPr wrap="square">
            <a:spAutoFit/>
          </a:bodyPr>
          <a:lstStyle/>
          <a:p>
            <a:r>
              <a:rPr sz="1700">
                <a:solidFill>
                  <a:srgbClr val="33373D"/>
                </a:solidFill>
                <a:latin typeface="Arial"/>
              </a:rPr>
              <a:t>Administra los clientes integrados, sus llaves y sus planes.</a:t>
            </a:r>
          </a:p>
        </p:txBody>
      </p:sp>
      <p:sp>
        <p:nvSpPr>
          <p:cNvPr id="28" name="TextBox 27"/>
          <p:cNvSpPr txBox="1"/>
          <p:nvPr/>
        </p:nvSpPr>
        <p:spPr>
          <a:xfrm>
            <a:off x="822960" y="4370832"/>
            <a:ext cx="4937760" cy="786384"/>
          </a:xfrm>
          <a:prstGeom prst="rect">
            <a:avLst/>
          </a:prstGeom>
          <a:noFill/>
        </p:spPr>
        <p:txBody>
          <a:bodyPr wrap="square">
            <a:spAutoFit/>
          </a:bodyPr>
          <a:lstStyle/>
          <a:p>
            <a:r>
              <a:rPr sz="1700">
                <a:solidFill>
                  <a:srgbClr val="33373D"/>
                </a:solidFill>
                <a:latin typeface="Arial"/>
              </a:rPr>
              <a:t>Controla el consumo mensual y factura la mensualidad del servicio.</a:t>
            </a:r>
          </a:p>
        </p:txBody>
      </p:sp>
      <p:sp>
        <p:nvSpPr>
          <p:cNvPr id="29" name="TextBox 28"/>
          <p:cNvSpPr txBox="1"/>
          <p:nvPr/>
        </p:nvSpPr>
        <p:spPr>
          <a:xfrm>
            <a:off x="822960" y="5157216"/>
            <a:ext cx="4937760" cy="786384"/>
          </a:xfrm>
          <a:prstGeom prst="rect">
            <a:avLst/>
          </a:prstGeom>
          <a:noFill/>
        </p:spPr>
        <p:txBody>
          <a:bodyPr wrap="square">
            <a:spAutoFit/>
          </a:bodyPr>
          <a:lstStyle/>
          <a:p>
            <a:r>
              <a:rPr sz="1700">
                <a:solidFill>
                  <a:srgbClr val="33373D"/>
                </a:solidFill>
                <a:latin typeface="Arial"/>
              </a:rPr>
              <a:t>Consolida la operación en un tablero y siete reportes exportables.</a:t>
            </a:r>
          </a:p>
        </p:txBody>
      </p:sp>
      <p:sp>
        <p:nvSpPr>
          <p:cNvPr id="30" name="TextBox 29"/>
          <p:cNvSpPr txBox="1"/>
          <p:nvPr/>
        </p:nvSpPr>
        <p:spPr>
          <a:xfrm>
            <a:off x="6309360" y="1463040"/>
            <a:ext cx="5029200" cy="365760"/>
          </a:xfrm>
          <a:prstGeom prst="rect">
            <a:avLst/>
          </a:prstGeom>
          <a:noFill/>
        </p:spPr>
        <p:txBody>
          <a:bodyPr wrap="square">
            <a:spAutoFit/>
          </a:bodyPr>
          <a:lstStyle/>
          <a:p>
            <a:pPr algn="l"/>
            <a:r>
              <a:rPr sz="2200" b="1">
                <a:solidFill>
                  <a:srgbClr val="1F3B73"/>
                </a:solidFill>
                <a:latin typeface="Arial"/>
              </a:rPr>
              <a:t>Lo que queda fuera de esta versión</a:t>
            </a:r>
          </a:p>
        </p:txBody>
      </p:sp>
      <p:sp>
        <p:nvSpPr>
          <p:cNvPr id="31" name="TextBox 30"/>
          <p:cNvSpPr txBox="1"/>
          <p:nvPr/>
        </p:nvSpPr>
        <p:spPr>
          <a:xfrm>
            <a:off x="6309360" y="2011680"/>
            <a:ext cx="5029200" cy="960120"/>
          </a:xfrm>
          <a:prstGeom prst="rect">
            <a:avLst/>
          </a:prstGeom>
          <a:noFill/>
        </p:spPr>
        <p:txBody>
          <a:bodyPr wrap="square">
            <a:spAutoFit/>
          </a:bodyPr>
          <a:lstStyle/>
          <a:p>
            <a:r>
              <a:rPr sz="1700">
                <a:solidFill>
                  <a:srgbClr val="33373D"/>
                </a:solidFill>
                <a:latin typeface="Arial"/>
              </a:rPr>
              <a:t>La transmisión a los servicios de producción de la DIAN, pendiente de la habilitación del proveedor.</a:t>
            </a:r>
          </a:p>
        </p:txBody>
      </p:sp>
      <p:sp>
        <p:nvSpPr>
          <p:cNvPr id="32" name="TextBox 31"/>
          <p:cNvSpPr txBox="1"/>
          <p:nvPr/>
        </p:nvSpPr>
        <p:spPr>
          <a:xfrm>
            <a:off x="6309360" y="2971800"/>
            <a:ext cx="5029200" cy="960120"/>
          </a:xfrm>
          <a:prstGeom prst="rect">
            <a:avLst/>
          </a:prstGeom>
          <a:noFill/>
        </p:spPr>
        <p:txBody>
          <a:bodyPr wrap="square">
            <a:spAutoFit/>
          </a:bodyPr>
          <a:lstStyle/>
          <a:p>
            <a:r>
              <a:rPr sz="1700">
                <a:solidFill>
                  <a:srgbClr val="33373D"/>
                </a:solidFill>
                <a:latin typeface="Arial"/>
              </a:rPr>
              <a:t>La integración con pasarelas de pago, porque el recaudo se registra a mano.</a:t>
            </a:r>
          </a:p>
        </p:txBody>
      </p:sp>
      <p:sp>
        <p:nvSpPr>
          <p:cNvPr id="33" name="TextBox 32"/>
          <p:cNvSpPr txBox="1"/>
          <p:nvPr/>
        </p:nvSpPr>
        <p:spPr>
          <a:xfrm>
            <a:off x="6309360" y="3931920"/>
            <a:ext cx="5029200" cy="960120"/>
          </a:xfrm>
          <a:prstGeom prst="rect">
            <a:avLst/>
          </a:prstGeom>
          <a:noFill/>
        </p:spPr>
        <p:txBody>
          <a:bodyPr wrap="square">
            <a:spAutoFit/>
          </a:bodyPr>
          <a:lstStyle/>
          <a:p>
            <a:r>
              <a:rPr sz="1700">
                <a:solidFill>
                  <a:srgbClr val="33373D"/>
                </a:solidFill>
                <a:latin typeface="Arial"/>
              </a:rPr>
              <a:t>El cliente móvil, que quedó fuera de esta versión.</a:t>
            </a:r>
          </a:p>
        </p:txBody>
      </p:sp>
      <p:sp>
        <p:nvSpPr>
          <p:cNvPr id="34" name="TextBox 33"/>
          <p:cNvSpPr txBox="1"/>
          <p:nvPr/>
        </p:nvSpPr>
        <p:spPr>
          <a:xfrm>
            <a:off x="6309360" y="4892040"/>
            <a:ext cx="5029200" cy="960120"/>
          </a:xfrm>
          <a:prstGeom prst="rect">
            <a:avLst/>
          </a:prstGeom>
          <a:noFill/>
        </p:spPr>
        <p:txBody>
          <a:bodyPr wrap="square">
            <a:spAutoFit/>
          </a:bodyPr>
          <a:lstStyle/>
          <a:p>
            <a:r>
              <a:rPr sz="1700">
                <a:solidFill>
                  <a:srgbClr val="33373D"/>
                </a:solidFill>
                <a:latin typeface="Arial"/>
              </a:rPr>
              <a:t>La prueba de carga sostenida, que exige infraestructura de producción.</a:t>
            </a:r>
          </a:p>
        </p:txBody>
      </p:sp>
      <p:sp>
        <p:nvSpPr>
          <p:cNvPr id="35" name="TextBox 34"/>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8 / 41</a:t>
            </a:r>
          </a:p>
        </p:txBody>
      </p:sp>
    </p:spTree>
    <p:extLst>
      <p:ext uri="{BB962C8B-B14F-4D97-AF65-F5344CB8AC3E}">
        <p14:creationId xmlns:p14="http://schemas.microsoft.com/office/powerpoint/2010/main" val="522629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7" name="Imagen 6">
            <a:extLst>
              <a:ext uri="{FF2B5EF4-FFF2-40B4-BE49-F238E27FC236}">
                <a16:creationId xmlns:a16="http://schemas.microsoft.com/office/drawing/2014/main" id="{55135A98-CE2B-358F-3B61-F64EC00709FA}"/>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Riesgos</a:t>
            </a:r>
            <a:endParaRPr dirty="0"/>
          </a:p>
        </p:txBody>
      </p:sp>
      <p:sp>
        <p:nvSpPr>
          <p:cNvPr id="24" name="TextBox 23"/>
          <p:cNvSpPr txBox="1"/>
          <p:nvPr/>
        </p:nvSpPr>
        <p:spPr>
          <a:xfrm>
            <a:off x="822960" y="1417320"/>
            <a:ext cx="10424160" cy="749808"/>
          </a:xfrm>
          <a:prstGeom prst="rect">
            <a:avLst/>
          </a:prstGeom>
          <a:noFill/>
        </p:spPr>
        <p:txBody>
          <a:bodyPr wrap="square">
            <a:spAutoFit/>
          </a:bodyPr>
          <a:lstStyle/>
          <a:p>
            <a:r>
              <a:rPr sz="1800">
                <a:solidFill>
                  <a:srgbClr val="33373D"/>
                </a:solidFill>
                <a:latin typeface="Arial"/>
              </a:rPr>
              <a:t>Que la empresa no cuente con personal técnico capaz de consumir la interfaz de integración.</a:t>
            </a:r>
          </a:p>
        </p:txBody>
      </p:sp>
      <p:sp>
        <p:nvSpPr>
          <p:cNvPr id="25" name="TextBox 24"/>
          <p:cNvSpPr txBox="1"/>
          <p:nvPr/>
        </p:nvSpPr>
        <p:spPr>
          <a:xfrm>
            <a:off x="822960" y="2167128"/>
            <a:ext cx="10424160" cy="749808"/>
          </a:xfrm>
          <a:prstGeom prst="rect">
            <a:avLst/>
          </a:prstGeom>
          <a:noFill/>
        </p:spPr>
        <p:txBody>
          <a:bodyPr wrap="square">
            <a:spAutoFit/>
          </a:bodyPr>
          <a:lstStyle/>
          <a:p>
            <a:r>
              <a:rPr sz="1800">
                <a:solidFill>
                  <a:srgbClr val="33373D"/>
                </a:solidFill>
                <a:latin typeface="Arial"/>
              </a:rPr>
              <a:t>Que un servicio externo, como el correo del comprador, no esté disponible en el momento de emitir.</a:t>
            </a:r>
          </a:p>
        </p:txBody>
      </p:sp>
      <p:sp>
        <p:nvSpPr>
          <p:cNvPr id="26" name="TextBox 25"/>
          <p:cNvSpPr txBox="1"/>
          <p:nvPr/>
        </p:nvSpPr>
        <p:spPr>
          <a:xfrm>
            <a:off x="822960" y="2916936"/>
            <a:ext cx="10424160" cy="749808"/>
          </a:xfrm>
          <a:prstGeom prst="rect">
            <a:avLst/>
          </a:prstGeom>
          <a:noFill/>
        </p:spPr>
        <p:txBody>
          <a:bodyPr wrap="square">
            <a:spAutoFit/>
          </a:bodyPr>
          <a:lstStyle/>
          <a:p>
            <a:r>
              <a:rPr sz="1800">
                <a:solidFill>
                  <a:srgbClr val="33373D"/>
                </a:solidFill>
                <a:latin typeface="Arial"/>
              </a:rPr>
              <a:t>Que la empresa desconfíe de delegar su facturación en un tercero, que es una decisión que excede lo técnico.</a:t>
            </a:r>
          </a:p>
        </p:txBody>
      </p:sp>
      <p:sp>
        <p:nvSpPr>
          <p:cNvPr id="27" name="TextBox 26"/>
          <p:cNvSpPr txBox="1"/>
          <p:nvPr/>
        </p:nvSpPr>
        <p:spPr>
          <a:xfrm>
            <a:off x="566928" y="3867912"/>
            <a:ext cx="4572000" cy="457200"/>
          </a:xfrm>
          <a:prstGeom prst="rect">
            <a:avLst/>
          </a:prstGeom>
          <a:noFill/>
        </p:spPr>
        <p:txBody>
          <a:bodyPr wrap="square">
            <a:spAutoFit/>
          </a:bodyPr>
          <a:lstStyle/>
          <a:p>
            <a:pPr algn="l"/>
            <a:r>
              <a:rPr sz="2700" b="1">
                <a:solidFill>
                  <a:srgbClr val="1F3B73"/>
                </a:solidFill>
                <a:latin typeface="Arial"/>
              </a:rPr>
              <a:t>Restricciones</a:t>
            </a:r>
          </a:p>
        </p:txBody>
      </p:sp>
      <p:sp>
        <p:nvSpPr>
          <p:cNvPr id="28" name="TextBox 27"/>
          <p:cNvSpPr txBox="1"/>
          <p:nvPr/>
        </p:nvSpPr>
        <p:spPr>
          <a:xfrm>
            <a:off x="822960" y="4617720"/>
            <a:ext cx="10424160" cy="713232"/>
          </a:xfrm>
          <a:prstGeom prst="rect">
            <a:avLst/>
          </a:prstGeom>
          <a:noFill/>
        </p:spPr>
        <p:txBody>
          <a:bodyPr wrap="square">
            <a:spAutoFit/>
          </a:bodyPr>
          <a:lstStyle/>
          <a:p>
            <a:r>
              <a:rPr sz="1800">
                <a:solidFill>
                  <a:srgbClr val="33373D"/>
                </a:solidFill>
                <a:latin typeface="Arial"/>
              </a:rPr>
              <a:t>La habilitación como proveedor ante la DIAN es un trámite que no controla el equipo.</a:t>
            </a:r>
          </a:p>
        </p:txBody>
      </p:sp>
      <p:sp>
        <p:nvSpPr>
          <p:cNvPr id="29" name="TextBox 28"/>
          <p:cNvSpPr txBox="1"/>
          <p:nvPr/>
        </p:nvSpPr>
        <p:spPr>
          <a:xfrm>
            <a:off x="822960" y="5330952"/>
            <a:ext cx="10424160" cy="713232"/>
          </a:xfrm>
          <a:prstGeom prst="rect">
            <a:avLst/>
          </a:prstGeom>
          <a:noFill/>
        </p:spPr>
        <p:txBody>
          <a:bodyPr wrap="square">
            <a:spAutoFit/>
          </a:bodyPr>
          <a:lstStyle/>
          <a:p>
            <a:r>
              <a:rPr sz="1800">
                <a:solidFill>
                  <a:srgbClr val="33373D"/>
                </a:solidFill>
                <a:latin typeface="Arial"/>
              </a:rPr>
              <a:t>Cada documento necesita una resolución de facturación vigente con su prefijo y su rango autorizados.</a:t>
            </a:r>
          </a:p>
        </p:txBody>
      </p:sp>
      <p:sp>
        <p:nvSpPr>
          <p:cNvPr id="30" name="TextBox 29"/>
          <p:cNvSpPr txBox="1"/>
          <p:nvPr/>
        </p:nvSpPr>
        <p:spPr>
          <a:xfrm>
            <a:off x="822960" y="6044183"/>
            <a:ext cx="10424160" cy="713232"/>
          </a:xfrm>
          <a:prstGeom prst="rect">
            <a:avLst/>
          </a:prstGeom>
          <a:noFill/>
        </p:spPr>
        <p:txBody>
          <a:bodyPr wrap="square">
            <a:spAutoFit/>
          </a:bodyPr>
          <a:lstStyle/>
          <a:p>
            <a:r>
              <a:rPr sz="1800">
                <a:solidFill>
                  <a:srgbClr val="33373D"/>
                </a:solidFill>
                <a:latin typeface="Arial"/>
              </a:rPr>
              <a:t>La operación requiere conexión a internet en los dos extremos, el del proveedor y el del sistema integrado.</a:t>
            </a:r>
          </a:p>
        </p:txBody>
      </p:sp>
      <p:sp>
        <p:nvSpPr>
          <p:cNvPr id="31" name="TextBox 3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9 / 41</a:t>
            </a:r>
          </a:p>
        </p:txBody>
      </p:sp>
    </p:spTree>
    <p:extLst>
      <p:ext uri="{BB962C8B-B14F-4D97-AF65-F5344CB8AC3E}">
        <p14:creationId xmlns:p14="http://schemas.microsoft.com/office/powerpoint/2010/main" val="2850514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B496BD96-8A3E-82A4-36C0-B5786AAABEE1}"/>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Cronograma de Actividades</a:t>
            </a:r>
            <a:endParaRPr dirty="0"/>
          </a:p>
        </p:txBody>
      </p:sp>
      <p:graphicFrame>
        <p:nvGraphicFramePr>
          <p:cNvPr id="24" name="Table 23"/>
          <p:cNvGraphicFramePr>
            <a:graphicFrameLocks noGrp="1"/>
          </p:cNvGraphicFramePr>
          <p:nvPr/>
        </p:nvGraphicFramePr>
        <p:xfrm>
          <a:off x="685800" y="1737360"/>
          <a:ext cx="10835640" cy="3291840"/>
        </p:xfrm>
        <a:graphic>
          <a:graphicData uri="http://schemas.openxmlformats.org/drawingml/2006/table">
            <a:tbl>
              <a:tblPr firstRow="1" bandRow="1">
                <a:tableStyleId>{5C22544A-7EE6-4342-B048-85BDC9FD1C3A}</a:tableStyleId>
              </a:tblPr>
              <a:tblGrid>
                <a:gridCol w="1920240"/>
                <a:gridCol w="2743200"/>
                <a:gridCol w="6172200"/>
              </a:tblGrid>
              <a:tr h="658368">
                <a:tc>
                  <a:txBody>
                    <a:bodyPr/>
                    <a:lstStyle/>
                    <a:p>
                      <a:r>
                        <a:rPr sz="1600" b="1">
                          <a:solidFill>
                            <a:srgbClr val="FFFFFF"/>
                          </a:solidFill>
                          <a:latin typeface="Arial"/>
                        </a:rPr>
                        <a:t>Fase</a:t>
                      </a:r>
                    </a:p>
                  </a:txBody>
                  <a:tcPr marL="73152" marR="73152" marT="27432" marB="27432">
                    <a:solidFill>
                      <a:srgbClr val="1F3B73"/>
                    </a:solidFill>
                  </a:tcPr>
                </a:tc>
                <a:tc>
                  <a:txBody>
                    <a:bodyPr/>
                    <a:lstStyle/>
                    <a:p>
                      <a:r>
                        <a:rPr sz="1600" b="1">
                          <a:solidFill>
                            <a:srgbClr val="FFFFFF"/>
                          </a:solidFill>
                          <a:latin typeface="Arial"/>
                        </a:rPr>
                        <a:t>Periodo</a:t>
                      </a:r>
                    </a:p>
                  </a:txBody>
                  <a:tcPr marL="73152" marR="73152" marT="27432" marB="27432">
                    <a:solidFill>
                      <a:srgbClr val="1F3B73"/>
                    </a:solidFill>
                  </a:tcPr>
                </a:tc>
                <a:tc>
                  <a:txBody>
                    <a:bodyPr/>
                    <a:lstStyle/>
                    <a:p>
                      <a:r>
                        <a:rPr sz="1600" b="1">
                          <a:solidFill>
                            <a:srgbClr val="FFFFFF"/>
                          </a:solidFill>
                          <a:latin typeface="Arial"/>
                        </a:rPr>
                        <a:t>Actividades</a:t>
                      </a:r>
                    </a:p>
                  </a:txBody>
                  <a:tcPr marL="73152" marR="73152" marT="27432" marB="27432">
                    <a:solidFill>
                      <a:srgbClr val="1F3B73"/>
                    </a:solidFill>
                  </a:tcPr>
                </a:tc>
              </a:tr>
              <a:tr h="658368">
                <a:tc>
                  <a:txBody>
                    <a:bodyPr/>
                    <a:lstStyle/>
                    <a:p>
                      <a:r>
                        <a:rPr sz="1600" b="0">
                          <a:solidFill>
                            <a:srgbClr val="33373D"/>
                          </a:solidFill>
                          <a:latin typeface="Arial"/>
                        </a:rPr>
                        <a:t>Análisis</a:t>
                      </a:r>
                    </a:p>
                  </a:txBody>
                  <a:tcPr marL="73152" marR="73152" marT="27432" marB="27432">
                    <a:solidFill>
                      <a:srgbClr val="FFFFFF"/>
                    </a:solidFill>
                  </a:tcPr>
                </a:tc>
                <a:tc>
                  <a:txBody>
                    <a:bodyPr/>
                    <a:lstStyle/>
                    <a:p>
                      <a:r>
                        <a:rPr sz="1600" b="0">
                          <a:solidFill>
                            <a:srgbClr val="33373D"/>
                          </a:solidFill>
                          <a:latin typeface="Arial"/>
                        </a:rPr>
                        <a:t>Marzo a junio de 2025</a:t>
                      </a:r>
                    </a:p>
                  </a:txBody>
                  <a:tcPr marL="73152" marR="73152" marT="27432" marB="27432">
                    <a:solidFill>
                      <a:srgbClr val="FFFFFF"/>
                    </a:solidFill>
                  </a:tcPr>
                </a:tc>
                <a:tc>
                  <a:txBody>
                    <a:bodyPr/>
                    <a:lstStyle/>
                    <a:p>
                      <a:r>
                        <a:rPr sz="1600" b="0">
                          <a:solidFill>
                            <a:srgbClr val="33373D"/>
                          </a:solidFill>
                          <a:latin typeface="Arial"/>
                        </a:rPr>
                        <a:t>Levantamiento de requisitos, identificación de actores y análisis del problema</a:t>
                      </a:r>
                    </a:p>
                  </a:txBody>
                  <a:tcPr marL="73152" marR="73152" marT="27432" marB="27432">
                    <a:solidFill>
                      <a:srgbClr val="FFFFFF"/>
                    </a:solidFill>
                  </a:tcPr>
                </a:tc>
              </a:tr>
              <a:tr h="658368">
                <a:tc>
                  <a:txBody>
                    <a:bodyPr/>
                    <a:lstStyle/>
                    <a:p>
                      <a:r>
                        <a:rPr sz="1600" b="0">
                          <a:solidFill>
                            <a:srgbClr val="33373D"/>
                          </a:solidFill>
                          <a:latin typeface="Arial"/>
                        </a:rPr>
                        <a:t>Planeación</a:t>
                      </a:r>
                    </a:p>
                  </a:txBody>
                  <a:tcPr marL="73152" marR="73152" marT="27432" marB="27432">
                    <a:solidFill>
                      <a:srgbClr val="EFF3F9"/>
                    </a:solidFill>
                  </a:tcPr>
                </a:tc>
                <a:tc>
                  <a:txBody>
                    <a:bodyPr/>
                    <a:lstStyle/>
                    <a:p>
                      <a:r>
                        <a:rPr sz="1600" b="0">
                          <a:solidFill>
                            <a:srgbClr val="33373D"/>
                          </a:solidFill>
                          <a:latin typeface="Arial"/>
                        </a:rPr>
                        <a:t>Julio a octubre de 2025</a:t>
                      </a:r>
                    </a:p>
                  </a:txBody>
                  <a:tcPr marL="73152" marR="73152" marT="27432" marB="27432">
                    <a:solidFill>
                      <a:srgbClr val="EFF3F9"/>
                    </a:solidFill>
                  </a:tcPr>
                </a:tc>
                <a:tc>
                  <a:txBody>
                    <a:bodyPr/>
                    <a:lstStyle/>
                    <a:p>
                      <a:r>
                        <a:rPr sz="1600" b="0">
                          <a:solidFill>
                            <a:srgbClr val="33373D"/>
                          </a:solidFill>
                          <a:latin typeface="Arial"/>
                        </a:rPr>
                        <a:t>Diseño de la solución, arquitectura, modelado y conformación del backlog</a:t>
                      </a:r>
                    </a:p>
                  </a:txBody>
                  <a:tcPr marL="73152" marR="73152" marT="27432" marB="27432">
                    <a:solidFill>
                      <a:srgbClr val="EFF3F9"/>
                    </a:solidFill>
                  </a:tcPr>
                </a:tc>
              </a:tr>
              <a:tr h="658368">
                <a:tc>
                  <a:txBody>
                    <a:bodyPr/>
                    <a:lstStyle/>
                    <a:p>
                      <a:r>
                        <a:rPr sz="1600" b="0">
                          <a:solidFill>
                            <a:srgbClr val="33373D"/>
                          </a:solidFill>
                          <a:latin typeface="Arial"/>
                        </a:rPr>
                        <a:t>Ejecución</a:t>
                      </a:r>
                    </a:p>
                  </a:txBody>
                  <a:tcPr marL="73152" marR="73152" marT="27432" marB="27432">
                    <a:solidFill>
                      <a:srgbClr val="FFFFFF"/>
                    </a:solidFill>
                  </a:tcPr>
                </a:tc>
                <a:tc>
                  <a:txBody>
                    <a:bodyPr/>
                    <a:lstStyle/>
                    <a:p>
                      <a:r>
                        <a:rPr sz="1600" b="0">
                          <a:solidFill>
                            <a:srgbClr val="33373D"/>
                          </a:solidFill>
                          <a:latin typeface="Arial"/>
                        </a:rPr>
                        <a:t>Noviembre de 2025 a mayo de 2026</a:t>
                      </a:r>
                    </a:p>
                  </a:txBody>
                  <a:tcPr marL="73152" marR="73152" marT="27432" marB="27432">
                    <a:solidFill>
                      <a:srgbClr val="FFFFFF"/>
                    </a:solidFill>
                  </a:tcPr>
                </a:tc>
                <a:tc>
                  <a:txBody>
                    <a:bodyPr/>
                    <a:lstStyle/>
                    <a:p>
                      <a:r>
                        <a:rPr sz="1600" b="0">
                          <a:solidFill>
                            <a:srgbClr val="33373D"/>
                          </a:solidFill>
                          <a:latin typeface="Arial"/>
                        </a:rPr>
                        <a:t>Ocho sprints de dos semanas, integración de módulos y pruebas técnicas</a:t>
                      </a:r>
                    </a:p>
                  </a:txBody>
                  <a:tcPr marL="73152" marR="73152" marT="27432" marB="27432">
                    <a:solidFill>
                      <a:srgbClr val="FFFFFF"/>
                    </a:solidFill>
                  </a:tcPr>
                </a:tc>
              </a:tr>
              <a:tr h="658368">
                <a:tc>
                  <a:txBody>
                    <a:bodyPr/>
                    <a:lstStyle/>
                    <a:p>
                      <a:r>
                        <a:rPr sz="1600" b="0">
                          <a:solidFill>
                            <a:srgbClr val="33373D"/>
                          </a:solidFill>
                          <a:latin typeface="Arial"/>
                        </a:rPr>
                        <a:t>Evaluación</a:t>
                      </a:r>
                    </a:p>
                  </a:txBody>
                  <a:tcPr marL="73152" marR="73152" marT="27432" marB="27432">
                    <a:solidFill>
                      <a:srgbClr val="EFF3F9"/>
                    </a:solidFill>
                  </a:tcPr>
                </a:tc>
                <a:tc>
                  <a:txBody>
                    <a:bodyPr/>
                    <a:lstStyle/>
                    <a:p>
                      <a:r>
                        <a:rPr sz="1600" b="0">
                          <a:solidFill>
                            <a:srgbClr val="33373D"/>
                          </a:solidFill>
                          <a:latin typeface="Arial"/>
                        </a:rPr>
                        <a:t>Junio a julio de 2026</a:t>
                      </a:r>
                    </a:p>
                  </a:txBody>
                  <a:tcPr marL="73152" marR="73152" marT="27432" marB="27432">
                    <a:solidFill>
                      <a:srgbClr val="EFF3F9"/>
                    </a:solidFill>
                  </a:tcPr>
                </a:tc>
                <a:tc>
                  <a:txBody>
                    <a:bodyPr/>
                    <a:lstStyle/>
                    <a:p>
                      <a:r>
                        <a:rPr sz="1600" b="0">
                          <a:solidFill>
                            <a:srgbClr val="33373D"/>
                          </a:solidFill>
                          <a:latin typeface="Arial"/>
                        </a:rPr>
                        <a:t>Pruebas finales, corrección de errores y sustentación</a:t>
                      </a:r>
                    </a:p>
                  </a:txBody>
                  <a:tcPr marL="73152" marR="73152" marT="27432" marB="27432">
                    <a:solidFill>
                      <a:srgbClr val="EFF3F9"/>
                    </a:solidFill>
                  </a:tcPr>
                </a:tc>
              </a:tr>
            </a:tbl>
          </a:graphicData>
        </a:graphic>
      </p:graphicFrame>
      <p:sp>
        <p:nvSpPr>
          <p:cNvPr id="25" name="TextBox 24"/>
          <p:cNvSpPr txBox="1"/>
          <p:nvPr/>
        </p:nvSpPr>
        <p:spPr>
          <a:xfrm>
            <a:off x="685800" y="5349240"/>
            <a:ext cx="10835640" cy="640080"/>
          </a:xfrm>
          <a:prstGeom prst="rect">
            <a:avLst/>
          </a:prstGeom>
          <a:noFill/>
        </p:spPr>
        <p:txBody>
          <a:bodyPr wrap="square">
            <a:spAutoFit/>
          </a:bodyPr>
          <a:lstStyle/>
          <a:p>
            <a:pPr algn="l"/>
            <a:r>
              <a:rPr sz="1800" b="0">
                <a:solidFill>
                  <a:srgbClr val="33373D"/>
                </a:solidFill>
                <a:latin typeface="Arial"/>
              </a:rPr>
              <a:t>El proyecto se desarrolló en dieciséis meses, y la fase de análisis ocupó cuatro de ellos porque de ahí salió el hallazgo que cambió la solución.</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10 / 41</a:t>
            </a:r>
          </a:p>
        </p:txBody>
      </p:sp>
    </p:spTree>
    <p:extLst>
      <p:ext uri="{BB962C8B-B14F-4D97-AF65-F5344CB8AC3E}">
        <p14:creationId xmlns:p14="http://schemas.microsoft.com/office/powerpoint/2010/main" val="33054538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70;p11">
            <a:extLst>
              <a:ext uri="{FF2B5EF4-FFF2-40B4-BE49-F238E27FC236}">
                <a16:creationId xmlns:a16="http://schemas.microsoft.com/office/drawing/2014/main" id="{22E24F0A-EE5A-6939-818B-24451CD36525}"/>
              </a:ext>
            </a:extLst>
          </p:cNvPr>
          <p:cNvSpPr txBox="1"/>
          <p:nvPr/>
        </p:nvSpPr>
        <p:spPr>
          <a:xfrm>
            <a:off x="2761342" y="2920582"/>
            <a:ext cx="6669315" cy="10168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 ANÁLISIS</a:t>
            </a:r>
            <a:endParaRPr sz="1100" dirty="0"/>
          </a:p>
        </p:txBody>
      </p:sp>
      <p:pic>
        <p:nvPicPr>
          <p:cNvPr id="3" name="Google Shape;84;p13" descr="image.png">
            <a:extLst>
              <a:ext uri="{FF2B5EF4-FFF2-40B4-BE49-F238E27FC236}">
                <a16:creationId xmlns:a16="http://schemas.microsoft.com/office/drawing/2014/main" id="{AF178EBC-A15A-FF95-0807-A3E2F4C0FDBB}"/>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4" name="TextBox 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11 / 41</a:t>
            </a:r>
          </a:p>
        </p:txBody>
      </p:sp>
    </p:spTree>
    <p:extLst>
      <p:ext uri="{BB962C8B-B14F-4D97-AF65-F5344CB8AC3E}">
        <p14:creationId xmlns:p14="http://schemas.microsoft.com/office/powerpoint/2010/main" val="824405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5B922EC7-5F81-65CB-56EA-E37EF9E9944F}"/>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Herramientas para la Captura de Requisitos</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endParaRPr dirty="0"/>
          </a:p>
        </p:txBody>
      </p:sp>
      <p:sp>
        <p:nvSpPr>
          <p:cNvPr id="24" name="TextBox 23"/>
          <p:cNvSpPr txBox="1"/>
          <p:nvPr/>
        </p:nvSpPr>
        <p:spPr>
          <a:xfrm>
            <a:off x="822960" y="1325880"/>
            <a:ext cx="3657600" cy="411480"/>
          </a:xfrm>
          <a:prstGeom prst="rect">
            <a:avLst/>
          </a:prstGeom>
          <a:noFill/>
        </p:spPr>
        <p:txBody>
          <a:bodyPr wrap="square">
            <a:spAutoFit/>
          </a:bodyPr>
          <a:lstStyle/>
          <a:p>
            <a:pPr algn="l"/>
            <a:r>
              <a:rPr sz="2200" b="1">
                <a:solidFill>
                  <a:srgbClr val="1F3B73"/>
                </a:solidFill>
                <a:latin typeface="Arial"/>
              </a:rPr>
              <a:t>Encuesta</a:t>
            </a:r>
          </a:p>
        </p:txBody>
      </p:sp>
      <p:sp>
        <p:nvSpPr>
          <p:cNvPr id="25" name="TextBox 24"/>
          <p:cNvSpPr txBox="1"/>
          <p:nvPr/>
        </p:nvSpPr>
        <p:spPr>
          <a:xfrm>
            <a:off x="822960" y="1783080"/>
            <a:ext cx="10515600" cy="914400"/>
          </a:xfrm>
          <a:prstGeom prst="rect">
            <a:avLst/>
          </a:prstGeom>
          <a:noFill/>
        </p:spPr>
        <p:txBody>
          <a:bodyPr wrap="square">
            <a:spAutoFit/>
          </a:bodyPr>
          <a:lstStyle/>
          <a:p>
            <a:pPr algn="l"/>
            <a:r>
              <a:rPr sz="1800" b="0">
                <a:solidFill>
                  <a:srgbClr val="33373D"/>
                </a:solidFill>
                <a:latin typeface="Arial"/>
              </a:rPr>
              <a:t>Cuestionario de doce preguntas cerradas aplicado a 45 empresas de Cúcuta, agrupadas en cuatro bloques que indagaban su situación frente a la obligación, las herramientas que utilizan, las barreras percibidas y su disposición frente a una solución que se integre con el software existente.</a:t>
            </a:r>
          </a:p>
        </p:txBody>
      </p:sp>
      <p:pic>
        <p:nvPicPr>
          <p:cNvPr id="26" name="Picture 25" descr="FIG-encuesta-contraste.png"/>
          <p:cNvPicPr>
            <a:picLocks noChangeAspect="1"/>
          </p:cNvPicPr>
          <p:nvPr/>
        </p:nvPicPr>
        <p:blipFill>
          <a:blip r:embed="rId6"/>
          <a:stretch>
            <a:fillRect/>
          </a:stretch>
        </p:blipFill>
        <p:spPr>
          <a:xfrm>
            <a:off x="685800" y="2823541"/>
            <a:ext cx="10835640" cy="2582517"/>
          </a:xfrm>
          <a:prstGeom prst="rect">
            <a:avLst/>
          </a:prstGeom>
        </p:spPr>
      </p:pic>
      <p:sp>
        <p:nvSpPr>
          <p:cNvPr id="27" name="TextBox 26"/>
          <p:cNvSpPr txBox="1"/>
          <p:nvPr/>
        </p:nvSpPr>
        <p:spPr>
          <a:xfrm>
            <a:off x="822960" y="5623560"/>
            <a:ext cx="10515600" cy="457200"/>
          </a:xfrm>
          <a:prstGeom prst="rect">
            <a:avLst/>
          </a:prstGeom>
          <a:noFill/>
        </p:spPr>
        <p:txBody>
          <a:bodyPr wrap="square">
            <a:spAutoFit/>
          </a:bodyPr>
          <a:lstStyle/>
          <a:p>
            <a:pPr algn="l"/>
            <a:r>
              <a:rPr sz="2200" b="1">
                <a:solidFill>
                  <a:srgbClr val="1F3B73"/>
                </a:solidFill>
                <a:latin typeface="Arial"/>
              </a:rPr>
              <a:t>Rechazan cambiar de software, no facturar electrónicamente.</a:t>
            </a:r>
          </a:p>
        </p:txBody>
      </p:sp>
      <p:sp>
        <p:nvSpPr>
          <p:cNvPr id="28" name="TextBox 27"/>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Preguntas 6 y 7 del instrumento. Elaboración propia.</a:t>
            </a:r>
          </a:p>
        </p:txBody>
      </p:sp>
      <p:sp>
        <p:nvSpPr>
          <p:cNvPr id="29" name="TextBox 28"/>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12 / 41</a:t>
            </a:r>
          </a:p>
        </p:txBody>
      </p:sp>
    </p:spTree>
    <p:extLst>
      <p:ext uri="{BB962C8B-B14F-4D97-AF65-F5344CB8AC3E}">
        <p14:creationId xmlns:p14="http://schemas.microsoft.com/office/powerpoint/2010/main" val="468445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C6FEE11-CC7D-21F9-56AC-C5FE0C4833BD}"/>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Historias de Usuario</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endParaRPr dirty="0"/>
          </a:p>
        </p:txBody>
      </p:sp>
      <p:sp>
        <p:nvSpPr>
          <p:cNvPr id="24" name="TextBox 23"/>
          <p:cNvSpPr txBox="1"/>
          <p:nvPr/>
        </p:nvSpPr>
        <p:spPr>
          <a:xfrm>
            <a:off x="822960" y="1280160"/>
            <a:ext cx="5486400" cy="365760"/>
          </a:xfrm>
          <a:prstGeom prst="rect">
            <a:avLst/>
          </a:prstGeom>
          <a:noFill/>
        </p:spPr>
        <p:txBody>
          <a:bodyPr wrap="square">
            <a:spAutoFit/>
          </a:bodyPr>
          <a:lstStyle/>
          <a:p>
            <a:pPr algn="l"/>
            <a:r>
              <a:rPr sz="2000" b="1">
                <a:solidFill>
                  <a:srgbClr val="1F3B73"/>
                </a:solidFill>
                <a:latin typeface="Arial"/>
              </a:rPr>
              <a:t>Derivadas de la encuesta</a:t>
            </a:r>
          </a:p>
        </p:txBody>
      </p:sp>
      <p:sp>
        <p:nvSpPr>
          <p:cNvPr id="25" name="TextBox 24"/>
          <p:cNvSpPr txBox="1"/>
          <p:nvPr/>
        </p:nvSpPr>
        <p:spPr>
          <a:xfrm>
            <a:off x="822960" y="1920240"/>
            <a:ext cx="10424160" cy="1280160"/>
          </a:xfrm>
          <a:prstGeom prst="rect">
            <a:avLst/>
          </a:prstGeom>
          <a:noFill/>
        </p:spPr>
        <p:txBody>
          <a:bodyPr wrap="square">
            <a:spAutoFit/>
          </a:bodyPr>
          <a:lstStyle/>
          <a:p>
            <a:r>
              <a:rPr sz="1900">
                <a:solidFill>
                  <a:srgbClr val="33373D"/>
                </a:solidFill>
                <a:latin typeface="Arial"/>
              </a:rPr>
              <a:t>HU-03. Como sistema cliente, quiero enviar los datos de una venta y recibir el documento ya emitido para cumplir con la obligación sin cambiar el software con el que opero.</a:t>
            </a:r>
          </a:p>
        </p:txBody>
      </p:sp>
      <p:sp>
        <p:nvSpPr>
          <p:cNvPr id="26" name="TextBox 25"/>
          <p:cNvSpPr txBox="1"/>
          <p:nvPr/>
        </p:nvSpPr>
        <p:spPr>
          <a:xfrm>
            <a:off x="822960" y="3200400"/>
            <a:ext cx="10424160" cy="1280160"/>
          </a:xfrm>
          <a:prstGeom prst="rect">
            <a:avLst/>
          </a:prstGeom>
          <a:noFill/>
        </p:spPr>
        <p:txBody>
          <a:bodyPr wrap="square">
            <a:spAutoFit/>
          </a:bodyPr>
          <a:lstStyle/>
          <a:p>
            <a:r>
              <a:rPr sz="1900">
                <a:solidFill>
                  <a:srgbClr val="33373D"/>
                </a:solidFill>
                <a:latin typeface="Arial"/>
              </a:rPr>
              <a:t>HU-04. Como sistema cliente, quiero reenviar una emisión con la misma referencia y obtener el documento ya expedido para poder reintentar sin duplicar facturas.</a:t>
            </a:r>
          </a:p>
        </p:txBody>
      </p:sp>
      <p:sp>
        <p:nvSpPr>
          <p:cNvPr id="27" name="TextBox 26"/>
          <p:cNvSpPr txBox="1"/>
          <p:nvPr/>
        </p:nvSpPr>
        <p:spPr>
          <a:xfrm>
            <a:off x="822960" y="4480560"/>
            <a:ext cx="10424160" cy="1280160"/>
          </a:xfrm>
          <a:prstGeom prst="rect">
            <a:avLst/>
          </a:prstGeom>
          <a:noFill/>
        </p:spPr>
        <p:txBody>
          <a:bodyPr wrap="square">
            <a:spAutoFit/>
          </a:bodyPr>
          <a:lstStyle/>
          <a:p>
            <a:r>
              <a:rPr sz="1900">
                <a:solidFill>
                  <a:srgbClr val="33373D"/>
                </a:solidFill>
                <a:latin typeface="Arial"/>
              </a:rPr>
              <a:t>HU-06. Como comprador, quiero recibir el PDF y el XML en mi correo para contar con el soporte de la compra sin tener que solicitarlo.</a:t>
            </a:r>
          </a:p>
        </p:txBody>
      </p:sp>
      <p:sp>
        <p:nvSpPr>
          <p:cNvPr id="28" name="TextBox 27"/>
          <p:cNvSpPr txBox="1"/>
          <p:nvPr/>
        </p:nvSpPr>
        <p:spPr>
          <a:xfrm>
            <a:off x="822960" y="5760720"/>
            <a:ext cx="10424160" cy="548640"/>
          </a:xfrm>
          <a:prstGeom prst="rect">
            <a:avLst/>
          </a:prstGeom>
          <a:noFill/>
        </p:spPr>
        <p:txBody>
          <a:bodyPr wrap="square">
            <a:spAutoFit/>
          </a:bodyPr>
          <a:lstStyle/>
          <a:p>
            <a:pPr algn="l"/>
            <a:r>
              <a:rPr sz="1700" b="0">
                <a:solidFill>
                  <a:srgbClr val="6B7280"/>
                </a:solidFill>
                <a:latin typeface="Arial"/>
              </a:rPr>
              <a:t>La HU-04 no la pidió nadie. Salió de advertir que el sistema que integra puede perder la respuesta por una falla de red y volver a intentarlo.</a:t>
            </a:r>
          </a:p>
        </p:txBody>
      </p:sp>
      <p:sp>
        <p:nvSpPr>
          <p:cNvPr id="29" name="TextBox 28"/>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13 / 41</a:t>
            </a:r>
          </a:p>
        </p:txBody>
      </p:sp>
    </p:spTree>
    <p:extLst>
      <p:ext uri="{BB962C8B-B14F-4D97-AF65-F5344CB8AC3E}">
        <p14:creationId xmlns:p14="http://schemas.microsoft.com/office/powerpoint/2010/main" val="129043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281CAFD-4757-AFE4-44EC-53402AD81F45}"/>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rgbClr val="003366"/>
                </a:solidFill>
                <a:latin typeface="Plus Jakarta Sans ExtraBold"/>
                <a:cs typeface="Plus Jakarta Sans ExtraBold"/>
                <a:sym typeface="Plus Jakarta Sans ExtraBold"/>
              </a:rPr>
              <a:t>Requisitos Funcionales Relacionados</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endParaRPr dirty="0"/>
          </a:p>
        </p:txBody>
      </p:sp>
      <p:graphicFrame>
        <p:nvGraphicFramePr>
          <p:cNvPr id="24" name="Table 23"/>
          <p:cNvGraphicFramePr>
            <a:graphicFrameLocks noGrp="1"/>
          </p:cNvGraphicFramePr>
          <p:nvPr/>
        </p:nvGraphicFramePr>
        <p:xfrm>
          <a:off x="685800" y="1737360"/>
          <a:ext cx="10835640" cy="3108960"/>
        </p:xfrm>
        <a:graphic>
          <a:graphicData uri="http://schemas.openxmlformats.org/drawingml/2006/table">
            <a:tbl>
              <a:tblPr firstRow="1" bandRow="1">
                <a:tableStyleId>{5C22544A-7EE6-4342-B048-85BDC9FD1C3A}</a:tableStyleId>
              </a:tblPr>
              <a:tblGrid>
                <a:gridCol w="1554480"/>
                <a:gridCol w="3291840"/>
                <a:gridCol w="5989320"/>
              </a:tblGrid>
              <a:tr h="621792">
                <a:tc>
                  <a:txBody>
                    <a:bodyPr/>
                    <a:lstStyle/>
                    <a:p>
                      <a:r>
                        <a:rPr sz="1700" b="1">
                          <a:solidFill>
                            <a:srgbClr val="FFFFFF"/>
                          </a:solidFill>
                          <a:latin typeface="Arial"/>
                        </a:rPr>
                        <a:t>Código</a:t>
                      </a:r>
                    </a:p>
                  </a:txBody>
                  <a:tcPr marL="73152" marR="73152" marT="27432" marB="27432">
                    <a:solidFill>
                      <a:srgbClr val="1F3B73"/>
                    </a:solidFill>
                  </a:tcPr>
                </a:tc>
                <a:tc>
                  <a:txBody>
                    <a:bodyPr/>
                    <a:lstStyle/>
                    <a:p>
                      <a:r>
                        <a:rPr sz="1700" b="1">
                          <a:solidFill>
                            <a:srgbClr val="FFFFFF"/>
                          </a:solidFill>
                          <a:latin typeface="Arial"/>
                        </a:rPr>
                        <a:t>Requisito</a:t>
                      </a:r>
                    </a:p>
                  </a:txBody>
                  <a:tcPr marL="73152" marR="73152" marT="27432" marB="27432">
                    <a:solidFill>
                      <a:srgbClr val="1F3B73"/>
                    </a:solidFill>
                  </a:tcPr>
                </a:tc>
                <a:tc>
                  <a:txBody>
                    <a:bodyPr/>
                    <a:lstStyle/>
                    <a:p>
                      <a:r>
                        <a:rPr sz="1700" b="1">
                          <a:solidFill>
                            <a:srgbClr val="FFFFFF"/>
                          </a:solidFill>
                          <a:latin typeface="Arial"/>
                        </a:rPr>
                        <a:t>Qué resuelve</a:t>
                      </a:r>
                    </a:p>
                  </a:txBody>
                  <a:tcPr marL="73152" marR="73152" marT="27432" marB="27432">
                    <a:solidFill>
                      <a:srgbClr val="1F3B73"/>
                    </a:solidFill>
                  </a:tcPr>
                </a:tc>
              </a:tr>
              <a:tr h="621792">
                <a:tc>
                  <a:txBody>
                    <a:bodyPr/>
                    <a:lstStyle/>
                    <a:p>
                      <a:r>
                        <a:rPr sz="1700" b="0">
                          <a:solidFill>
                            <a:srgbClr val="33373D"/>
                          </a:solidFill>
                          <a:latin typeface="Arial"/>
                        </a:rPr>
                        <a:t>RF 8.5</a:t>
                      </a:r>
                    </a:p>
                  </a:txBody>
                  <a:tcPr marL="73152" marR="73152" marT="27432" marB="27432">
                    <a:solidFill>
                      <a:srgbClr val="FFFFFF"/>
                    </a:solidFill>
                  </a:tcPr>
                </a:tc>
                <a:tc>
                  <a:txBody>
                    <a:bodyPr/>
                    <a:lstStyle/>
                    <a:p>
                      <a:r>
                        <a:rPr sz="1700" b="0">
                          <a:solidFill>
                            <a:srgbClr val="33373D"/>
                          </a:solidFill>
                          <a:latin typeface="Arial"/>
                        </a:rPr>
                        <a:t>Emisión por API</a:t>
                      </a:r>
                    </a:p>
                  </a:txBody>
                  <a:tcPr marL="73152" marR="73152" marT="27432" marB="27432">
                    <a:solidFill>
                      <a:srgbClr val="FFFFFF"/>
                    </a:solidFill>
                  </a:tcPr>
                </a:tc>
                <a:tc>
                  <a:txBody>
                    <a:bodyPr/>
                    <a:lstStyle/>
                    <a:p>
                      <a:r>
                        <a:rPr sz="1700" b="0">
                          <a:solidFill>
                            <a:srgbClr val="33373D"/>
                          </a:solidFill>
                          <a:latin typeface="Arial"/>
                        </a:rPr>
                        <a:t>El sistema del cliente solicita la expedición sin cambiar su operación</a:t>
                      </a:r>
                    </a:p>
                  </a:txBody>
                  <a:tcPr marL="73152" marR="73152" marT="27432" marB="27432">
                    <a:solidFill>
                      <a:srgbClr val="FFFFFF"/>
                    </a:solidFill>
                  </a:tcPr>
                </a:tc>
              </a:tr>
              <a:tr h="621792">
                <a:tc>
                  <a:txBody>
                    <a:bodyPr/>
                    <a:lstStyle/>
                    <a:p>
                      <a:r>
                        <a:rPr sz="1700" b="0">
                          <a:solidFill>
                            <a:srgbClr val="33373D"/>
                          </a:solidFill>
                          <a:latin typeface="Arial"/>
                        </a:rPr>
                        <a:t>RF 8.6</a:t>
                      </a:r>
                    </a:p>
                  </a:txBody>
                  <a:tcPr marL="73152" marR="73152" marT="27432" marB="27432">
                    <a:solidFill>
                      <a:srgbClr val="EFF3F9"/>
                    </a:solidFill>
                  </a:tcPr>
                </a:tc>
                <a:tc>
                  <a:txBody>
                    <a:bodyPr/>
                    <a:lstStyle/>
                    <a:p>
                      <a:r>
                        <a:rPr sz="1700" b="0">
                          <a:solidFill>
                            <a:srgbClr val="33373D"/>
                          </a:solidFill>
                          <a:latin typeface="Arial"/>
                        </a:rPr>
                        <a:t>Idempotencia de la emisión</a:t>
                      </a:r>
                    </a:p>
                  </a:txBody>
                  <a:tcPr marL="73152" marR="73152" marT="27432" marB="27432">
                    <a:solidFill>
                      <a:srgbClr val="EFF3F9"/>
                    </a:solidFill>
                  </a:tcPr>
                </a:tc>
                <a:tc>
                  <a:txBody>
                    <a:bodyPr/>
                    <a:lstStyle/>
                    <a:p>
                      <a:r>
                        <a:rPr sz="1700" b="0">
                          <a:solidFill>
                            <a:srgbClr val="33373D"/>
                          </a:solidFill>
                          <a:latin typeface="Arial"/>
                        </a:rPr>
                        <a:t>Reenviar la misma referencia devuelve el documento, no crea otro</a:t>
                      </a:r>
                    </a:p>
                  </a:txBody>
                  <a:tcPr marL="73152" marR="73152" marT="27432" marB="27432">
                    <a:solidFill>
                      <a:srgbClr val="EFF3F9"/>
                    </a:solidFill>
                  </a:tcPr>
                </a:tc>
              </a:tr>
              <a:tr h="621792">
                <a:tc>
                  <a:txBody>
                    <a:bodyPr/>
                    <a:lstStyle/>
                    <a:p>
                      <a:r>
                        <a:rPr sz="1700" b="0">
                          <a:solidFill>
                            <a:srgbClr val="33373D"/>
                          </a:solidFill>
                          <a:latin typeface="Arial"/>
                        </a:rPr>
                        <a:t>RF 8.10</a:t>
                      </a:r>
                    </a:p>
                  </a:txBody>
                  <a:tcPr marL="73152" marR="73152" marT="27432" marB="27432">
                    <a:solidFill>
                      <a:srgbClr val="FFFFFF"/>
                    </a:solidFill>
                  </a:tcPr>
                </a:tc>
                <a:tc>
                  <a:txBody>
                    <a:bodyPr/>
                    <a:lstStyle/>
                    <a:p>
                      <a:r>
                        <a:rPr sz="1700" b="0">
                          <a:solidFill>
                            <a:srgbClr val="33373D"/>
                          </a:solidFill>
                          <a:latin typeface="Arial"/>
                        </a:rPr>
                        <a:t>Documentación automática</a:t>
                      </a:r>
                    </a:p>
                  </a:txBody>
                  <a:tcPr marL="73152" marR="73152" marT="27432" marB="27432">
                    <a:solidFill>
                      <a:srgbClr val="FFFFFF"/>
                    </a:solidFill>
                  </a:tcPr>
                </a:tc>
                <a:tc>
                  <a:txBody>
                    <a:bodyPr/>
                    <a:lstStyle/>
                    <a:p>
                      <a:r>
                        <a:rPr sz="1700" b="0">
                          <a:solidFill>
                            <a:srgbClr val="33373D"/>
                          </a:solidFill>
                          <a:latin typeface="Arial"/>
                        </a:rPr>
                        <a:t>El contrato se publica desde el código, para que integrarse sea barato</a:t>
                      </a:r>
                    </a:p>
                  </a:txBody>
                  <a:tcPr marL="73152" marR="73152" marT="27432" marB="27432">
                    <a:solidFill>
                      <a:srgbClr val="FFFFFF"/>
                    </a:solidFill>
                  </a:tcPr>
                </a:tc>
              </a:tr>
              <a:tr h="621792">
                <a:tc>
                  <a:txBody>
                    <a:bodyPr/>
                    <a:lstStyle/>
                    <a:p>
                      <a:r>
                        <a:rPr sz="1700" b="0">
                          <a:solidFill>
                            <a:srgbClr val="33373D"/>
                          </a:solidFill>
                          <a:latin typeface="Arial"/>
                        </a:rPr>
                        <a:t>RF 2.10</a:t>
                      </a:r>
                    </a:p>
                  </a:txBody>
                  <a:tcPr marL="73152" marR="73152" marT="27432" marB="27432">
                    <a:solidFill>
                      <a:srgbClr val="EFF3F9"/>
                    </a:solidFill>
                  </a:tcPr>
                </a:tc>
                <a:tc>
                  <a:txBody>
                    <a:bodyPr/>
                    <a:lstStyle/>
                    <a:p>
                      <a:r>
                        <a:rPr sz="1700" b="0">
                          <a:solidFill>
                            <a:srgbClr val="33373D"/>
                          </a:solidFill>
                          <a:latin typeface="Arial"/>
                        </a:rPr>
                        <a:t>Envío del documento al comprador</a:t>
                      </a:r>
                    </a:p>
                  </a:txBody>
                  <a:tcPr marL="73152" marR="73152" marT="27432" marB="27432">
                    <a:solidFill>
                      <a:srgbClr val="EFF3F9"/>
                    </a:solidFill>
                  </a:tcPr>
                </a:tc>
                <a:tc>
                  <a:txBody>
                    <a:bodyPr/>
                    <a:lstStyle/>
                    <a:p>
                      <a:r>
                        <a:rPr sz="1700" b="0">
                          <a:solidFill>
                            <a:srgbClr val="33373D"/>
                          </a:solidFill>
                          <a:latin typeface="Arial"/>
                        </a:rPr>
                        <a:t>El PDF y el XML llegan al correo sin demorar la respuesta</a:t>
                      </a:r>
                    </a:p>
                  </a:txBody>
                  <a:tcPr marL="73152" marR="73152" marT="27432" marB="27432">
                    <a:solidFill>
                      <a:srgbClr val="EFF3F9"/>
                    </a:solidFill>
                  </a:tcPr>
                </a:tc>
              </a:tr>
            </a:tbl>
          </a:graphicData>
        </a:graphic>
      </p:graphicFrame>
      <p:sp>
        <p:nvSpPr>
          <p:cNvPr id="25" name="TextBox 24"/>
          <p:cNvSpPr txBox="1"/>
          <p:nvPr/>
        </p:nvSpPr>
        <p:spPr>
          <a:xfrm>
            <a:off x="685800" y="5120640"/>
            <a:ext cx="10835640" cy="548640"/>
          </a:xfrm>
          <a:prstGeom prst="rect">
            <a:avLst/>
          </a:prstGeom>
          <a:noFill/>
        </p:spPr>
        <p:txBody>
          <a:bodyPr wrap="square">
            <a:spAutoFit/>
          </a:bodyPr>
          <a:lstStyle/>
          <a:p>
            <a:pPr algn="l"/>
            <a:r>
              <a:rPr sz="1800" b="0">
                <a:solidFill>
                  <a:srgbClr val="33373D"/>
                </a:solidFill>
                <a:latin typeface="Arial"/>
              </a:rPr>
              <a:t>Los cuatro pertenecen a los módulos de integración y de documentos electrónicos, que son los que sostienen la propuesta de valor.</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14 / 41</a:t>
            </a:r>
          </a:p>
        </p:txBody>
      </p:sp>
    </p:spTree>
    <p:extLst>
      <p:ext uri="{BB962C8B-B14F-4D97-AF65-F5344CB8AC3E}">
        <p14:creationId xmlns:p14="http://schemas.microsoft.com/office/powerpoint/2010/main" val="34692149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DB2F244E-21C6-F9EE-22C9-5390FD1545E2}"/>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Herramientas para la Captura de Requisitos</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endParaRPr dirty="0"/>
          </a:p>
        </p:txBody>
      </p:sp>
      <p:sp>
        <p:nvSpPr>
          <p:cNvPr id="24" name="TextBox 23"/>
          <p:cNvSpPr txBox="1"/>
          <p:nvPr/>
        </p:nvSpPr>
        <p:spPr>
          <a:xfrm>
            <a:off x="822960" y="1280160"/>
            <a:ext cx="4572000" cy="411480"/>
          </a:xfrm>
          <a:prstGeom prst="rect">
            <a:avLst/>
          </a:prstGeom>
          <a:noFill/>
        </p:spPr>
        <p:txBody>
          <a:bodyPr wrap="square">
            <a:spAutoFit/>
          </a:bodyPr>
          <a:lstStyle/>
          <a:p>
            <a:pPr algn="l"/>
            <a:r>
              <a:rPr sz="2200" b="1">
                <a:solidFill>
                  <a:srgbClr val="1F3B73"/>
                </a:solidFill>
                <a:latin typeface="Arial"/>
              </a:rPr>
              <a:t>Observación directa</a:t>
            </a:r>
          </a:p>
        </p:txBody>
      </p:sp>
      <p:sp>
        <p:nvSpPr>
          <p:cNvPr id="25" name="TextBox 24"/>
          <p:cNvSpPr txBox="1"/>
          <p:nvPr/>
        </p:nvSpPr>
        <p:spPr>
          <a:xfrm>
            <a:off x="822960" y="1783080"/>
            <a:ext cx="10515600" cy="731520"/>
          </a:xfrm>
          <a:prstGeom prst="rect">
            <a:avLst/>
          </a:prstGeom>
          <a:noFill/>
        </p:spPr>
        <p:txBody>
          <a:bodyPr wrap="square">
            <a:spAutoFit/>
          </a:bodyPr>
          <a:lstStyle/>
          <a:p>
            <a:pPr algn="l"/>
            <a:r>
              <a:rPr sz="1800" b="0">
                <a:solidFill>
                  <a:srgbClr val="33373D"/>
                </a:solidFill>
                <a:latin typeface="Arial"/>
              </a:rPr>
              <a:t>Se presenció el registro de ventas en un punto de venta en operación que no emitía facturación electrónica.</a:t>
            </a:r>
          </a:p>
        </p:txBody>
      </p:sp>
      <p:sp>
        <p:nvSpPr>
          <p:cNvPr id="26" name="TextBox 25"/>
          <p:cNvSpPr txBox="1"/>
          <p:nvPr/>
        </p:nvSpPr>
        <p:spPr>
          <a:xfrm>
            <a:off x="822960" y="2697480"/>
            <a:ext cx="10424160" cy="914400"/>
          </a:xfrm>
          <a:prstGeom prst="rect">
            <a:avLst/>
          </a:prstGeom>
          <a:noFill/>
        </p:spPr>
        <p:txBody>
          <a:bodyPr wrap="square">
            <a:spAutoFit/>
          </a:bodyPr>
          <a:lstStyle/>
          <a:p>
            <a:r>
              <a:rPr sz="1800">
                <a:solidFill>
                  <a:srgbClr val="33373D"/>
                </a:solidFill>
                <a:latin typeface="Arial"/>
              </a:rPr>
              <a:t>El punto de venta concentra información que el negocio no está dispuesto a migrar, como su catálogo, sus precios y sus clientes frecuentes.</a:t>
            </a:r>
          </a:p>
        </p:txBody>
      </p:sp>
      <p:sp>
        <p:nvSpPr>
          <p:cNvPr id="27" name="TextBox 26"/>
          <p:cNvSpPr txBox="1"/>
          <p:nvPr/>
        </p:nvSpPr>
        <p:spPr>
          <a:xfrm>
            <a:off x="822960" y="3611880"/>
            <a:ext cx="10424160" cy="914400"/>
          </a:xfrm>
          <a:prstGeom prst="rect">
            <a:avLst/>
          </a:prstGeom>
          <a:noFill/>
        </p:spPr>
        <p:txBody>
          <a:bodyPr wrap="square">
            <a:spAutoFit/>
          </a:bodyPr>
          <a:lstStyle/>
          <a:p>
            <a:r>
              <a:rPr sz="1800">
                <a:solidFill>
                  <a:srgbClr val="33373D"/>
                </a:solidFill>
                <a:latin typeface="Arial"/>
              </a:rPr>
              <a:t>El registro de una venta toma pocos segundos, de modo que cualquier solución que agregue pasos será rechazada por quien la usa.</a:t>
            </a:r>
          </a:p>
        </p:txBody>
      </p:sp>
      <p:sp>
        <p:nvSpPr>
          <p:cNvPr id="28" name="TextBox 27"/>
          <p:cNvSpPr txBox="1"/>
          <p:nvPr/>
        </p:nvSpPr>
        <p:spPr>
          <a:xfrm>
            <a:off x="822960" y="4526280"/>
            <a:ext cx="10424160" cy="914400"/>
          </a:xfrm>
          <a:prstGeom prst="rect">
            <a:avLst/>
          </a:prstGeom>
          <a:noFill/>
        </p:spPr>
        <p:txBody>
          <a:bodyPr wrap="square">
            <a:spAutoFit/>
          </a:bodyPr>
          <a:lstStyle/>
          <a:p>
            <a:r>
              <a:rPr sz="1800">
                <a:solidFill>
                  <a:srgbClr val="33373D"/>
                </a:solidFill>
                <a:latin typeface="Arial"/>
              </a:rPr>
              <a:t>El comprobante que hoy se entrega no tiene validez fiscal, pero el cliente ya lo espera.</a:t>
            </a:r>
          </a:p>
        </p:txBody>
      </p:sp>
      <p:sp>
        <p:nvSpPr>
          <p:cNvPr id="29" name="TextBox 28"/>
          <p:cNvSpPr txBox="1"/>
          <p:nvPr/>
        </p:nvSpPr>
        <p:spPr>
          <a:xfrm>
            <a:off x="822960" y="5440680"/>
            <a:ext cx="10424160" cy="914400"/>
          </a:xfrm>
          <a:prstGeom prst="rect">
            <a:avLst/>
          </a:prstGeom>
          <a:noFill/>
        </p:spPr>
        <p:txBody>
          <a:bodyPr wrap="square">
            <a:spAutoFit/>
          </a:bodyPr>
          <a:lstStyle/>
          <a:p>
            <a:r>
              <a:rPr sz="1800">
                <a:solidFill>
                  <a:srgbClr val="33373D"/>
                </a:solidFill>
                <a:latin typeface="Arial"/>
              </a:rPr>
              <a:t>El negocio no cuenta con personal técnico permanente, así que la integración debe poder hacerla quien mantiene el punto de venta.</a:t>
            </a:r>
          </a:p>
        </p:txBody>
      </p:sp>
      <p:sp>
        <p:nvSpPr>
          <p:cNvPr id="30" name="TextBox 29"/>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15 / 41</a:t>
            </a:r>
          </a:p>
        </p:txBody>
      </p:sp>
    </p:spTree>
    <p:extLst>
      <p:ext uri="{BB962C8B-B14F-4D97-AF65-F5344CB8AC3E}">
        <p14:creationId xmlns:p14="http://schemas.microsoft.com/office/powerpoint/2010/main" val="1639953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5F7C39AC-4263-3B0A-D839-A547B8E556CB}"/>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Historias de Usuario</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endParaRPr dirty="0"/>
          </a:p>
        </p:txBody>
      </p:sp>
      <p:sp>
        <p:nvSpPr>
          <p:cNvPr id="24" name="TextBox 23"/>
          <p:cNvSpPr txBox="1"/>
          <p:nvPr/>
        </p:nvSpPr>
        <p:spPr>
          <a:xfrm>
            <a:off x="822960" y="1280160"/>
            <a:ext cx="6400800" cy="365760"/>
          </a:xfrm>
          <a:prstGeom prst="rect">
            <a:avLst/>
          </a:prstGeom>
          <a:noFill/>
        </p:spPr>
        <p:txBody>
          <a:bodyPr wrap="square">
            <a:spAutoFit/>
          </a:bodyPr>
          <a:lstStyle/>
          <a:p>
            <a:pPr algn="l"/>
            <a:r>
              <a:rPr sz="2000" b="1">
                <a:solidFill>
                  <a:srgbClr val="1F3B73"/>
                </a:solidFill>
                <a:latin typeface="Arial"/>
              </a:rPr>
              <a:t>Derivadas de la observación directa</a:t>
            </a:r>
          </a:p>
        </p:txBody>
      </p:sp>
      <p:sp>
        <p:nvSpPr>
          <p:cNvPr id="25" name="TextBox 24"/>
          <p:cNvSpPr txBox="1"/>
          <p:nvPr/>
        </p:nvSpPr>
        <p:spPr>
          <a:xfrm>
            <a:off x="822960" y="1920240"/>
            <a:ext cx="10424160" cy="1280160"/>
          </a:xfrm>
          <a:prstGeom prst="rect">
            <a:avLst/>
          </a:prstGeom>
          <a:noFill/>
        </p:spPr>
        <p:txBody>
          <a:bodyPr wrap="square">
            <a:spAutoFit/>
          </a:bodyPr>
          <a:lstStyle/>
          <a:p>
            <a:r>
              <a:rPr sz="1900">
                <a:solidFill>
                  <a:srgbClr val="33373D"/>
                </a:solidFill>
                <a:latin typeface="Arial"/>
              </a:rPr>
              <a:t>HU-01. Como administrador, quiero registrar una empresa cliente y generar su llave de acceso para que su sistema pueda empezar a emitir documentos electrónicos.</a:t>
            </a:r>
          </a:p>
        </p:txBody>
      </p:sp>
      <p:sp>
        <p:nvSpPr>
          <p:cNvPr id="26" name="TextBox 25"/>
          <p:cNvSpPr txBox="1"/>
          <p:nvPr/>
        </p:nvSpPr>
        <p:spPr>
          <a:xfrm>
            <a:off x="822960" y="3200400"/>
            <a:ext cx="10424160" cy="1280160"/>
          </a:xfrm>
          <a:prstGeom prst="rect">
            <a:avLst/>
          </a:prstGeom>
          <a:noFill/>
        </p:spPr>
        <p:txBody>
          <a:bodyPr wrap="square">
            <a:spAutoFit/>
          </a:bodyPr>
          <a:lstStyle/>
          <a:p>
            <a:r>
              <a:rPr sz="1900">
                <a:solidFill>
                  <a:srgbClr val="33373D"/>
                </a:solidFill>
                <a:latin typeface="Arial"/>
              </a:rPr>
              <a:t>HU-02. Como administrador, quiero rotar la llave de un cliente para revocar una credencial comprometida sin interrumpir el servicio.</a:t>
            </a:r>
          </a:p>
        </p:txBody>
      </p:sp>
      <p:sp>
        <p:nvSpPr>
          <p:cNvPr id="27" name="TextBox 26"/>
          <p:cNvSpPr txBox="1"/>
          <p:nvPr/>
        </p:nvSpPr>
        <p:spPr>
          <a:xfrm>
            <a:off x="822960" y="4480560"/>
            <a:ext cx="10424160" cy="1280160"/>
          </a:xfrm>
          <a:prstGeom prst="rect">
            <a:avLst/>
          </a:prstGeom>
          <a:noFill/>
        </p:spPr>
        <p:txBody>
          <a:bodyPr wrap="square">
            <a:spAutoFit/>
          </a:bodyPr>
          <a:lstStyle/>
          <a:p>
            <a:r>
              <a:rPr sz="1900">
                <a:solidFill>
                  <a:srgbClr val="33373D"/>
                </a:solidFill>
                <a:latin typeface="Arial"/>
              </a:rPr>
              <a:t>HU-11. Como administrador, quiero consultar el tablero de control filtrado por periodo para evaluar el comportamiento del servicio y del recaudo.</a:t>
            </a:r>
          </a:p>
        </p:txBody>
      </p:sp>
      <p:sp>
        <p:nvSpPr>
          <p:cNvPr id="28" name="TextBox 27"/>
          <p:cNvSpPr txBox="1"/>
          <p:nvPr/>
        </p:nvSpPr>
        <p:spPr>
          <a:xfrm>
            <a:off x="822960" y="5760720"/>
            <a:ext cx="10424160" cy="548640"/>
          </a:xfrm>
          <a:prstGeom prst="rect">
            <a:avLst/>
          </a:prstGeom>
          <a:noFill/>
        </p:spPr>
        <p:txBody>
          <a:bodyPr wrap="square">
            <a:spAutoFit/>
          </a:bodyPr>
          <a:lstStyle/>
          <a:p>
            <a:pPr algn="l"/>
            <a:r>
              <a:rPr sz="1700" b="0">
                <a:solidFill>
                  <a:srgbClr val="6B7280"/>
                </a:solidFill>
                <a:latin typeface="Arial"/>
              </a:rPr>
              <a:t>Que la integración deba ser sencilla no es una preferencia de diseño. Es la condición para que un negocio sin personal técnico pueda adoptarla.</a:t>
            </a:r>
          </a:p>
        </p:txBody>
      </p:sp>
      <p:sp>
        <p:nvSpPr>
          <p:cNvPr id="29" name="TextBox 28"/>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16 / 41</a:t>
            </a:r>
          </a:p>
        </p:txBody>
      </p:sp>
    </p:spTree>
    <p:extLst>
      <p:ext uri="{BB962C8B-B14F-4D97-AF65-F5344CB8AC3E}">
        <p14:creationId xmlns:p14="http://schemas.microsoft.com/office/powerpoint/2010/main" val="2338235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60D892A8-E490-5F23-2D3C-7172F7A47F30}"/>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rgbClr val="003366"/>
                </a:solidFill>
                <a:latin typeface="Plus Jakarta Sans ExtraBold"/>
                <a:cs typeface="Plus Jakarta Sans ExtraBold"/>
                <a:sym typeface="Plus Jakarta Sans ExtraBold"/>
              </a:rPr>
              <a:t>Requisitos Funcionales Relacionados</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endParaRPr dirty="0"/>
          </a:p>
        </p:txBody>
      </p:sp>
      <p:graphicFrame>
        <p:nvGraphicFramePr>
          <p:cNvPr id="24" name="Table 23"/>
          <p:cNvGraphicFramePr>
            <a:graphicFrameLocks noGrp="1"/>
          </p:cNvGraphicFramePr>
          <p:nvPr/>
        </p:nvGraphicFramePr>
        <p:xfrm>
          <a:off x="685800" y="1737360"/>
          <a:ext cx="10835640" cy="3108960"/>
        </p:xfrm>
        <a:graphic>
          <a:graphicData uri="http://schemas.openxmlformats.org/drawingml/2006/table">
            <a:tbl>
              <a:tblPr firstRow="1" bandRow="1">
                <a:tableStyleId>{5C22544A-7EE6-4342-B048-85BDC9FD1C3A}</a:tableStyleId>
              </a:tblPr>
              <a:tblGrid>
                <a:gridCol w="1554480"/>
                <a:gridCol w="3566160"/>
                <a:gridCol w="5715000"/>
              </a:tblGrid>
              <a:tr h="621792">
                <a:tc>
                  <a:txBody>
                    <a:bodyPr/>
                    <a:lstStyle/>
                    <a:p>
                      <a:r>
                        <a:rPr sz="1700" b="1">
                          <a:solidFill>
                            <a:srgbClr val="FFFFFF"/>
                          </a:solidFill>
                          <a:latin typeface="Arial"/>
                        </a:rPr>
                        <a:t>Código</a:t>
                      </a:r>
                    </a:p>
                  </a:txBody>
                  <a:tcPr marL="73152" marR="73152" marT="27432" marB="27432">
                    <a:solidFill>
                      <a:srgbClr val="1F3B73"/>
                    </a:solidFill>
                  </a:tcPr>
                </a:tc>
                <a:tc>
                  <a:txBody>
                    <a:bodyPr/>
                    <a:lstStyle/>
                    <a:p>
                      <a:r>
                        <a:rPr sz="1700" b="1">
                          <a:solidFill>
                            <a:srgbClr val="FFFFFF"/>
                          </a:solidFill>
                          <a:latin typeface="Arial"/>
                        </a:rPr>
                        <a:t>Requisito</a:t>
                      </a:r>
                    </a:p>
                  </a:txBody>
                  <a:tcPr marL="73152" marR="73152" marT="27432" marB="27432">
                    <a:solidFill>
                      <a:srgbClr val="1F3B73"/>
                    </a:solidFill>
                  </a:tcPr>
                </a:tc>
                <a:tc>
                  <a:txBody>
                    <a:bodyPr/>
                    <a:lstStyle/>
                    <a:p>
                      <a:r>
                        <a:rPr sz="1700" b="1">
                          <a:solidFill>
                            <a:srgbClr val="FFFFFF"/>
                          </a:solidFill>
                          <a:latin typeface="Arial"/>
                        </a:rPr>
                        <a:t>Qué resuelve</a:t>
                      </a:r>
                    </a:p>
                  </a:txBody>
                  <a:tcPr marL="73152" marR="73152" marT="27432" marB="27432">
                    <a:solidFill>
                      <a:srgbClr val="1F3B73"/>
                    </a:solidFill>
                  </a:tcPr>
                </a:tc>
              </a:tr>
              <a:tr h="621792">
                <a:tc>
                  <a:txBody>
                    <a:bodyPr/>
                    <a:lstStyle/>
                    <a:p>
                      <a:r>
                        <a:rPr sz="1700" b="0">
                          <a:solidFill>
                            <a:srgbClr val="33373D"/>
                          </a:solidFill>
                          <a:latin typeface="Arial"/>
                        </a:rPr>
                        <a:t>RF 1.1</a:t>
                      </a:r>
                    </a:p>
                  </a:txBody>
                  <a:tcPr marL="73152" marR="73152" marT="27432" marB="27432">
                    <a:solidFill>
                      <a:srgbClr val="FFFFFF"/>
                    </a:solidFill>
                  </a:tcPr>
                </a:tc>
                <a:tc>
                  <a:txBody>
                    <a:bodyPr/>
                    <a:lstStyle/>
                    <a:p>
                      <a:r>
                        <a:rPr sz="1700" b="0">
                          <a:solidFill>
                            <a:srgbClr val="33373D"/>
                          </a:solidFill>
                          <a:latin typeface="Arial"/>
                        </a:rPr>
                        <a:t>Registro de cliente API</a:t>
                      </a:r>
                    </a:p>
                  </a:txBody>
                  <a:tcPr marL="73152" marR="73152" marT="27432" marB="27432">
                    <a:solidFill>
                      <a:srgbClr val="FFFFFF"/>
                    </a:solidFill>
                  </a:tcPr>
                </a:tc>
                <a:tc>
                  <a:txBody>
                    <a:bodyPr/>
                    <a:lstStyle/>
                    <a:p>
                      <a:r>
                        <a:rPr sz="1700" b="0">
                          <a:solidFill>
                            <a:srgbClr val="33373D"/>
                          </a:solidFill>
                          <a:latin typeface="Arial"/>
                        </a:rPr>
                        <a:t>Da de alta la empresa con su plan y su empresa emisora</a:t>
                      </a:r>
                    </a:p>
                  </a:txBody>
                  <a:tcPr marL="73152" marR="73152" marT="27432" marB="27432">
                    <a:solidFill>
                      <a:srgbClr val="FFFFFF"/>
                    </a:solidFill>
                  </a:tcPr>
                </a:tc>
              </a:tr>
              <a:tr h="621792">
                <a:tc>
                  <a:txBody>
                    <a:bodyPr/>
                    <a:lstStyle/>
                    <a:p>
                      <a:r>
                        <a:rPr sz="1700" b="0">
                          <a:solidFill>
                            <a:srgbClr val="33373D"/>
                          </a:solidFill>
                          <a:latin typeface="Arial"/>
                        </a:rPr>
                        <a:t>RF 1.2</a:t>
                      </a:r>
                    </a:p>
                  </a:txBody>
                  <a:tcPr marL="73152" marR="73152" marT="27432" marB="27432">
                    <a:solidFill>
                      <a:srgbClr val="EFF3F9"/>
                    </a:solidFill>
                  </a:tcPr>
                </a:tc>
                <a:tc>
                  <a:txBody>
                    <a:bodyPr/>
                    <a:lstStyle/>
                    <a:p>
                      <a:r>
                        <a:rPr sz="1700" b="0">
                          <a:solidFill>
                            <a:srgbClr val="33373D"/>
                          </a:solidFill>
                          <a:latin typeface="Arial"/>
                        </a:rPr>
                        <a:t>Generación de la llave de acceso</a:t>
                      </a:r>
                    </a:p>
                  </a:txBody>
                  <a:tcPr marL="73152" marR="73152" marT="27432" marB="27432">
                    <a:solidFill>
                      <a:srgbClr val="EFF3F9"/>
                    </a:solidFill>
                  </a:tcPr>
                </a:tc>
                <a:tc>
                  <a:txBody>
                    <a:bodyPr/>
                    <a:lstStyle/>
                    <a:p>
                      <a:r>
                        <a:rPr sz="1700" b="0">
                          <a:solidFill>
                            <a:srgbClr val="33373D"/>
                          </a:solidFill>
                          <a:latin typeface="Arial"/>
                        </a:rPr>
                        <a:t>Produce la credencial con que el sistema del cliente se identifica</a:t>
                      </a:r>
                    </a:p>
                  </a:txBody>
                  <a:tcPr marL="73152" marR="73152" marT="27432" marB="27432">
                    <a:solidFill>
                      <a:srgbClr val="EFF3F9"/>
                    </a:solidFill>
                  </a:tcPr>
                </a:tc>
              </a:tr>
              <a:tr h="621792">
                <a:tc>
                  <a:txBody>
                    <a:bodyPr/>
                    <a:lstStyle/>
                    <a:p>
                      <a:r>
                        <a:rPr sz="1700" b="0">
                          <a:solidFill>
                            <a:srgbClr val="33373D"/>
                          </a:solidFill>
                          <a:latin typeface="Arial"/>
                        </a:rPr>
                        <a:t>RF 1.8</a:t>
                      </a:r>
                    </a:p>
                  </a:txBody>
                  <a:tcPr marL="73152" marR="73152" marT="27432" marB="27432">
                    <a:solidFill>
                      <a:srgbClr val="FFFFFF"/>
                    </a:solidFill>
                  </a:tcPr>
                </a:tc>
                <a:tc>
                  <a:txBody>
                    <a:bodyPr/>
                    <a:lstStyle/>
                    <a:p>
                      <a:r>
                        <a:rPr sz="1700" b="0">
                          <a:solidFill>
                            <a:srgbClr val="33373D"/>
                          </a:solidFill>
                          <a:latin typeface="Arial"/>
                        </a:rPr>
                        <a:t>Rotación de la llave</a:t>
                      </a:r>
                    </a:p>
                  </a:txBody>
                  <a:tcPr marL="73152" marR="73152" marT="27432" marB="27432">
                    <a:solidFill>
                      <a:srgbClr val="FFFFFF"/>
                    </a:solidFill>
                  </a:tcPr>
                </a:tc>
                <a:tc>
                  <a:txBody>
                    <a:bodyPr/>
                    <a:lstStyle/>
                    <a:p>
                      <a:r>
                        <a:rPr sz="1700" b="0">
                          <a:solidFill>
                            <a:srgbClr val="33373D"/>
                          </a:solidFill>
                          <a:latin typeface="Arial"/>
                        </a:rPr>
                        <a:t>Reemplaza una credencial comprometida sin interrumpir el servicio</a:t>
                      </a:r>
                    </a:p>
                  </a:txBody>
                  <a:tcPr marL="73152" marR="73152" marT="27432" marB="27432">
                    <a:solidFill>
                      <a:srgbClr val="FFFFFF"/>
                    </a:solidFill>
                  </a:tcPr>
                </a:tc>
              </a:tr>
              <a:tr h="621792">
                <a:tc>
                  <a:txBody>
                    <a:bodyPr/>
                    <a:lstStyle/>
                    <a:p>
                      <a:r>
                        <a:rPr sz="1700" b="0">
                          <a:solidFill>
                            <a:srgbClr val="33373D"/>
                          </a:solidFill>
                          <a:latin typeface="Arial"/>
                        </a:rPr>
                        <a:t>RF 5.1</a:t>
                      </a:r>
                    </a:p>
                  </a:txBody>
                  <a:tcPr marL="73152" marR="73152" marT="27432" marB="27432">
                    <a:solidFill>
                      <a:srgbClr val="EFF3F9"/>
                    </a:solidFill>
                  </a:tcPr>
                </a:tc>
                <a:tc>
                  <a:txBody>
                    <a:bodyPr/>
                    <a:lstStyle/>
                    <a:p>
                      <a:r>
                        <a:rPr sz="1700" b="0">
                          <a:solidFill>
                            <a:srgbClr val="33373D"/>
                          </a:solidFill>
                          <a:latin typeface="Arial"/>
                        </a:rPr>
                        <a:t>Tablero del servicio</a:t>
                      </a:r>
                    </a:p>
                  </a:txBody>
                  <a:tcPr marL="73152" marR="73152" marT="27432" marB="27432">
                    <a:solidFill>
                      <a:srgbClr val="EFF3F9"/>
                    </a:solidFill>
                  </a:tcPr>
                </a:tc>
                <a:tc>
                  <a:txBody>
                    <a:bodyPr/>
                    <a:lstStyle/>
                    <a:p>
                      <a:r>
                        <a:rPr sz="1700" b="0">
                          <a:solidFill>
                            <a:srgbClr val="33373D"/>
                          </a:solidFill>
                          <a:latin typeface="Arial"/>
                        </a:rPr>
                        <a:t>Muestra los documentos emitidos, la aceptación y el ingreso recurrente</a:t>
                      </a:r>
                    </a:p>
                  </a:txBody>
                  <a:tcPr marL="73152" marR="73152" marT="27432" marB="27432">
                    <a:solidFill>
                      <a:srgbClr val="EFF3F9"/>
                    </a:solidFill>
                  </a:tcPr>
                </a:tc>
              </a:tr>
            </a:tbl>
          </a:graphicData>
        </a:graphic>
      </p:graphicFrame>
      <p:sp>
        <p:nvSpPr>
          <p:cNvPr id="25" name="TextBox 24"/>
          <p:cNvSpPr txBox="1"/>
          <p:nvPr/>
        </p:nvSpPr>
        <p:spPr>
          <a:xfrm>
            <a:off x="685800" y="5120640"/>
            <a:ext cx="10835640" cy="548640"/>
          </a:xfrm>
          <a:prstGeom prst="rect">
            <a:avLst/>
          </a:prstGeom>
          <a:noFill/>
        </p:spPr>
        <p:txBody>
          <a:bodyPr wrap="square">
            <a:spAutoFit/>
          </a:bodyPr>
          <a:lstStyle/>
          <a:p>
            <a:pPr algn="l"/>
            <a:r>
              <a:rPr sz="1800" b="0">
                <a:solidFill>
                  <a:srgbClr val="33373D"/>
                </a:solidFill>
                <a:latin typeface="Arial"/>
              </a:rPr>
              <a:t>La observación no produjo funciones nuevas sino condiciones sobre las que ya existían, y esa es la diferencia entre las dos técnicas.</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17 / 41</a:t>
            </a:r>
          </a:p>
        </p:txBody>
      </p:sp>
    </p:spTree>
    <p:extLst>
      <p:ext uri="{BB962C8B-B14F-4D97-AF65-F5344CB8AC3E}">
        <p14:creationId xmlns:p14="http://schemas.microsoft.com/office/powerpoint/2010/main" val="40458520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48A10F1-A0BD-565D-75D1-0D39B3DA3459}"/>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rgbClr val="003366"/>
                </a:solidFill>
                <a:latin typeface="Plus Jakarta Sans ExtraBold"/>
                <a:cs typeface="Plus Jakarta Sans ExtraBold"/>
                <a:sym typeface="Plus Jakarta Sans ExtraBold"/>
              </a:rPr>
              <a:t>Matriz de Stakeholders</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endParaRPr dirty="0"/>
          </a:p>
        </p:txBody>
      </p:sp>
      <p:pic>
        <p:nvPicPr>
          <p:cNvPr id="24" name="Picture 23" descr="FIG-stakeholders.png"/>
          <p:cNvPicPr>
            <a:picLocks noChangeAspect="1"/>
          </p:cNvPicPr>
          <p:nvPr/>
        </p:nvPicPr>
        <p:blipFill>
          <a:blip r:embed="rId6"/>
          <a:stretch>
            <a:fillRect/>
          </a:stretch>
        </p:blipFill>
        <p:spPr>
          <a:xfrm>
            <a:off x="3019316" y="1325880"/>
            <a:ext cx="6122886" cy="4069080"/>
          </a:xfrm>
          <a:prstGeom prst="rect">
            <a:avLst/>
          </a:prstGeom>
        </p:spPr>
      </p:pic>
      <p:sp>
        <p:nvSpPr>
          <p:cNvPr id="25" name="TextBox 24"/>
          <p:cNvSpPr txBox="1"/>
          <p:nvPr/>
        </p:nvSpPr>
        <p:spPr>
          <a:xfrm>
            <a:off x="822960" y="5577840"/>
            <a:ext cx="10515600" cy="640080"/>
          </a:xfrm>
          <a:prstGeom prst="rect">
            <a:avLst/>
          </a:prstGeom>
          <a:noFill/>
        </p:spPr>
        <p:txBody>
          <a:bodyPr wrap="square">
            <a:spAutoFit/>
          </a:bodyPr>
          <a:lstStyle/>
          <a:p>
            <a:pPr algn="l"/>
            <a:r>
              <a:rPr sz="1800" b="0">
                <a:solidFill>
                  <a:srgbClr val="33373D"/>
                </a:solidFill>
                <a:latin typeface="Arial"/>
              </a:rPr>
              <a:t>La DIAN quedó en alta influencia y bajo interés, porque no participa en el proyecto pero fija las condiciones que todo documento debe cumplir.</a:t>
            </a:r>
          </a:p>
        </p:txBody>
      </p:sp>
      <p:sp>
        <p:nvSpPr>
          <p:cNvPr id="26" name="TextBox 25"/>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Elaboración propia.</a:t>
            </a:r>
          </a:p>
        </p:txBody>
      </p:sp>
      <p:sp>
        <p:nvSpPr>
          <p:cNvPr id="27" name="TextBox 26"/>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18 / 41</a:t>
            </a:r>
          </a:p>
        </p:txBody>
      </p:sp>
    </p:spTree>
    <p:extLst>
      <p:ext uri="{BB962C8B-B14F-4D97-AF65-F5344CB8AC3E}">
        <p14:creationId xmlns:p14="http://schemas.microsoft.com/office/powerpoint/2010/main" val="23386821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E1F0B7E5-E4D2-3B9D-C202-1E966766BDDB}"/>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rgbClr val="003366"/>
                </a:solidFill>
                <a:latin typeface="Plus Jakarta Sans ExtraBold"/>
                <a:cs typeface="Plus Jakarta Sans ExtraBold"/>
                <a:sym typeface="Plus Jakarta Sans ExtraBold"/>
              </a:rPr>
              <a:t>Técnica de Priorización de Requisitos</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r>
              <a:rPr lang="en-US" sz="2700" dirty="0" err="1">
                <a:solidFill>
                  <a:srgbClr val="003366"/>
                </a:solidFill>
                <a:latin typeface="Plus Jakarta Sans ExtraBold"/>
                <a:cs typeface="Plus Jakarta Sans ExtraBold"/>
                <a:sym typeface="Plus Jakarta Sans ExtraBold"/>
              </a:rPr>
              <a:t/>
            </a:r>
            <a:r>
              <a:rPr lang="en-US" sz="2700" dirty="0">
                <a:solidFill>
                  <a:srgbClr val="003366"/>
                </a:solidFill>
                <a:latin typeface="Plus Jakarta Sans ExtraBold"/>
                <a:cs typeface="Plus Jakarta Sans ExtraBold"/>
                <a:sym typeface="Plus Jakarta Sans ExtraBold"/>
              </a:rPr>
              <a:t/>
            </a:r>
            <a:endParaRPr dirty="0"/>
          </a:p>
        </p:txBody>
      </p:sp>
      <p:graphicFrame>
        <p:nvGraphicFramePr>
          <p:cNvPr id="24" name="Table 23"/>
          <p:cNvGraphicFramePr>
            <a:graphicFrameLocks noGrp="1"/>
          </p:cNvGraphicFramePr>
          <p:nvPr/>
        </p:nvGraphicFramePr>
        <p:xfrm>
          <a:off x="685800" y="1600200"/>
          <a:ext cx="10835640" cy="2926080"/>
        </p:xfrm>
        <a:graphic>
          <a:graphicData uri="http://schemas.openxmlformats.org/drawingml/2006/table">
            <a:tbl>
              <a:tblPr firstRow="1" bandRow="1">
                <a:tableStyleId>{5C22544A-7EE6-4342-B048-85BDC9FD1C3A}</a:tableStyleId>
              </a:tblPr>
              <a:tblGrid>
                <a:gridCol w="1371600"/>
                <a:gridCol w="5120640"/>
                <a:gridCol w="4343400"/>
              </a:tblGrid>
              <a:tr h="487680">
                <a:tc>
                  <a:txBody>
                    <a:bodyPr/>
                    <a:lstStyle/>
                    <a:p>
                      <a:r>
                        <a:rPr sz="1600" b="1">
                          <a:solidFill>
                            <a:srgbClr val="FFFFFF"/>
                          </a:solidFill>
                          <a:latin typeface="Arial"/>
                        </a:rPr>
                        <a:t>Puntaje</a:t>
                      </a:r>
                    </a:p>
                  </a:txBody>
                  <a:tcPr marL="73152" marR="73152" marT="27432" marB="27432">
                    <a:solidFill>
                      <a:srgbClr val="1F3B73"/>
                    </a:solidFill>
                  </a:tcPr>
                </a:tc>
                <a:tc>
                  <a:txBody>
                    <a:bodyPr/>
                    <a:lstStyle/>
                    <a:p>
                      <a:r>
                        <a:rPr sz="1600" b="1">
                          <a:solidFill>
                            <a:srgbClr val="FFFFFF"/>
                          </a:solidFill>
                          <a:latin typeface="Arial"/>
                        </a:rPr>
                        <a:t>Valor de negocio</a:t>
                      </a:r>
                    </a:p>
                  </a:txBody>
                  <a:tcPr marL="73152" marR="73152" marT="27432" marB="27432">
                    <a:solidFill>
                      <a:srgbClr val="1F3B73"/>
                    </a:solidFill>
                  </a:tcPr>
                </a:tc>
                <a:tc>
                  <a:txBody>
                    <a:bodyPr/>
                    <a:lstStyle/>
                    <a:p>
                      <a:r>
                        <a:rPr sz="1600" b="1">
                          <a:solidFill>
                            <a:srgbClr val="FFFFFF"/>
                          </a:solidFill>
                          <a:latin typeface="Arial"/>
                        </a:rPr>
                        <a:t>Urgencia</a:t>
                      </a:r>
                    </a:p>
                  </a:txBody>
                  <a:tcPr marL="73152" marR="73152" marT="27432" marB="27432">
                    <a:solidFill>
                      <a:srgbClr val="1F3B73"/>
                    </a:solidFill>
                  </a:tcPr>
                </a:tc>
              </a:tr>
              <a:tr h="487680">
                <a:tc>
                  <a:txBody>
                    <a:bodyPr/>
                    <a:lstStyle/>
                    <a:p>
                      <a:r>
                        <a:rPr sz="1600" b="0">
                          <a:solidFill>
                            <a:srgbClr val="33373D"/>
                          </a:solidFill>
                          <a:latin typeface="Arial"/>
                        </a:rPr>
                        <a:t>1</a:t>
                      </a:r>
                    </a:p>
                  </a:txBody>
                  <a:tcPr marL="73152" marR="73152" marT="27432" marB="27432">
                    <a:solidFill>
                      <a:srgbClr val="FFFFFF"/>
                    </a:solidFill>
                  </a:tcPr>
                </a:tc>
                <a:tc>
                  <a:txBody>
                    <a:bodyPr/>
                    <a:lstStyle/>
                    <a:p>
                      <a:r>
                        <a:rPr sz="1600" b="0">
                          <a:solidFill>
                            <a:srgbClr val="33373D"/>
                          </a:solidFill>
                          <a:latin typeface="Arial"/>
                        </a:rPr>
                        <a:t>Impacto muy bajo para la operación</a:t>
                      </a:r>
                    </a:p>
                  </a:txBody>
                  <a:tcPr marL="73152" marR="73152" marT="27432" marB="27432">
                    <a:solidFill>
                      <a:srgbClr val="FFFFFF"/>
                    </a:solidFill>
                  </a:tcPr>
                </a:tc>
                <a:tc>
                  <a:txBody>
                    <a:bodyPr/>
                    <a:lstStyle/>
                    <a:p>
                      <a:r>
                        <a:rPr sz="1600" b="0">
                          <a:solidFill>
                            <a:srgbClr val="33373D"/>
                          </a:solidFill>
                          <a:latin typeface="Arial"/>
                        </a:rPr>
                        <a:t>No es urgente, puede esperar</a:t>
                      </a:r>
                    </a:p>
                  </a:txBody>
                  <a:tcPr marL="73152" marR="73152" marT="27432" marB="27432">
                    <a:solidFill>
                      <a:srgbClr val="FFFFFF"/>
                    </a:solidFill>
                  </a:tcPr>
                </a:tc>
              </a:tr>
              <a:tr h="487680">
                <a:tc>
                  <a:txBody>
                    <a:bodyPr/>
                    <a:lstStyle/>
                    <a:p>
                      <a:r>
                        <a:rPr sz="1600" b="0">
                          <a:solidFill>
                            <a:srgbClr val="33373D"/>
                          </a:solidFill>
                          <a:latin typeface="Arial"/>
                        </a:rPr>
                        <a:t>2</a:t>
                      </a:r>
                    </a:p>
                  </a:txBody>
                  <a:tcPr marL="73152" marR="73152" marT="27432" marB="27432">
                    <a:solidFill>
                      <a:srgbClr val="EFF3F9"/>
                    </a:solidFill>
                  </a:tcPr>
                </a:tc>
                <a:tc>
                  <a:txBody>
                    <a:bodyPr/>
                    <a:lstStyle/>
                    <a:p>
                      <a:r>
                        <a:rPr sz="1600" b="0">
                          <a:solidFill>
                            <a:srgbClr val="33373D"/>
                          </a:solidFill>
                          <a:latin typeface="Arial"/>
                        </a:rPr>
                        <a:t>Impacto bajo, aporta poca funcionalidad</a:t>
                      </a:r>
                    </a:p>
                  </a:txBody>
                  <a:tcPr marL="73152" marR="73152" marT="27432" marB="27432">
                    <a:solidFill>
                      <a:srgbClr val="EFF3F9"/>
                    </a:solidFill>
                  </a:tcPr>
                </a:tc>
                <a:tc>
                  <a:txBody>
                    <a:bodyPr/>
                    <a:lstStyle/>
                    <a:p>
                      <a:r>
                        <a:rPr sz="1600" b="0">
                          <a:solidFill>
                            <a:srgbClr val="33373D"/>
                          </a:solidFill>
                          <a:latin typeface="Arial"/>
                        </a:rPr>
                        <a:t>Poco urgente</a:t>
                      </a:r>
                    </a:p>
                  </a:txBody>
                  <a:tcPr marL="73152" marR="73152" marT="27432" marB="27432">
                    <a:solidFill>
                      <a:srgbClr val="EFF3F9"/>
                    </a:solidFill>
                  </a:tcPr>
                </a:tc>
              </a:tr>
              <a:tr h="487680">
                <a:tc>
                  <a:txBody>
                    <a:bodyPr/>
                    <a:lstStyle/>
                    <a:p>
                      <a:r>
                        <a:rPr sz="1600" b="0">
                          <a:solidFill>
                            <a:srgbClr val="33373D"/>
                          </a:solidFill>
                          <a:latin typeface="Arial"/>
                        </a:rPr>
                        <a:t>3</a:t>
                      </a:r>
                    </a:p>
                  </a:txBody>
                  <a:tcPr marL="73152" marR="73152" marT="27432" marB="27432">
                    <a:solidFill>
                      <a:srgbClr val="FFFFFF"/>
                    </a:solidFill>
                  </a:tcPr>
                </a:tc>
                <a:tc>
                  <a:txBody>
                    <a:bodyPr/>
                    <a:lstStyle/>
                    <a:p>
                      <a:r>
                        <a:rPr sz="1600" b="0">
                          <a:solidFill>
                            <a:srgbClr val="33373D"/>
                          </a:solidFill>
                          <a:latin typeface="Arial"/>
                        </a:rPr>
                        <a:t>Impacto medio, mejora procesos importantes</a:t>
                      </a:r>
                    </a:p>
                  </a:txBody>
                  <a:tcPr marL="73152" marR="73152" marT="27432" marB="27432">
                    <a:solidFill>
                      <a:srgbClr val="FFFFFF"/>
                    </a:solidFill>
                  </a:tcPr>
                </a:tc>
                <a:tc>
                  <a:txBody>
                    <a:bodyPr/>
                    <a:lstStyle/>
                    <a:p>
                      <a:r>
                        <a:rPr sz="1600" b="0">
                          <a:solidFill>
                            <a:srgbClr val="33373D"/>
                          </a:solidFill>
                          <a:latin typeface="Arial"/>
                        </a:rPr>
                        <a:t>Urgencia moderada</a:t>
                      </a:r>
                    </a:p>
                  </a:txBody>
                  <a:tcPr marL="73152" marR="73152" marT="27432" marB="27432">
                    <a:solidFill>
                      <a:srgbClr val="FFFFFF"/>
                    </a:solidFill>
                  </a:tcPr>
                </a:tc>
              </a:tr>
              <a:tr h="487680">
                <a:tc>
                  <a:txBody>
                    <a:bodyPr/>
                    <a:lstStyle/>
                    <a:p>
                      <a:r>
                        <a:rPr sz="1600" b="0">
                          <a:solidFill>
                            <a:srgbClr val="33373D"/>
                          </a:solidFill>
                          <a:latin typeface="Arial"/>
                        </a:rPr>
                        <a:t>4</a:t>
                      </a:r>
                    </a:p>
                  </a:txBody>
                  <a:tcPr marL="73152" marR="73152" marT="27432" marB="27432">
                    <a:solidFill>
                      <a:srgbClr val="EFF3F9"/>
                    </a:solidFill>
                  </a:tcPr>
                </a:tc>
                <a:tc>
                  <a:txBody>
                    <a:bodyPr/>
                    <a:lstStyle/>
                    <a:p>
                      <a:r>
                        <a:rPr sz="1600" b="0">
                          <a:solidFill>
                            <a:srgbClr val="33373D"/>
                          </a:solidFill>
                          <a:latin typeface="Arial"/>
                        </a:rPr>
                        <a:t>Impacto alto, necesario para operar</a:t>
                      </a:r>
                    </a:p>
                  </a:txBody>
                  <a:tcPr marL="73152" marR="73152" marT="27432" marB="27432">
                    <a:solidFill>
                      <a:srgbClr val="EFF3F9"/>
                    </a:solidFill>
                  </a:tcPr>
                </a:tc>
                <a:tc>
                  <a:txBody>
                    <a:bodyPr/>
                    <a:lstStyle/>
                    <a:p>
                      <a:r>
                        <a:rPr sz="1600" b="0">
                          <a:solidFill>
                            <a:srgbClr val="33373D"/>
                          </a:solidFill>
                          <a:latin typeface="Arial"/>
                        </a:rPr>
                        <a:t>Muy urgente</a:t>
                      </a:r>
                    </a:p>
                  </a:txBody>
                  <a:tcPr marL="73152" marR="73152" marT="27432" marB="27432">
                    <a:solidFill>
                      <a:srgbClr val="EFF3F9"/>
                    </a:solidFill>
                  </a:tcPr>
                </a:tc>
              </a:tr>
              <a:tr h="487680">
                <a:tc>
                  <a:txBody>
                    <a:bodyPr/>
                    <a:lstStyle/>
                    <a:p>
                      <a:r>
                        <a:rPr sz="1600" b="0">
                          <a:solidFill>
                            <a:srgbClr val="33373D"/>
                          </a:solidFill>
                          <a:latin typeface="Arial"/>
                        </a:rPr>
                        <a:t>5</a:t>
                      </a:r>
                    </a:p>
                  </a:txBody>
                  <a:tcPr marL="73152" marR="73152" marT="27432" marB="27432">
                    <a:solidFill>
                      <a:srgbClr val="FFFFFF"/>
                    </a:solidFill>
                  </a:tcPr>
                </a:tc>
                <a:tc>
                  <a:txBody>
                    <a:bodyPr/>
                    <a:lstStyle/>
                    <a:p>
                      <a:r>
                        <a:rPr sz="1600" b="0">
                          <a:solidFill>
                            <a:srgbClr val="33373D"/>
                          </a:solidFill>
                          <a:latin typeface="Arial"/>
                        </a:rPr>
                        <a:t>Impacto crítico, indispensable</a:t>
                      </a:r>
                    </a:p>
                  </a:txBody>
                  <a:tcPr marL="73152" marR="73152" marT="27432" marB="27432">
                    <a:solidFill>
                      <a:srgbClr val="FFFFFF"/>
                    </a:solidFill>
                  </a:tcPr>
                </a:tc>
                <a:tc>
                  <a:txBody>
                    <a:bodyPr/>
                    <a:lstStyle/>
                    <a:p>
                      <a:r>
                        <a:rPr sz="1600" b="0">
                          <a:solidFill>
                            <a:srgbClr val="33373D"/>
                          </a:solidFill>
                          <a:latin typeface="Arial"/>
                        </a:rPr>
                        <a:t>Debe implementarse de inmediato</a:t>
                      </a:r>
                    </a:p>
                  </a:txBody>
                  <a:tcPr marL="73152" marR="73152" marT="27432" marB="27432">
                    <a:solidFill>
                      <a:srgbClr val="FFFFFF"/>
                    </a:solidFill>
                  </a:tcPr>
                </a:tc>
              </a:tr>
            </a:tbl>
          </a:graphicData>
        </a:graphic>
      </p:graphicFrame>
      <p:sp>
        <p:nvSpPr>
          <p:cNvPr id="25" name="TextBox 24"/>
          <p:cNvSpPr txBox="1"/>
          <p:nvPr/>
        </p:nvSpPr>
        <p:spPr>
          <a:xfrm>
            <a:off x="685800" y="4846320"/>
            <a:ext cx="10835640" cy="914400"/>
          </a:xfrm>
          <a:prstGeom prst="rect">
            <a:avLst/>
          </a:prstGeom>
          <a:noFill/>
        </p:spPr>
        <p:txBody>
          <a:bodyPr wrap="square">
            <a:spAutoFit/>
          </a:bodyPr>
          <a:lstStyle/>
          <a:p>
            <a:pPr algn="l"/>
            <a:r>
              <a:rPr sz="1800" b="0">
                <a:solidFill>
                  <a:srgbClr val="33373D"/>
                </a:solidFill>
                <a:latin typeface="Arial"/>
              </a:rPr>
              <a:t>El puntaje pondera el valor de negocio al 60 % y la urgencia al 40 %, porque lo importante debe pesar más que lo afanado. Un requisito urgente pero de bajo valor desplaza recursos de otro que sostiene la operación.</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19 / 41</a:t>
            </a:r>
          </a:p>
        </p:txBody>
      </p:sp>
    </p:spTree>
    <p:extLst>
      <p:ext uri="{BB962C8B-B14F-4D97-AF65-F5344CB8AC3E}">
        <p14:creationId xmlns:p14="http://schemas.microsoft.com/office/powerpoint/2010/main" val="4222054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579895E9-6FD1-3551-585E-B6BA860281DC}"/>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Conclusión General de la Priorización</a:t>
            </a:r>
            <a:r>
              <a:rPr lang="en-US" sz="2700" dirty="0">
                <a:solidFill>
                  <a:srgbClr val="003366"/>
                </a:solidFill>
                <a:latin typeface="Plus Jakarta Sans ExtraBold"/>
                <a:cs typeface="Plus Jakarta Sans ExtraBold"/>
                <a:sym typeface="Plus Jakarta Sans ExtraBold"/>
              </a:rPr>
              <a:t/>
            </a:r>
            <a:endParaRPr sz="2700" dirty="0">
              <a:solidFill>
                <a:srgbClr val="003366"/>
              </a:solidFill>
              <a:latin typeface="Plus Jakarta Sans ExtraBold"/>
              <a:cs typeface="Plus Jakarta Sans ExtraBold"/>
            </a:endParaRPr>
          </a:p>
        </p:txBody>
      </p:sp>
      <p:graphicFrame>
        <p:nvGraphicFramePr>
          <p:cNvPr id="24" name="Table 23"/>
          <p:cNvGraphicFramePr>
            <a:graphicFrameLocks noGrp="1"/>
          </p:cNvGraphicFramePr>
          <p:nvPr/>
        </p:nvGraphicFramePr>
        <p:xfrm>
          <a:off x="1463040" y="1554480"/>
          <a:ext cx="9235440" cy="3566160"/>
        </p:xfrm>
        <a:graphic>
          <a:graphicData uri="http://schemas.openxmlformats.org/drawingml/2006/table">
            <a:tbl>
              <a:tblPr firstRow="1" bandRow="1">
                <a:tableStyleId>{5C22544A-7EE6-4342-B048-85BDC9FD1C3A}</a:tableStyleId>
              </a:tblPr>
              <a:tblGrid>
                <a:gridCol w="1463040"/>
                <a:gridCol w="5943600"/>
                <a:gridCol w="1828800"/>
              </a:tblGrid>
              <a:tr h="396240">
                <a:tc>
                  <a:txBody>
                    <a:bodyPr/>
                    <a:lstStyle/>
                    <a:p>
                      <a:r>
                        <a:rPr sz="1600" b="1">
                          <a:solidFill>
                            <a:srgbClr val="FFFFFF"/>
                          </a:solidFill>
                          <a:latin typeface="Arial"/>
                        </a:rPr>
                        <a:t>Código</a:t>
                      </a:r>
                    </a:p>
                  </a:txBody>
                  <a:tcPr marL="73152" marR="73152" marT="27432" marB="27432">
                    <a:solidFill>
                      <a:srgbClr val="1F3B73"/>
                    </a:solidFill>
                  </a:tcPr>
                </a:tc>
                <a:tc>
                  <a:txBody>
                    <a:bodyPr/>
                    <a:lstStyle/>
                    <a:p>
                      <a:r>
                        <a:rPr sz="1600" b="1">
                          <a:solidFill>
                            <a:srgbClr val="FFFFFF"/>
                          </a:solidFill>
                          <a:latin typeface="Arial"/>
                        </a:rPr>
                        <a:t>Módulo</a:t>
                      </a:r>
                    </a:p>
                  </a:txBody>
                  <a:tcPr marL="73152" marR="73152" marT="27432" marB="27432">
                    <a:solidFill>
                      <a:srgbClr val="1F3B73"/>
                    </a:solidFill>
                  </a:tcPr>
                </a:tc>
                <a:tc>
                  <a:txBody>
                    <a:bodyPr/>
                    <a:lstStyle/>
                    <a:p>
                      <a:r>
                        <a:rPr sz="1600" b="1">
                          <a:solidFill>
                            <a:srgbClr val="FFFFFF"/>
                          </a:solidFill>
                          <a:latin typeface="Arial"/>
                        </a:rPr>
                        <a:t>Puntaje</a:t>
                      </a:r>
                    </a:p>
                  </a:txBody>
                  <a:tcPr marL="73152" marR="73152" marT="27432" marB="27432">
                    <a:solidFill>
                      <a:srgbClr val="1F3B73"/>
                    </a:solidFill>
                  </a:tcPr>
                </a:tc>
              </a:tr>
              <a:tr h="396240">
                <a:tc>
                  <a:txBody>
                    <a:bodyPr/>
                    <a:lstStyle/>
                    <a:p>
                      <a:r>
                        <a:rPr sz="1600" b="0">
                          <a:solidFill>
                            <a:srgbClr val="33373D"/>
                          </a:solidFill>
                          <a:latin typeface="Arial"/>
                        </a:rPr>
                        <a:t>RF 2</a:t>
                      </a:r>
                    </a:p>
                  </a:txBody>
                  <a:tcPr marL="73152" marR="73152" marT="27432" marB="27432">
                    <a:solidFill>
                      <a:srgbClr val="FFFFFF"/>
                    </a:solidFill>
                  </a:tcPr>
                </a:tc>
                <a:tc>
                  <a:txBody>
                    <a:bodyPr/>
                    <a:lstStyle/>
                    <a:p>
                      <a:r>
                        <a:rPr sz="1600" b="0">
                          <a:solidFill>
                            <a:srgbClr val="33373D"/>
                          </a:solidFill>
                          <a:latin typeface="Arial"/>
                        </a:rPr>
                        <a:t>Gestión de documentos electrónicos</a:t>
                      </a:r>
                    </a:p>
                  </a:txBody>
                  <a:tcPr marL="73152" marR="73152" marT="27432" marB="27432">
                    <a:solidFill>
                      <a:srgbClr val="FFFFFF"/>
                    </a:solidFill>
                  </a:tcPr>
                </a:tc>
                <a:tc>
                  <a:txBody>
                    <a:bodyPr/>
                    <a:lstStyle/>
                    <a:p>
                      <a:r>
                        <a:rPr sz="1600" b="0">
                          <a:solidFill>
                            <a:srgbClr val="33373D"/>
                          </a:solidFill>
                          <a:latin typeface="Arial"/>
                        </a:rPr>
                        <a:t>4.5</a:t>
                      </a:r>
                    </a:p>
                  </a:txBody>
                  <a:tcPr marL="73152" marR="73152" marT="27432" marB="27432">
                    <a:solidFill>
                      <a:srgbClr val="FFFFFF"/>
                    </a:solidFill>
                  </a:tcPr>
                </a:tc>
              </a:tr>
              <a:tr h="396240">
                <a:tc>
                  <a:txBody>
                    <a:bodyPr/>
                    <a:lstStyle/>
                    <a:p>
                      <a:r>
                        <a:rPr sz="1600" b="0">
                          <a:solidFill>
                            <a:srgbClr val="33373D"/>
                          </a:solidFill>
                          <a:latin typeface="Arial"/>
                        </a:rPr>
                        <a:t>RF 1</a:t>
                      </a:r>
                    </a:p>
                  </a:txBody>
                  <a:tcPr marL="73152" marR="73152" marT="27432" marB="27432">
                    <a:solidFill>
                      <a:srgbClr val="EFF3F9"/>
                    </a:solidFill>
                  </a:tcPr>
                </a:tc>
                <a:tc>
                  <a:txBody>
                    <a:bodyPr/>
                    <a:lstStyle/>
                    <a:p>
                      <a:r>
                        <a:rPr sz="1600" b="0">
                          <a:solidFill>
                            <a:srgbClr val="33373D"/>
                          </a:solidFill>
                          <a:latin typeface="Arial"/>
                        </a:rPr>
                        <a:t>Gestión de clientes API</a:t>
                      </a:r>
                    </a:p>
                  </a:txBody>
                  <a:tcPr marL="73152" marR="73152" marT="27432" marB="27432">
                    <a:solidFill>
                      <a:srgbClr val="EFF3F9"/>
                    </a:solidFill>
                  </a:tcPr>
                </a:tc>
                <a:tc>
                  <a:txBody>
                    <a:bodyPr/>
                    <a:lstStyle/>
                    <a:p>
                      <a:r>
                        <a:rPr sz="1600" b="0">
                          <a:solidFill>
                            <a:srgbClr val="33373D"/>
                          </a:solidFill>
                          <a:latin typeface="Arial"/>
                        </a:rPr>
                        <a:t>4.3</a:t>
                      </a:r>
                    </a:p>
                  </a:txBody>
                  <a:tcPr marL="73152" marR="73152" marT="27432" marB="27432">
                    <a:solidFill>
                      <a:srgbClr val="EFF3F9"/>
                    </a:solidFill>
                  </a:tcPr>
                </a:tc>
              </a:tr>
              <a:tr h="396240">
                <a:tc>
                  <a:txBody>
                    <a:bodyPr/>
                    <a:lstStyle/>
                    <a:p>
                      <a:r>
                        <a:rPr sz="1600" b="0">
                          <a:solidFill>
                            <a:srgbClr val="33373D"/>
                          </a:solidFill>
                          <a:latin typeface="Arial"/>
                        </a:rPr>
                        <a:t>RF 3</a:t>
                      </a:r>
                    </a:p>
                  </a:txBody>
                  <a:tcPr marL="73152" marR="73152" marT="27432" marB="27432">
                    <a:solidFill>
                      <a:srgbClr val="FFFFFF"/>
                    </a:solidFill>
                  </a:tcPr>
                </a:tc>
                <a:tc>
                  <a:txBody>
                    <a:bodyPr/>
                    <a:lstStyle/>
                    <a:p>
                      <a:r>
                        <a:rPr sz="1600" b="0">
                          <a:solidFill>
                            <a:srgbClr val="33373D"/>
                          </a:solidFill>
                          <a:latin typeface="Arial"/>
                        </a:rPr>
                        <a:t>Gestión de consumo y planes</a:t>
                      </a:r>
                    </a:p>
                  </a:txBody>
                  <a:tcPr marL="73152" marR="73152" marT="27432" marB="27432">
                    <a:solidFill>
                      <a:srgbClr val="FFFFFF"/>
                    </a:solidFill>
                  </a:tcPr>
                </a:tc>
                <a:tc>
                  <a:txBody>
                    <a:bodyPr/>
                    <a:lstStyle/>
                    <a:p>
                      <a:r>
                        <a:rPr sz="1600" b="0">
                          <a:solidFill>
                            <a:srgbClr val="33373D"/>
                          </a:solidFill>
                          <a:latin typeface="Arial"/>
                        </a:rPr>
                        <a:t>4.3</a:t>
                      </a:r>
                    </a:p>
                  </a:txBody>
                  <a:tcPr marL="73152" marR="73152" marT="27432" marB="27432">
                    <a:solidFill>
                      <a:srgbClr val="FFFFFF"/>
                    </a:solidFill>
                  </a:tcPr>
                </a:tc>
              </a:tr>
              <a:tr h="396240">
                <a:tc>
                  <a:txBody>
                    <a:bodyPr/>
                    <a:lstStyle/>
                    <a:p>
                      <a:r>
                        <a:rPr sz="1600" b="0">
                          <a:solidFill>
                            <a:srgbClr val="33373D"/>
                          </a:solidFill>
                          <a:latin typeface="Arial"/>
                        </a:rPr>
                        <a:t>RF 8</a:t>
                      </a:r>
                    </a:p>
                  </a:txBody>
                  <a:tcPr marL="73152" marR="73152" marT="27432" marB="27432">
                    <a:solidFill>
                      <a:srgbClr val="EFF3F9"/>
                    </a:solidFill>
                  </a:tcPr>
                </a:tc>
                <a:tc>
                  <a:txBody>
                    <a:bodyPr/>
                    <a:lstStyle/>
                    <a:p>
                      <a:r>
                        <a:rPr sz="1600" b="0">
                          <a:solidFill>
                            <a:srgbClr val="33373D"/>
                          </a:solidFill>
                          <a:latin typeface="Arial"/>
                        </a:rPr>
                        <a:t>Integración mediante API REST</a:t>
                      </a:r>
                    </a:p>
                  </a:txBody>
                  <a:tcPr marL="73152" marR="73152" marT="27432" marB="27432">
                    <a:solidFill>
                      <a:srgbClr val="EFF3F9"/>
                    </a:solidFill>
                  </a:tcPr>
                </a:tc>
                <a:tc>
                  <a:txBody>
                    <a:bodyPr/>
                    <a:lstStyle/>
                    <a:p>
                      <a:r>
                        <a:rPr sz="1600" b="0">
                          <a:solidFill>
                            <a:srgbClr val="33373D"/>
                          </a:solidFill>
                          <a:latin typeface="Arial"/>
                        </a:rPr>
                        <a:t>4.2</a:t>
                      </a:r>
                    </a:p>
                  </a:txBody>
                  <a:tcPr marL="73152" marR="73152" marT="27432" marB="27432">
                    <a:solidFill>
                      <a:srgbClr val="EFF3F9"/>
                    </a:solidFill>
                  </a:tcPr>
                </a:tc>
              </a:tr>
              <a:tr h="396240">
                <a:tc>
                  <a:txBody>
                    <a:bodyPr/>
                    <a:lstStyle/>
                    <a:p>
                      <a:r>
                        <a:rPr sz="1600" b="0">
                          <a:solidFill>
                            <a:srgbClr val="33373D"/>
                          </a:solidFill>
                          <a:latin typeface="Arial"/>
                        </a:rPr>
                        <a:t>RF 7</a:t>
                      </a:r>
                    </a:p>
                  </a:txBody>
                  <a:tcPr marL="73152" marR="73152" marT="27432" marB="27432">
                    <a:solidFill>
                      <a:srgbClr val="FFFFFF"/>
                    </a:solidFill>
                  </a:tcPr>
                </a:tc>
                <a:tc>
                  <a:txBody>
                    <a:bodyPr/>
                    <a:lstStyle/>
                    <a:p>
                      <a:r>
                        <a:rPr sz="1600" b="0">
                          <a:solidFill>
                            <a:srgbClr val="33373D"/>
                          </a:solidFill>
                          <a:latin typeface="Arial"/>
                        </a:rPr>
                        <a:t>Gestión de seguridad y auditoría</a:t>
                      </a:r>
                    </a:p>
                  </a:txBody>
                  <a:tcPr marL="73152" marR="73152" marT="27432" marB="27432">
                    <a:solidFill>
                      <a:srgbClr val="FFFFFF"/>
                    </a:solidFill>
                  </a:tcPr>
                </a:tc>
                <a:tc>
                  <a:txBody>
                    <a:bodyPr/>
                    <a:lstStyle/>
                    <a:p>
                      <a:r>
                        <a:rPr sz="1600" b="0">
                          <a:solidFill>
                            <a:srgbClr val="33373D"/>
                          </a:solidFill>
                          <a:latin typeface="Arial"/>
                        </a:rPr>
                        <a:t>4.1</a:t>
                      </a:r>
                    </a:p>
                  </a:txBody>
                  <a:tcPr marL="73152" marR="73152" marT="27432" marB="27432">
                    <a:solidFill>
                      <a:srgbClr val="FFFFFF"/>
                    </a:solidFill>
                  </a:tcPr>
                </a:tc>
              </a:tr>
              <a:tr h="396240">
                <a:tc>
                  <a:txBody>
                    <a:bodyPr/>
                    <a:lstStyle/>
                    <a:p>
                      <a:r>
                        <a:rPr sz="1600" b="0">
                          <a:solidFill>
                            <a:srgbClr val="33373D"/>
                          </a:solidFill>
                          <a:latin typeface="Arial"/>
                        </a:rPr>
                        <a:t>RF 4</a:t>
                      </a:r>
                    </a:p>
                  </a:txBody>
                  <a:tcPr marL="73152" marR="73152" marT="27432" marB="27432">
                    <a:solidFill>
                      <a:srgbClr val="EFF3F9"/>
                    </a:solidFill>
                  </a:tcPr>
                </a:tc>
                <a:tc>
                  <a:txBody>
                    <a:bodyPr/>
                    <a:lstStyle/>
                    <a:p>
                      <a:r>
                        <a:rPr sz="1600" b="0">
                          <a:solidFill>
                            <a:srgbClr val="33373D"/>
                          </a:solidFill>
                          <a:latin typeface="Arial"/>
                        </a:rPr>
                        <a:t>Gestión de facturación y cartera propias</a:t>
                      </a:r>
                    </a:p>
                  </a:txBody>
                  <a:tcPr marL="73152" marR="73152" marT="27432" marB="27432">
                    <a:solidFill>
                      <a:srgbClr val="EFF3F9"/>
                    </a:solidFill>
                  </a:tcPr>
                </a:tc>
                <a:tc>
                  <a:txBody>
                    <a:bodyPr/>
                    <a:lstStyle/>
                    <a:p>
                      <a:r>
                        <a:rPr sz="1600" b="0">
                          <a:solidFill>
                            <a:srgbClr val="33373D"/>
                          </a:solidFill>
                          <a:latin typeface="Arial"/>
                        </a:rPr>
                        <a:t>4.0</a:t>
                      </a:r>
                    </a:p>
                  </a:txBody>
                  <a:tcPr marL="73152" marR="73152" marT="27432" marB="27432">
                    <a:solidFill>
                      <a:srgbClr val="EFF3F9"/>
                    </a:solidFill>
                  </a:tcPr>
                </a:tc>
              </a:tr>
              <a:tr h="396240">
                <a:tc>
                  <a:txBody>
                    <a:bodyPr/>
                    <a:lstStyle/>
                    <a:p>
                      <a:r>
                        <a:rPr sz="1600" b="0">
                          <a:solidFill>
                            <a:srgbClr val="33373D"/>
                          </a:solidFill>
                          <a:latin typeface="Arial"/>
                        </a:rPr>
                        <a:t>RF 5</a:t>
                      </a:r>
                    </a:p>
                  </a:txBody>
                  <a:tcPr marL="73152" marR="73152" marT="27432" marB="27432">
                    <a:solidFill>
                      <a:srgbClr val="FFFFFF"/>
                    </a:solidFill>
                  </a:tcPr>
                </a:tc>
                <a:tc>
                  <a:txBody>
                    <a:bodyPr/>
                    <a:lstStyle/>
                    <a:p>
                      <a:r>
                        <a:rPr sz="1600" b="0">
                          <a:solidFill>
                            <a:srgbClr val="33373D"/>
                          </a:solidFill>
                          <a:latin typeface="Arial"/>
                        </a:rPr>
                        <a:t>Gestión de reportes y tablero de control</a:t>
                      </a:r>
                    </a:p>
                  </a:txBody>
                  <a:tcPr marL="73152" marR="73152" marT="27432" marB="27432">
                    <a:solidFill>
                      <a:srgbClr val="FFFFFF"/>
                    </a:solidFill>
                  </a:tcPr>
                </a:tc>
                <a:tc>
                  <a:txBody>
                    <a:bodyPr/>
                    <a:lstStyle/>
                    <a:p>
                      <a:r>
                        <a:rPr sz="1600" b="0">
                          <a:solidFill>
                            <a:srgbClr val="33373D"/>
                          </a:solidFill>
                          <a:latin typeface="Arial"/>
                        </a:rPr>
                        <a:t>4.0</a:t>
                      </a:r>
                    </a:p>
                  </a:txBody>
                  <a:tcPr marL="73152" marR="73152" marT="27432" marB="27432">
                    <a:solidFill>
                      <a:srgbClr val="FFFFFF"/>
                    </a:solidFill>
                  </a:tcPr>
                </a:tc>
              </a:tr>
              <a:tr h="396240">
                <a:tc>
                  <a:txBody>
                    <a:bodyPr/>
                    <a:lstStyle/>
                    <a:p>
                      <a:r>
                        <a:rPr sz="1600" b="0">
                          <a:solidFill>
                            <a:srgbClr val="33373D"/>
                          </a:solidFill>
                          <a:latin typeface="Arial"/>
                        </a:rPr>
                        <a:t>RF 6</a:t>
                      </a:r>
                    </a:p>
                  </a:txBody>
                  <a:tcPr marL="73152" marR="73152" marT="27432" marB="27432">
                    <a:solidFill>
                      <a:srgbClr val="EFF3F9"/>
                    </a:solidFill>
                  </a:tcPr>
                </a:tc>
                <a:tc>
                  <a:txBody>
                    <a:bodyPr/>
                    <a:lstStyle/>
                    <a:p>
                      <a:r>
                        <a:rPr sz="1600" b="0">
                          <a:solidFill>
                            <a:srgbClr val="33373D"/>
                          </a:solidFill>
                          <a:latin typeface="Arial"/>
                        </a:rPr>
                        <a:t>Gestión de configuración y catálogos</a:t>
                      </a:r>
                    </a:p>
                  </a:txBody>
                  <a:tcPr marL="73152" marR="73152" marT="27432" marB="27432">
                    <a:solidFill>
                      <a:srgbClr val="EFF3F9"/>
                    </a:solidFill>
                  </a:tcPr>
                </a:tc>
                <a:tc>
                  <a:txBody>
                    <a:bodyPr/>
                    <a:lstStyle/>
                    <a:p>
                      <a:r>
                        <a:rPr sz="1600" b="0">
                          <a:solidFill>
                            <a:srgbClr val="33373D"/>
                          </a:solidFill>
                          <a:latin typeface="Arial"/>
                        </a:rPr>
                        <a:t>3.5</a:t>
                      </a:r>
                    </a:p>
                  </a:txBody>
                  <a:tcPr marL="73152" marR="73152" marT="27432" marB="27432">
                    <a:solidFill>
                      <a:srgbClr val="EFF3F9"/>
                    </a:solidFill>
                  </a:tcPr>
                </a:tc>
              </a:tr>
            </a:tbl>
          </a:graphicData>
        </a:graphic>
      </p:graphicFrame>
      <p:sp>
        <p:nvSpPr>
          <p:cNvPr id="25" name="TextBox 24"/>
          <p:cNvSpPr txBox="1"/>
          <p:nvPr/>
        </p:nvSpPr>
        <p:spPr>
          <a:xfrm>
            <a:off x="822960" y="5394960"/>
            <a:ext cx="10515600" cy="822960"/>
          </a:xfrm>
          <a:prstGeom prst="rect">
            <a:avLst/>
          </a:prstGeom>
          <a:noFill/>
        </p:spPr>
        <p:txBody>
          <a:bodyPr wrap="square">
            <a:spAutoFit/>
          </a:bodyPr>
          <a:lstStyle/>
          <a:p>
            <a:pPr algn="l"/>
            <a:r>
              <a:rPr sz="1800" b="0">
                <a:solidFill>
                  <a:srgbClr val="33373D"/>
                </a:solidFill>
                <a:latin typeface="Arial"/>
              </a:rPr>
              <a:t>Encabeza la lista gestión de documentos electrónicos, del que depende que un documento salga correctamente expedido, y cierra gestión de configuración y catálogos, que agrupa parámetros que se ajustan de vez en cuando.</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20 / 41</a:t>
            </a:r>
          </a:p>
        </p:txBody>
      </p:sp>
    </p:spTree>
    <p:extLst>
      <p:ext uri="{BB962C8B-B14F-4D97-AF65-F5344CB8AC3E}">
        <p14:creationId xmlns:p14="http://schemas.microsoft.com/office/powerpoint/2010/main" val="1994318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94D8E1D-6EE8-ABF3-3FB0-CC387045F82E}"/>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Requisitos Funcionales</a:t>
            </a:r>
            <a:endParaRPr sz="2700" dirty="0">
              <a:solidFill>
                <a:srgbClr val="003366"/>
              </a:solidFill>
              <a:latin typeface="Plus Jakarta Sans ExtraBold"/>
              <a:cs typeface="Plus Jakarta Sans ExtraBold"/>
            </a:endParaRPr>
          </a:p>
        </p:txBody>
      </p:sp>
      <p:graphicFrame>
        <p:nvGraphicFramePr>
          <p:cNvPr id="24" name="Table 23"/>
          <p:cNvGraphicFramePr>
            <a:graphicFrameLocks noGrp="1"/>
          </p:cNvGraphicFramePr>
          <p:nvPr/>
        </p:nvGraphicFramePr>
        <p:xfrm>
          <a:off x="1234440" y="1463040"/>
          <a:ext cx="9692640" cy="3931920"/>
        </p:xfrm>
        <a:graphic>
          <a:graphicData uri="http://schemas.openxmlformats.org/drawingml/2006/table">
            <a:tbl>
              <a:tblPr firstRow="1" bandRow="1">
                <a:tableStyleId>{5C22544A-7EE6-4342-B048-85BDC9FD1C3A}</a:tableStyleId>
              </a:tblPr>
              <a:tblGrid>
                <a:gridCol w="1371600"/>
                <a:gridCol w="4937760"/>
                <a:gridCol w="1737360"/>
                <a:gridCol w="1645920"/>
              </a:tblGrid>
              <a:tr h="393192">
                <a:tc>
                  <a:txBody>
                    <a:bodyPr/>
                    <a:lstStyle/>
                    <a:p>
                      <a:r>
                        <a:rPr sz="1500" b="1">
                          <a:solidFill>
                            <a:srgbClr val="FFFFFF"/>
                          </a:solidFill>
                          <a:latin typeface="Arial"/>
                        </a:rPr>
                        <a:t>Código</a:t>
                      </a:r>
                    </a:p>
                  </a:txBody>
                  <a:tcPr marL="73152" marR="73152" marT="27432" marB="27432">
                    <a:solidFill>
                      <a:srgbClr val="1F3B73"/>
                    </a:solidFill>
                  </a:tcPr>
                </a:tc>
                <a:tc>
                  <a:txBody>
                    <a:bodyPr/>
                    <a:lstStyle/>
                    <a:p>
                      <a:r>
                        <a:rPr sz="1500" b="1">
                          <a:solidFill>
                            <a:srgbClr val="FFFFFF"/>
                          </a:solidFill>
                          <a:latin typeface="Arial"/>
                        </a:rPr>
                        <a:t>Módulo</a:t>
                      </a:r>
                    </a:p>
                  </a:txBody>
                  <a:tcPr marL="73152" marR="73152" marT="27432" marB="27432">
                    <a:solidFill>
                      <a:srgbClr val="1F3B73"/>
                    </a:solidFill>
                  </a:tcPr>
                </a:tc>
                <a:tc>
                  <a:txBody>
                    <a:bodyPr/>
                    <a:lstStyle/>
                    <a:p>
                      <a:r>
                        <a:rPr sz="1500" b="1">
                          <a:solidFill>
                            <a:srgbClr val="FFFFFF"/>
                          </a:solidFill>
                          <a:latin typeface="Arial"/>
                        </a:rPr>
                        <a:t>Requisitos</a:t>
                      </a:r>
                    </a:p>
                  </a:txBody>
                  <a:tcPr marL="73152" marR="73152" marT="27432" marB="27432">
                    <a:solidFill>
                      <a:srgbClr val="1F3B73"/>
                    </a:solidFill>
                  </a:tcPr>
                </a:tc>
                <a:tc>
                  <a:txBody>
                    <a:bodyPr/>
                    <a:lstStyle/>
                    <a:p>
                      <a:r>
                        <a:rPr sz="1500" b="1">
                          <a:solidFill>
                            <a:srgbClr val="FFFFFF"/>
                          </a:solidFill>
                          <a:latin typeface="Arial"/>
                        </a:rPr>
                        <a:t>Críticos</a:t>
                      </a:r>
                    </a:p>
                  </a:txBody>
                  <a:tcPr marL="73152" marR="73152" marT="27432" marB="27432">
                    <a:solidFill>
                      <a:srgbClr val="1F3B73"/>
                    </a:solidFill>
                  </a:tcPr>
                </a:tc>
              </a:tr>
              <a:tr h="393192">
                <a:tc>
                  <a:txBody>
                    <a:bodyPr/>
                    <a:lstStyle/>
                    <a:p>
                      <a:r>
                        <a:rPr sz="1500" b="0">
                          <a:solidFill>
                            <a:srgbClr val="33373D"/>
                          </a:solidFill>
                          <a:latin typeface="Arial"/>
                        </a:rPr>
                        <a:t>RF 1</a:t>
                      </a:r>
                    </a:p>
                  </a:txBody>
                  <a:tcPr marL="73152" marR="73152" marT="27432" marB="27432">
                    <a:solidFill>
                      <a:srgbClr val="FFFFFF"/>
                    </a:solidFill>
                  </a:tcPr>
                </a:tc>
                <a:tc>
                  <a:txBody>
                    <a:bodyPr/>
                    <a:lstStyle/>
                    <a:p>
                      <a:r>
                        <a:rPr sz="1500" b="0">
                          <a:solidFill>
                            <a:srgbClr val="33373D"/>
                          </a:solidFill>
                          <a:latin typeface="Arial"/>
                        </a:rPr>
                        <a:t>Gestión de clientes API</a:t>
                      </a:r>
                    </a:p>
                  </a:txBody>
                  <a:tcPr marL="73152" marR="73152" marT="27432" marB="27432">
                    <a:solidFill>
                      <a:srgbClr val="FFFFFF"/>
                    </a:solidFill>
                  </a:tcPr>
                </a:tc>
                <a:tc>
                  <a:txBody>
                    <a:bodyPr/>
                    <a:lstStyle/>
                    <a:p>
                      <a:r>
                        <a:rPr sz="1500" b="0">
                          <a:solidFill>
                            <a:srgbClr val="33373D"/>
                          </a:solidFill>
                          <a:latin typeface="Arial"/>
                        </a:rPr>
                        <a:t>9</a:t>
                      </a:r>
                    </a:p>
                  </a:txBody>
                  <a:tcPr marL="73152" marR="73152" marT="27432" marB="27432">
                    <a:solidFill>
                      <a:srgbClr val="FFFFFF"/>
                    </a:solidFill>
                  </a:tcPr>
                </a:tc>
                <a:tc>
                  <a:txBody>
                    <a:bodyPr/>
                    <a:lstStyle/>
                    <a:p>
                      <a:r>
                        <a:rPr sz="1500" b="0">
                          <a:solidFill>
                            <a:srgbClr val="33373D"/>
                          </a:solidFill>
                          <a:latin typeface="Arial"/>
                        </a:rPr>
                        <a:t>5</a:t>
                      </a:r>
                    </a:p>
                  </a:txBody>
                  <a:tcPr marL="73152" marR="73152" marT="27432" marB="27432">
                    <a:solidFill>
                      <a:srgbClr val="FFFFFF"/>
                    </a:solidFill>
                  </a:tcPr>
                </a:tc>
              </a:tr>
              <a:tr h="393192">
                <a:tc>
                  <a:txBody>
                    <a:bodyPr/>
                    <a:lstStyle/>
                    <a:p>
                      <a:r>
                        <a:rPr sz="1500" b="0">
                          <a:solidFill>
                            <a:srgbClr val="33373D"/>
                          </a:solidFill>
                          <a:latin typeface="Arial"/>
                        </a:rPr>
                        <a:t>RF 2</a:t>
                      </a:r>
                    </a:p>
                  </a:txBody>
                  <a:tcPr marL="73152" marR="73152" marT="27432" marB="27432">
                    <a:solidFill>
                      <a:srgbClr val="EFF3F9"/>
                    </a:solidFill>
                  </a:tcPr>
                </a:tc>
                <a:tc>
                  <a:txBody>
                    <a:bodyPr/>
                    <a:lstStyle/>
                    <a:p>
                      <a:r>
                        <a:rPr sz="1500" b="0">
                          <a:solidFill>
                            <a:srgbClr val="33373D"/>
                          </a:solidFill>
                          <a:latin typeface="Arial"/>
                        </a:rPr>
                        <a:t>Gestión de documentos electrónicos</a:t>
                      </a:r>
                    </a:p>
                  </a:txBody>
                  <a:tcPr marL="73152" marR="73152" marT="27432" marB="27432">
                    <a:solidFill>
                      <a:srgbClr val="EFF3F9"/>
                    </a:solidFill>
                  </a:tcPr>
                </a:tc>
                <a:tc>
                  <a:txBody>
                    <a:bodyPr/>
                    <a:lstStyle/>
                    <a:p>
                      <a:r>
                        <a:rPr sz="1500" b="0">
                          <a:solidFill>
                            <a:srgbClr val="33373D"/>
                          </a:solidFill>
                          <a:latin typeface="Arial"/>
                        </a:rPr>
                        <a:t>14</a:t>
                      </a:r>
                    </a:p>
                  </a:txBody>
                  <a:tcPr marL="73152" marR="73152" marT="27432" marB="27432">
                    <a:solidFill>
                      <a:srgbClr val="EFF3F9"/>
                    </a:solidFill>
                  </a:tcPr>
                </a:tc>
                <a:tc>
                  <a:txBody>
                    <a:bodyPr/>
                    <a:lstStyle/>
                    <a:p>
                      <a:r>
                        <a:rPr sz="1500" b="0">
                          <a:solidFill>
                            <a:srgbClr val="33373D"/>
                          </a:solidFill>
                          <a:latin typeface="Arial"/>
                        </a:rPr>
                        <a:t>8</a:t>
                      </a:r>
                    </a:p>
                  </a:txBody>
                  <a:tcPr marL="73152" marR="73152" marT="27432" marB="27432">
                    <a:solidFill>
                      <a:srgbClr val="EFF3F9"/>
                    </a:solidFill>
                  </a:tcPr>
                </a:tc>
              </a:tr>
              <a:tr h="393192">
                <a:tc>
                  <a:txBody>
                    <a:bodyPr/>
                    <a:lstStyle/>
                    <a:p>
                      <a:r>
                        <a:rPr sz="1500" b="0">
                          <a:solidFill>
                            <a:srgbClr val="33373D"/>
                          </a:solidFill>
                          <a:latin typeface="Arial"/>
                        </a:rPr>
                        <a:t>RF 3</a:t>
                      </a:r>
                    </a:p>
                  </a:txBody>
                  <a:tcPr marL="73152" marR="73152" marT="27432" marB="27432">
                    <a:solidFill>
                      <a:srgbClr val="FFFFFF"/>
                    </a:solidFill>
                  </a:tcPr>
                </a:tc>
                <a:tc>
                  <a:txBody>
                    <a:bodyPr/>
                    <a:lstStyle/>
                    <a:p>
                      <a:r>
                        <a:rPr sz="1500" b="0">
                          <a:solidFill>
                            <a:srgbClr val="33373D"/>
                          </a:solidFill>
                          <a:latin typeface="Arial"/>
                        </a:rPr>
                        <a:t>Gestión de consumo y planes</a:t>
                      </a:r>
                    </a:p>
                  </a:txBody>
                  <a:tcPr marL="73152" marR="73152" marT="27432" marB="27432">
                    <a:solidFill>
                      <a:srgbClr val="FFFFFF"/>
                    </a:solidFill>
                  </a:tcPr>
                </a:tc>
                <a:tc>
                  <a:txBody>
                    <a:bodyPr/>
                    <a:lstStyle/>
                    <a:p>
                      <a:r>
                        <a:rPr sz="1500" b="0">
                          <a:solidFill>
                            <a:srgbClr val="33373D"/>
                          </a:solidFill>
                          <a:latin typeface="Arial"/>
                        </a:rPr>
                        <a:t>10</a:t>
                      </a:r>
                    </a:p>
                  </a:txBody>
                  <a:tcPr marL="73152" marR="73152" marT="27432" marB="27432">
                    <a:solidFill>
                      <a:srgbClr val="FFFFFF"/>
                    </a:solidFill>
                  </a:tcPr>
                </a:tc>
                <a:tc>
                  <a:txBody>
                    <a:bodyPr/>
                    <a:lstStyle/>
                    <a:p>
                      <a:r>
                        <a:rPr sz="1500" b="0">
                          <a:solidFill>
                            <a:srgbClr val="33373D"/>
                          </a:solidFill>
                          <a:latin typeface="Arial"/>
                        </a:rPr>
                        <a:t>5</a:t>
                      </a:r>
                    </a:p>
                  </a:txBody>
                  <a:tcPr marL="73152" marR="73152" marT="27432" marB="27432">
                    <a:solidFill>
                      <a:srgbClr val="FFFFFF"/>
                    </a:solidFill>
                  </a:tcPr>
                </a:tc>
              </a:tr>
              <a:tr h="393192">
                <a:tc>
                  <a:txBody>
                    <a:bodyPr/>
                    <a:lstStyle/>
                    <a:p>
                      <a:r>
                        <a:rPr sz="1500" b="0">
                          <a:solidFill>
                            <a:srgbClr val="33373D"/>
                          </a:solidFill>
                          <a:latin typeface="Arial"/>
                        </a:rPr>
                        <a:t>RF 4</a:t>
                      </a:r>
                    </a:p>
                  </a:txBody>
                  <a:tcPr marL="73152" marR="73152" marT="27432" marB="27432">
                    <a:solidFill>
                      <a:srgbClr val="EFF3F9"/>
                    </a:solidFill>
                  </a:tcPr>
                </a:tc>
                <a:tc>
                  <a:txBody>
                    <a:bodyPr/>
                    <a:lstStyle/>
                    <a:p>
                      <a:r>
                        <a:rPr sz="1500" b="0">
                          <a:solidFill>
                            <a:srgbClr val="33373D"/>
                          </a:solidFill>
                          <a:latin typeface="Arial"/>
                        </a:rPr>
                        <a:t>Gestión de facturación y cartera propias</a:t>
                      </a:r>
                    </a:p>
                  </a:txBody>
                  <a:tcPr marL="73152" marR="73152" marT="27432" marB="27432">
                    <a:solidFill>
                      <a:srgbClr val="EFF3F9"/>
                    </a:solidFill>
                  </a:tcPr>
                </a:tc>
                <a:tc>
                  <a:txBody>
                    <a:bodyPr/>
                    <a:lstStyle/>
                    <a:p>
                      <a:r>
                        <a:rPr sz="1500" b="0">
                          <a:solidFill>
                            <a:srgbClr val="33373D"/>
                          </a:solidFill>
                          <a:latin typeface="Arial"/>
                        </a:rPr>
                        <a:t>11</a:t>
                      </a:r>
                    </a:p>
                  </a:txBody>
                  <a:tcPr marL="73152" marR="73152" marT="27432" marB="27432">
                    <a:solidFill>
                      <a:srgbClr val="EFF3F9"/>
                    </a:solidFill>
                  </a:tcPr>
                </a:tc>
                <a:tc>
                  <a:txBody>
                    <a:bodyPr/>
                    <a:lstStyle/>
                    <a:p>
                      <a:r>
                        <a:rPr sz="1500" b="0">
                          <a:solidFill>
                            <a:srgbClr val="33373D"/>
                          </a:solidFill>
                          <a:latin typeface="Arial"/>
                        </a:rPr>
                        <a:t>2</a:t>
                      </a:r>
                    </a:p>
                  </a:txBody>
                  <a:tcPr marL="73152" marR="73152" marT="27432" marB="27432">
                    <a:solidFill>
                      <a:srgbClr val="EFF3F9"/>
                    </a:solidFill>
                  </a:tcPr>
                </a:tc>
              </a:tr>
              <a:tr h="393192">
                <a:tc>
                  <a:txBody>
                    <a:bodyPr/>
                    <a:lstStyle/>
                    <a:p>
                      <a:r>
                        <a:rPr sz="1500" b="0">
                          <a:solidFill>
                            <a:srgbClr val="33373D"/>
                          </a:solidFill>
                          <a:latin typeface="Arial"/>
                        </a:rPr>
                        <a:t>RF 5</a:t>
                      </a:r>
                    </a:p>
                  </a:txBody>
                  <a:tcPr marL="73152" marR="73152" marT="27432" marB="27432">
                    <a:solidFill>
                      <a:srgbClr val="FFFFFF"/>
                    </a:solidFill>
                  </a:tcPr>
                </a:tc>
                <a:tc>
                  <a:txBody>
                    <a:bodyPr/>
                    <a:lstStyle/>
                    <a:p>
                      <a:r>
                        <a:rPr sz="1500" b="0">
                          <a:solidFill>
                            <a:srgbClr val="33373D"/>
                          </a:solidFill>
                          <a:latin typeface="Arial"/>
                        </a:rPr>
                        <a:t>Gestión de reportes y tablero de control</a:t>
                      </a:r>
                    </a:p>
                  </a:txBody>
                  <a:tcPr marL="73152" marR="73152" marT="27432" marB="27432">
                    <a:solidFill>
                      <a:srgbClr val="FFFFFF"/>
                    </a:solidFill>
                  </a:tcPr>
                </a:tc>
                <a:tc>
                  <a:txBody>
                    <a:bodyPr/>
                    <a:lstStyle/>
                    <a:p>
                      <a:r>
                        <a:rPr sz="1500" b="0">
                          <a:solidFill>
                            <a:srgbClr val="33373D"/>
                          </a:solidFill>
                          <a:latin typeface="Arial"/>
                        </a:rPr>
                        <a:t>9</a:t>
                      </a:r>
                    </a:p>
                  </a:txBody>
                  <a:tcPr marL="73152" marR="73152" marT="27432" marB="27432">
                    <a:solidFill>
                      <a:srgbClr val="FFFFFF"/>
                    </a:solidFill>
                  </a:tcPr>
                </a:tc>
                <a:tc>
                  <a:txBody>
                    <a:bodyPr/>
                    <a:lstStyle/>
                    <a:p>
                      <a:r>
                        <a:rPr sz="1500" b="0">
                          <a:solidFill>
                            <a:srgbClr val="33373D"/>
                          </a:solidFill>
                          <a:latin typeface="Arial"/>
                        </a:rPr>
                        <a:t>3</a:t>
                      </a:r>
                    </a:p>
                  </a:txBody>
                  <a:tcPr marL="73152" marR="73152" marT="27432" marB="27432">
                    <a:solidFill>
                      <a:srgbClr val="FFFFFF"/>
                    </a:solidFill>
                  </a:tcPr>
                </a:tc>
              </a:tr>
              <a:tr h="393192">
                <a:tc>
                  <a:txBody>
                    <a:bodyPr/>
                    <a:lstStyle/>
                    <a:p>
                      <a:r>
                        <a:rPr sz="1500" b="0">
                          <a:solidFill>
                            <a:srgbClr val="33373D"/>
                          </a:solidFill>
                          <a:latin typeface="Arial"/>
                        </a:rPr>
                        <a:t>RF 6</a:t>
                      </a:r>
                    </a:p>
                  </a:txBody>
                  <a:tcPr marL="73152" marR="73152" marT="27432" marB="27432">
                    <a:solidFill>
                      <a:srgbClr val="EFF3F9"/>
                    </a:solidFill>
                  </a:tcPr>
                </a:tc>
                <a:tc>
                  <a:txBody>
                    <a:bodyPr/>
                    <a:lstStyle/>
                    <a:p>
                      <a:r>
                        <a:rPr sz="1500" b="0">
                          <a:solidFill>
                            <a:srgbClr val="33373D"/>
                          </a:solidFill>
                          <a:latin typeface="Arial"/>
                        </a:rPr>
                        <a:t>Gestión de configuración y catálogos</a:t>
                      </a:r>
                    </a:p>
                  </a:txBody>
                  <a:tcPr marL="73152" marR="73152" marT="27432" marB="27432">
                    <a:solidFill>
                      <a:srgbClr val="EFF3F9"/>
                    </a:solidFill>
                  </a:tcPr>
                </a:tc>
                <a:tc>
                  <a:txBody>
                    <a:bodyPr/>
                    <a:lstStyle/>
                    <a:p>
                      <a:r>
                        <a:rPr sz="1500" b="0">
                          <a:solidFill>
                            <a:srgbClr val="33373D"/>
                          </a:solidFill>
                          <a:latin typeface="Arial"/>
                        </a:rPr>
                        <a:t>8</a:t>
                      </a:r>
                    </a:p>
                  </a:txBody>
                  <a:tcPr marL="73152" marR="73152" marT="27432" marB="27432">
                    <a:solidFill>
                      <a:srgbClr val="EFF3F9"/>
                    </a:solidFill>
                  </a:tcPr>
                </a:tc>
                <a:tc>
                  <a:txBody>
                    <a:bodyPr/>
                    <a:lstStyle/>
                    <a:p>
                      <a:r>
                        <a:rPr sz="1500" b="0">
                          <a:solidFill>
                            <a:srgbClr val="33373D"/>
                          </a:solidFill>
                          <a:latin typeface="Arial"/>
                        </a:rPr>
                        <a:t>2</a:t>
                      </a:r>
                    </a:p>
                  </a:txBody>
                  <a:tcPr marL="73152" marR="73152" marT="27432" marB="27432">
                    <a:solidFill>
                      <a:srgbClr val="EFF3F9"/>
                    </a:solidFill>
                  </a:tcPr>
                </a:tc>
              </a:tr>
              <a:tr h="393192">
                <a:tc>
                  <a:txBody>
                    <a:bodyPr/>
                    <a:lstStyle/>
                    <a:p>
                      <a:r>
                        <a:rPr sz="1500" b="0">
                          <a:solidFill>
                            <a:srgbClr val="33373D"/>
                          </a:solidFill>
                          <a:latin typeface="Arial"/>
                        </a:rPr>
                        <a:t>RF 7</a:t>
                      </a:r>
                    </a:p>
                  </a:txBody>
                  <a:tcPr marL="73152" marR="73152" marT="27432" marB="27432">
                    <a:solidFill>
                      <a:srgbClr val="FFFFFF"/>
                    </a:solidFill>
                  </a:tcPr>
                </a:tc>
                <a:tc>
                  <a:txBody>
                    <a:bodyPr/>
                    <a:lstStyle/>
                    <a:p>
                      <a:r>
                        <a:rPr sz="1500" b="0">
                          <a:solidFill>
                            <a:srgbClr val="33373D"/>
                          </a:solidFill>
                          <a:latin typeface="Arial"/>
                        </a:rPr>
                        <a:t>Gestión de seguridad y auditoría</a:t>
                      </a:r>
                    </a:p>
                  </a:txBody>
                  <a:tcPr marL="73152" marR="73152" marT="27432" marB="27432">
                    <a:solidFill>
                      <a:srgbClr val="FFFFFF"/>
                    </a:solidFill>
                  </a:tcPr>
                </a:tc>
                <a:tc>
                  <a:txBody>
                    <a:bodyPr/>
                    <a:lstStyle/>
                    <a:p>
                      <a:r>
                        <a:rPr sz="1500" b="0">
                          <a:solidFill>
                            <a:srgbClr val="33373D"/>
                          </a:solidFill>
                          <a:latin typeface="Arial"/>
                        </a:rPr>
                        <a:t>11</a:t>
                      </a:r>
                    </a:p>
                  </a:txBody>
                  <a:tcPr marL="73152" marR="73152" marT="27432" marB="27432">
                    <a:solidFill>
                      <a:srgbClr val="FFFFFF"/>
                    </a:solidFill>
                  </a:tcPr>
                </a:tc>
                <a:tc>
                  <a:txBody>
                    <a:bodyPr/>
                    <a:lstStyle/>
                    <a:p>
                      <a:r>
                        <a:rPr sz="1500" b="0">
                          <a:solidFill>
                            <a:srgbClr val="33373D"/>
                          </a:solidFill>
                          <a:latin typeface="Arial"/>
                        </a:rPr>
                        <a:t>5</a:t>
                      </a:r>
                    </a:p>
                  </a:txBody>
                  <a:tcPr marL="73152" marR="73152" marT="27432" marB="27432">
                    <a:solidFill>
                      <a:srgbClr val="FFFFFF"/>
                    </a:solidFill>
                  </a:tcPr>
                </a:tc>
              </a:tr>
              <a:tr h="393192">
                <a:tc>
                  <a:txBody>
                    <a:bodyPr/>
                    <a:lstStyle/>
                    <a:p>
                      <a:r>
                        <a:rPr sz="1500" b="0">
                          <a:solidFill>
                            <a:srgbClr val="33373D"/>
                          </a:solidFill>
                          <a:latin typeface="Arial"/>
                        </a:rPr>
                        <a:t>RF 8</a:t>
                      </a:r>
                    </a:p>
                  </a:txBody>
                  <a:tcPr marL="73152" marR="73152" marT="27432" marB="27432">
                    <a:solidFill>
                      <a:srgbClr val="EFF3F9"/>
                    </a:solidFill>
                  </a:tcPr>
                </a:tc>
                <a:tc>
                  <a:txBody>
                    <a:bodyPr/>
                    <a:lstStyle/>
                    <a:p>
                      <a:r>
                        <a:rPr sz="1500" b="0">
                          <a:solidFill>
                            <a:srgbClr val="33373D"/>
                          </a:solidFill>
                          <a:latin typeface="Arial"/>
                        </a:rPr>
                        <a:t>Integración mediante API REST</a:t>
                      </a:r>
                    </a:p>
                  </a:txBody>
                  <a:tcPr marL="73152" marR="73152" marT="27432" marB="27432">
                    <a:solidFill>
                      <a:srgbClr val="EFF3F9"/>
                    </a:solidFill>
                  </a:tcPr>
                </a:tc>
                <a:tc>
                  <a:txBody>
                    <a:bodyPr/>
                    <a:lstStyle/>
                    <a:p>
                      <a:r>
                        <a:rPr sz="1500" b="0">
                          <a:solidFill>
                            <a:srgbClr val="33373D"/>
                          </a:solidFill>
                          <a:latin typeface="Arial"/>
                        </a:rPr>
                        <a:t>10</a:t>
                      </a:r>
                    </a:p>
                  </a:txBody>
                  <a:tcPr marL="73152" marR="73152" marT="27432" marB="27432">
                    <a:solidFill>
                      <a:srgbClr val="EFF3F9"/>
                    </a:solidFill>
                  </a:tcPr>
                </a:tc>
                <a:tc>
                  <a:txBody>
                    <a:bodyPr/>
                    <a:lstStyle/>
                    <a:p>
                      <a:r>
                        <a:rPr sz="1500" b="0">
                          <a:solidFill>
                            <a:srgbClr val="33373D"/>
                          </a:solidFill>
                          <a:latin typeface="Arial"/>
                        </a:rPr>
                        <a:t>4</a:t>
                      </a:r>
                    </a:p>
                  </a:txBody>
                  <a:tcPr marL="73152" marR="73152" marT="27432" marB="27432">
                    <a:solidFill>
                      <a:srgbClr val="EFF3F9"/>
                    </a:solidFill>
                  </a:tcPr>
                </a:tc>
              </a:tr>
              <a:tr h="393192">
                <a:tc>
                  <a:txBody>
                    <a:bodyPr/>
                    <a:lstStyle/>
                    <a:p/>
                  </a:txBody>
                  <a:tcPr marL="73152" marR="73152" marT="27432" marB="27432">
                    <a:solidFill>
                      <a:srgbClr val="FFFFFF"/>
                    </a:solidFill>
                  </a:tcPr>
                </a:tc>
                <a:tc>
                  <a:txBody>
                    <a:bodyPr/>
                    <a:lstStyle/>
                    <a:p>
                      <a:r>
                        <a:rPr sz="1500" b="0">
                          <a:solidFill>
                            <a:srgbClr val="33373D"/>
                          </a:solidFill>
                          <a:latin typeface="Arial"/>
                        </a:rPr>
                        <a:t>Total</a:t>
                      </a:r>
                    </a:p>
                  </a:txBody>
                  <a:tcPr marL="73152" marR="73152" marT="27432" marB="27432">
                    <a:solidFill>
                      <a:srgbClr val="FFFFFF"/>
                    </a:solidFill>
                  </a:tcPr>
                </a:tc>
                <a:tc>
                  <a:txBody>
                    <a:bodyPr/>
                    <a:lstStyle/>
                    <a:p>
                      <a:r>
                        <a:rPr sz="1500" b="0">
                          <a:solidFill>
                            <a:srgbClr val="33373D"/>
                          </a:solidFill>
                          <a:latin typeface="Arial"/>
                        </a:rPr>
                        <a:t>82</a:t>
                      </a:r>
                    </a:p>
                  </a:txBody>
                  <a:tcPr marL="73152" marR="73152" marT="27432" marB="27432">
                    <a:solidFill>
                      <a:srgbClr val="FFFFFF"/>
                    </a:solidFill>
                  </a:tcPr>
                </a:tc>
                <a:tc>
                  <a:txBody>
                    <a:bodyPr/>
                    <a:lstStyle/>
                    <a:p>
                      <a:r>
                        <a:rPr sz="1500" b="0">
                          <a:solidFill>
                            <a:srgbClr val="33373D"/>
                          </a:solidFill>
                          <a:latin typeface="Arial"/>
                        </a:rPr>
                        <a:t>34</a:t>
                      </a:r>
                    </a:p>
                  </a:txBody>
                  <a:tcPr marL="73152" marR="73152" marT="27432" marB="27432">
                    <a:solidFill>
                      <a:srgbClr val="FFFFFF"/>
                    </a:solidFill>
                  </a:tcPr>
                </a:tc>
              </a:tr>
            </a:tbl>
          </a:graphicData>
        </a:graphic>
      </p:graphicFrame>
      <p:sp>
        <p:nvSpPr>
          <p:cNvPr id="25" name="TextBox 24"/>
          <p:cNvSpPr txBox="1"/>
          <p:nvPr/>
        </p:nvSpPr>
        <p:spPr>
          <a:xfrm>
            <a:off x="822960" y="5623560"/>
            <a:ext cx="10515600" cy="640080"/>
          </a:xfrm>
          <a:prstGeom prst="rect">
            <a:avLst/>
          </a:prstGeom>
          <a:noFill/>
        </p:spPr>
        <p:txBody>
          <a:bodyPr wrap="square">
            <a:spAutoFit/>
          </a:bodyPr>
          <a:lstStyle/>
          <a:p>
            <a:pPr algn="l"/>
            <a:r>
              <a:rPr sz="1800" b="0">
                <a:solidFill>
                  <a:srgbClr val="33373D"/>
                </a:solidFill>
                <a:latin typeface="Arial"/>
              </a:rPr>
              <a:t>Donde un sistema comercial tendría gestión de inventario y de compras, aquí hay gestión de clientes API y de consumo y planes.</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21 / 41</a:t>
            </a:r>
          </a:p>
        </p:txBody>
      </p:sp>
    </p:spTree>
    <p:extLst>
      <p:ext uri="{BB962C8B-B14F-4D97-AF65-F5344CB8AC3E}">
        <p14:creationId xmlns:p14="http://schemas.microsoft.com/office/powerpoint/2010/main" val="41090064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F7C78399-1E29-27CA-5313-4AC6DD3B1930}"/>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Requisitos No Funcionales</a:t>
            </a:r>
            <a:endParaRPr sz="2700" dirty="0">
              <a:solidFill>
                <a:srgbClr val="003366"/>
              </a:solidFill>
              <a:latin typeface="Plus Jakarta Sans ExtraBold"/>
              <a:cs typeface="Plus Jakarta Sans ExtraBold"/>
            </a:endParaRPr>
          </a:p>
        </p:txBody>
      </p:sp>
      <p:graphicFrame>
        <p:nvGraphicFramePr>
          <p:cNvPr id="24" name="Table 23"/>
          <p:cNvGraphicFramePr>
            <a:graphicFrameLocks noGrp="1"/>
          </p:cNvGraphicFramePr>
          <p:nvPr/>
        </p:nvGraphicFramePr>
        <p:xfrm>
          <a:off x="685800" y="1417320"/>
          <a:ext cx="10835640" cy="4206240"/>
        </p:xfrm>
        <a:graphic>
          <a:graphicData uri="http://schemas.openxmlformats.org/drawingml/2006/table">
            <a:tbl>
              <a:tblPr firstRow="1" bandRow="1">
                <a:tableStyleId>{5C22544A-7EE6-4342-B048-85BDC9FD1C3A}</a:tableStyleId>
              </a:tblPr>
              <a:tblGrid>
                <a:gridCol w="2834640"/>
                <a:gridCol w="914400"/>
                <a:gridCol w="7086600"/>
              </a:tblGrid>
              <a:tr h="323556">
                <a:tc>
                  <a:txBody>
                    <a:bodyPr/>
                    <a:lstStyle/>
                    <a:p>
                      <a:r>
                        <a:rPr sz="1400" b="1">
                          <a:solidFill>
                            <a:srgbClr val="FFFFFF"/>
                          </a:solidFill>
                          <a:latin typeface="Arial"/>
                        </a:rPr>
                        <a:t>Categoría</a:t>
                      </a:r>
                    </a:p>
                  </a:txBody>
                  <a:tcPr marL="73152" marR="73152" marT="27432" marB="27432">
                    <a:solidFill>
                      <a:srgbClr val="1F3B73"/>
                    </a:solidFill>
                  </a:tcPr>
                </a:tc>
                <a:tc>
                  <a:txBody>
                    <a:bodyPr/>
                    <a:lstStyle/>
                    <a:p>
                      <a:r>
                        <a:rPr sz="1400" b="1">
                          <a:solidFill>
                            <a:srgbClr val="FFFFFF"/>
                          </a:solidFill>
                          <a:latin typeface="Arial"/>
                        </a:rPr>
                        <a:t>N.º</a:t>
                      </a:r>
                    </a:p>
                  </a:txBody>
                  <a:tcPr marL="73152" marR="73152" marT="27432" marB="27432">
                    <a:solidFill>
                      <a:srgbClr val="1F3B73"/>
                    </a:solidFill>
                  </a:tcPr>
                </a:tc>
                <a:tc>
                  <a:txBody>
                    <a:bodyPr/>
                    <a:lstStyle/>
                    <a:p>
                      <a:r>
                        <a:rPr sz="1400" b="1">
                          <a:solidFill>
                            <a:srgbClr val="FFFFFF"/>
                          </a:solidFill>
                          <a:latin typeface="Arial"/>
                        </a:rPr>
                        <a:t>Ejemplo</a:t>
                      </a:r>
                    </a:p>
                  </a:txBody>
                  <a:tcPr marL="73152" marR="73152" marT="27432" marB="27432">
                    <a:solidFill>
                      <a:srgbClr val="1F3B73"/>
                    </a:solidFill>
                  </a:tcPr>
                </a:tc>
              </a:tr>
              <a:tr h="323556">
                <a:tc>
                  <a:txBody>
                    <a:bodyPr/>
                    <a:lstStyle/>
                    <a:p>
                      <a:r>
                        <a:rPr sz="1400" b="0">
                          <a:solidFill>
                            <a:srgbClr val="33373D"/>
                          </a:solidFill>
                          <a:latin typeface="Arial"/>
                        </a:rPr>
                        <a:t>Rendimiento</a:t>
                      </a:r>
                    </a:p>
                  </a:txBody>
                  <a:tcPr marL="73152" marR="73152" marT="27432" marB="27432">
                    <a:solidFill>
                      <a:srgbClr val="FFFFFF"/>
                    </a:solidFill>
                  </a:tcPr>
                </a:tc>
                <a:tc>
                  <a:txBody>
                    <a:bodyPr/>
                    <a:lstStyle/>
                    <a:p>
                      <a:r>
                        <a:rPr sz="1400" b="0">
                          <a:solidFill>
                            <a:srgbClr val="33373D"/>
                          </a:solidFill>
                          <a:latin typeface="Arial"/>
                        </a:rPr>
                        <a:t>3</a:t>
                      </a:r>
                    </a:p>
                  </a:txBody>
                  <a:tcPr marL="73152" marR="73152" marT="27432" marB="27432">
                    <a:solidFill>
                      <a:srgbClr val="FFFFFF"/>
                    </a:solidFill>
                  </a:tcPr>
                </a:tc>
                <a:tc>
                  <a:txBody>
                    <a:bodyPr/>
                    <a:lstStyle/>
                    <a:p>
                      <a:r>
                        <a:rPr sz="1400" b="0">
                          <a:solidFill>
                            <a:srgbClr val="33373D"/>
                          </a:solidFill>
                          <a:latin typeface="Arial"/>
                        </a:rPr>
                        <a:t>La emisión responde en menos de tres segundos</a:t>
                      </a:r>
                    </a:p>
                  </a:txBody>
                  <a:tcPr marL="73152" marR="73152" marT="27432" marB="27432">
                    <a:solidFill>
                      <a:srgbClr val="FFFFFF"/>
                    </a:solidFill>
                  </a:tcPr>
                </a:tc>
              </a:tr>
              <a:tr h="323556">
                <a:tc>
                  <a:txBody>
                    <a:bodyPr/>
                    <a:lstStyle/>
                    <a:p>
                      <a:r>
                        <a:rPr sz="1400" b="0">
                          <a:solidFill>
                            <a:srgbClr val="33373D"/>
                          </a:solidFill>
                          <a:latin typeface="Arial"/>
                        </a:rPr>
                        <a:t>Seguridad</a:t>
                      </a:r>
                    </a:p>
                  </a:txBody>
                  <a:tcPr marL="73152" marR="73152" marT="27432" marB="27432">
                    <a:solidFill>
                      <a:srgbClr val="EFF3F9"/>
                    </a:solidFill>
                  </a:tcPr>
                </a:tc>
                <a:tc>
                  <a:txBody>
                    <a:bodyPr/>
                    <a:lstStyle/>
                    <a:p>
                      <a:r>
                        <a:rPr sz="1400" b="0">
                          <a:solidFill>
                            <a:srgbClr val="33373D"/>
                          </a:solidFill>
                          <a:latin typeface="Arial"/>
                        </a:rPr>
                        <a:t>6</a:t>
                      </a:r>
                    </a:p>
                  </a:txBody>
                  <a:tcPr marL="73152" marR="73152" marT="27432" marB="27432">
                    <a:solidFill>
                      <a:srgbClr val="EFF3F9"/>
                    </a:solidFill>
                  </a:tcPr>
                </a:tc>
                <a:tc>
                  <a:txBody>
                    <a:bodyPr/>
                    <a:lstStyle/>
                    <a:p>
                      <a:r>
                        <a:rPr sz="1400" b="0">
                          <a:solidFill>
                            <a:srgbClr val="33373D"/>
                          </a:solidFill>
                          <a:latin typeface="Arial"/>
                        </a:rPr>
                        <a:t>Del secreto de las llaves solo se conserva su hash</a:t>
                      </a:r>
                    </a:p>
                  </a:txBody>
                  <a:tcPr marL="73152" marR="73152" marT="27432" marB="27432">
                    <a:solidFill>
                      <a:srgbClr val="EFF3F9"/>
                    </a:solidFill>
                  </a:tcPr>
                </a:tc>
              </a:tr>
              <a:tr h="323556">
                <a:tc>
                  <a:txBody>
                    <a:bodyPr/>
                    <a:lstStyle/>
                    <a:p>
                      <a:r>
                        <a:rPr sz="1400" b="0">
                          <a:solidFill>
                            <a:srgbClr val="33373D"/>
                          </a:solidFill>
                          <a:latin typeface="Arial"/>
                        </a:rPr>
                        <a:t>Integridad de los datos</a:t>
                      </a:r>
                    </a:p>
                  </a:txBody>
                  <a:tcPr marL="73152" marR="73152" marT="27432" marB="27432">
                    <a:solidFill>
                      <a:srgbClr val="FFFFFF"/>
                    </a:solidFill>
                  </a:tcPr>
                </a:tc>
                <a:tc>
                  <a:txBody>
                    <a:bodyPr/>
                    <a:lstStyle/>
                    <a:p>
                      <a:r>
                        <a:rPr sz="1400" b="0">
                          <a:solidFill>
                            <a:srgbClr val="33373D"/>
                          </a:solidFill>
                          <a:latin typeface="Arial"/>
                        </a:rPr>
                        <a:t>4</a:t>
                      </a:r>
                    </a:p>
                  </a:txBody>
                  <a:tcPr marL="73152" marR="73152" marT="27432" marB="27432">
                    <a:solidFill>
                      <a:srgbClr val="FFFFFF"/>
                    </a:solidFill>
                  </a:tcPr>
                </a:tc>
                <a:tc>
                  <a:txBody>
                    <a:bodyPr/>
                    <a:lstStyle/>
                    <a:p>
                      <a:r>
                        <a:rPr sz="1400" b="0">
                          <a:solidFill>
                            <a:srgbClr val="33373D"/>
                          </a:solidFill>
                          <a:latin typeface="Arial"/>
                        </a:rPr>
                        <a:t>Dos documentos del mismo emisor no pueden compartir número</a:t>
                      </a:r>
                    </a:p>
                  </a:txBody>
                  <a:tcPr marL="73152" marR="73152" marT="27432" marB="27432">
                    <a:solidFill>
                      <a:srgbClr val="FFFFFF"/>
                    </a:solidFill>
                  </a:tcPr>
                </a:tc>
              </a:tr>
              <a:tr h="323556">
                <a:tc>
                  <a:txBody>
                    <a:bodyPr/>
                    <a:lstStyle/>
                    <a:p>
                      <a:r>
                        <a:rPr sz="1400" b="0">
                          <a:solidFill>
                            <a:srgbClr val="33373D"/>
                          </a:solidFill>
                          <a:latin typeface="Arial"/>
                        </a:rPr>
                        <a:t>Trazabilidad</a:t>
                      </a:r>
                    </a:p>
                  </a:txBody>
                  <a:tcPr marL="73152" marR="73152" marT="27432" marB="27432">
                    <a:solidFill>
                      <a:srgbClr val="EFF3F9"/>
                    </a:solidFill>
                  </a:tcPr>
                </a:tc>
                <a:tc>
                  <a:txBody>
                    <a:bodyPr/>
                    <a:lstStyle/>
                    <a:p>
                      <a:r>
                        <a:rPr sz="1400" b="0">
                          <a:solidFill>
                            <a:srgbClr val="33373D"/>
                          </a:solidFill>
                          <a:latin typeface="Arial"/>
                        </a:rPr>
                        <a:t>2</a:t>
                      </a:r>
                    </a:p>
                  </a:txBody>
                  <a:tcPr marL="73152" marR="73152" marT="27432" marB="27432">
                    <a:solidFill>
                      <a:srgbClr val="EFF3F9"/>
                    </a:solidFill>
                  </a:tcPr>
                </a:tc>
                <a:tc>
                  <a:txBody>
                    <a:bodyPr/>
                    <a:lstStyle/>
                    <a:p>
                      <a:r>
                        <a:rPr sz="1400" b="0">
                          <a:solidFill>
                            <a:srgbClr val="33373D"/>
                          </a:solidFill>
                          <a:latin typeface="Arial"/>
                        </a:rPr>
                        <a:t>Toda escritura queda registrada y el rastro no se puede editar</a:t>
                      </a:r>
                    </a:p>
                  </a:txBody>
                  <a:tcPr marL="73152" marR="73152" marT="27432" marB="27432">
                    <a:solidFill>
                      <a:srgbClr val="EFF3F9"/>
                    </a:solidFill>
                  </a:tcPr>
                </a:tc>
              </a:tr>
              <a:tr h="323556">
                <a:tc>
                  <a:txBody>
                    <a:bodyPr/>
                    <a:lstStyle/>
                    <a:p>
                      <a:r>
                        <a:rPr sz="1400" b="0">
                          <a:solidFill>
                            <a:srgbClr val="33373D"/>
                          </a:solidFill>
                          <a:latin typeface="Arial"/>
                        </a:rPr>
                        <a:t>Disponibilidad</a:t>
                      </a:r>
                    </a:p>
                  </a:txBody>
                  <a:tcPr marL="73152" marR="73152" marT="27432" marB="27432">
                    <a:solidFill>
                      <a:srgbClr val="FFFFFF"/>
                    </a:solidFill>
                  </a:tcPr>
                </a:tc>
                <a:tc>
                  <a:txBody>
                    <a:bodyPr/>
                    <a:lstStyle/>
                    <a:p>
                      <a:r>
                        <a:rPr sz="1400" b="0">
                          <a:solidFill>
                            <a:srgbClr val="33373D"/>
                          </a:solidFill>
                          <a:latin typeface="Arial"/>
                        </a:rPr>
                        <a:t>2</a:t>
                      </a:r>
                    </a:p>
                  </a:txBody>
                  <a:tcPr marL="73152" marR="73152" marT="27432" marB="27432">
                    <a:solidFill>
                      <a:srgbClr val="FFFFFF"/>
                    </a:solidFill>
                  </a:tcPr>
                </a:tc>
                <a:tc>
                  <a:txBody>
                    <a:bodyPr/>
                    <a:lstStyle/>
                    <a:p>
                      <a:r>
                        <a:rPr sz="1400" b="0">
                          <a:solidFill>
                            <a:srgbClr val="33373D"/>
                          </a:solidFill>
                          <a:latin typeface="Arial"/>
                        </a:rPr>
                        <a:t>Un servicio externo caído no impide emitir</a:t>
                      </a:r>
                    </a:p>
                  </a:txBody>
                  <a:tcPr marL="73152" marR="73152" marT="27432" marB="27432">
                    <a:solidFill>
                      <a:srgbClr val="FFFFFF"/>
                    </a:solidFill>
                  </a:tcPr>
                </a:tc>
              </a:tr>
              <a:tr h="323556">
                <a:tc>
                  <a:txBody>
                    <a:bodyPr/>
                    <a:lstStyle/>
                    <a:p>
                      <a:r>
                        <a:rPr sz="1400" b="0">
                          <a:solidFill>
                            <a:srgbClr val="33373D"/>
                          </a:solidFill>
                          <a:latin typeface="Arial"/>
                        </a:rPr>
                        <a:t>Usabilidad</a:t>
                      </a:r>
                    </a:p>
                  </a:txBody>
                  <a:tcPr marL="73152" marR="73152" marT="27432" marB="27432">
                    <a:solidFill>
                      <a:srgbClr val="EFF3F9"/>
                    </a:solidFill>
                  </a:tcPr>
                </a:tc>
                <a:tc>
                  <a:txBody>
                    <a:bodyPr/>
                    <a:lstStyle/>
                    <a:p>
                      <a:r>
                        <a:rPr sz="1400" b="0">
                          <a:solidFill>
                            <a:srgbClr val="33373D"/>
                          </a:solidFill>
                          <a:latin typeface="Arial"/>
                        </a:rPr>
                        <a:t>3</a:t>
                      </a:r>
                    </a:p>
                  </a:txBody>
                  <a:tcPr marL="73152" marR="73152" marT="27432" marB="27432">
                    <a:solidFill>
                      <a:srgbClr val="EFF3F9"/>
                    </a:solidFill>
                  </a:tcPr>
                </a:tc>
                <a:tc>
                  <a:txBody>
                    <a:bodyPr/>
                    <a:lstStyle/>
                    <a:p>
                      <a:r>
                        <a:rPr sz="1400" b="0">
                          <a:solidFill>
                            <a:srgbClr val="33373D"/>
                          </a:solidFill>
                          <a:latin typeface="Arial"/>
                        </a:rPr>
                        <a:t>Cada destino tiene un solo lugar en la navegación</a:t>
                      </a:r>
                    </a:p>
                  </a:txBody>
                  <a:tcPr marL="73152" marR="73152" marT="27432" marB="27432">
                    <a:solidFill>
                      <a:srgbClr val="EFF3F9"/>
                    </a:solidFill>
                  </a:tcPr>
                </a:tc>
              </a:tr>
              <a:tr h="323556">
                <a:tc>
                  <a:txBody>
                    <a:bodyPr/>
                    <a:lstStyle/>
                    <a:p>
                      <a:r>
                        <a:rPr sz="1400" b="0">
                          <a:solidFill>
                            <a:srgbClr val="33373D"/>
                          </a:solidFill>
                          <a:latin typeface="Arial"/>
                        </a:rPr>
                        <a:t>Compatibilidad</a:t>
                      </a:r>
                    </a:p>
                  </a:txBody>
                  <a:tcPr marL="73152" marR="73152" marT="27432" marB="27432">
                    <a:solidFill>
                      <a:srgbClr val="FFFFFF"/>
                    </a:solidFill>
                  </a:tcPr>
                </a:tc>
                <a:tc>
                  <a:txBody>
                    <a:bodyPr/>
                    <a:lstStyle/>
                    <a:p>
                      <a:r>
                        <a:rPr sz="1400" b="0">
                          <a:solidFill>
                            <a:srgbClr val="33373D"/>
                          </a:solidFill>
                          <a:latin typeface="Arial"/>
                        </a:rPr>
                        <a:t>2</a:t>
                      </a:r>
                    </a:p>
                  </a:txBody>
                  <a:tcPr marL="73152" marR="73152" marT="27432" marB="27432">
                    <a:solidFill>
                      <a:srgbClr val="FFFFFF"/>
                    </a:solidFill>
                  </a:tcPr>
                </a:tc>
                <a:tc>
                  <a:txBody>
                    <a:bodyPr/>
                    <a:lstStyle/>
                    <a:p>
                      <a:r>
                        <a:rPr sz="1400" b="0">
                          <a:solidFill>
                            <a:srgbClr val="33373D"/>
                          </a:solidFill>
                          <a:latin typeface="Arial"/>
                        </a:rPr>
                        <a:t>Funciona en los navegadores vigentes sin instalación local</a:t>
                      </a:r>
                    </a:p>
                  </a:txBody>
                  <a:tcPr marL="73152" marR="73152" marT="27432" marB="27432">
                    <a:solidFill>
                      <a:srgbClr val="FFFFFF"/>
                    </a:solidFill>
                  </a:tcPr>
                </a:tc>
              </a:tr>
              <a:tr h="323556">
                <a:tc>
                  <a:txBody>
                    <a:bodyPr/>
                    <a:lstStyle/>
                    <a:p>
                      <a:r>
                        <a:rPr sz="1400" b="0">
                          <a:solidFill>
                            <a:srgbClr val="33373D"/>
                          </a:solidFill>
                          <a:latin typeface="Arial"/>
                        </a:rPr>
                        <a:t>Cumplimiento normativo</a:t>
                      </a:r>
                    </a:p>
                  </a:txBody>
                  <a:tcPr marL="73152" marR="73152" marT="27432" marB="27432">
                    <a:solidFill>
                      <a:srgbClr val="EFF3F9"/>
                    </a:solidFill>
                  </a:tcPr>
                </a:tc>
                <a:tc>
                  <a:txBody>
                    <a:bodyPr/>
                    <a:lstStyle/>
                    <a:p>
                      <a:r>
                        <a:rPr sz="1400" b="0">
                          <a:solidFill>
                            <a:srgbClr val="33373D"/>
                          </a:solidFill>
                          <a:latin typeface="Arial"/>
                        </a:rPr>
                        <a:t>3</a:t>
                      </a:r>
                    </a:p>
                  </a:txBody>
                  <a:tcPr marL="73152" marR="73152" marT="27432" marB="27432">
                    <a:solidFill>
                      <a:srgbClr val="EFF3F9"/>
                    </a:solidFill>
                  </a:tcPr>
                </a:tc>
                <a:tc>
                  <a:txBody>
                    <a:bodyPr/>
                    <a:lstStyle/>
                    <a:p>
                      <a:r>
                        <a:rPr sz="1400" b="0">
                          <a:solidFill>
                            <a:srgbClr val="33373D"/>
                          </a:solidFill>
                          <a:latin typeface="Arial"/>
                        </a:rPr>
                        <a:t>El documento se genera bajo el estándar UBL 2.1</a:t>
                      </a:r>
                    </a:p>
                  </a:txBody>
                  <a:tcPr marL="73152" marR="73152" marT="27432" marB="27432">
                    <a:solidFill>
                      <a:srgbClr val="EFF3F9"/>
                    </a:solidFill>
                  </a:tcPr>
                </a:tc>
              </a:tr>
              <a:tr h="323556">
                <a:tc>
                  <a:txBody>
                    <a:bodyPr/>
                    <a:lstStyle/>
                    <a:p>
                      <a:r>
                        <a:rPr sz="1400" b="0">
                          <a:solidFill>
                            <a:srgbClr val="33373D"/>
                          </a:solidFill>
                          <a:latin typeface="Arial"/>
                        </a:rPr>
                        <a:t>Mantenibilidad</a:t>
                      </a:r>
                    </a:p>
                  </a:txBody>
                  <a:tcPr marL="73152" marR="73152" marT="27432" marB="27432">
                    <a:solidFill>
                      <a:srgbClr val="FFFFFF"/>
                    </a:solidFill>
                  </a:tcPr>
                </a:tc>
                <a:tc>
                  <a:txBody>
                    <a:bodyPr/>
                    <a:lstStyle/>
                    <a:p>
                      <a:r>
                        <a:rPr sz="1400" b="0">
                          <a:solidFill>
                            <a:srgbClr val="33373D"/>
                          </a:solidFill>
                          <a:latin typeface="Arial"/>
                        </a:rPr>
                        <a:t>4</a:t>
                      </a:r>
                    </a:p>
                  </a:txBody>
                  <a:tcPr marL="73152" marR="73152" marT="27432" marB="27432">
                    <a:solidFill>
                      <a:srgbClr val="FFFFFF"/>
                    </a:solidFill>
                  </a:tcPr>
                </a:tc>
                <a:tc>
                  <a:txBody>
                    <a:bodyPr/>
                    <a:lstStyle/>
                    <a:p>
                      <a:r>
                        <a:rPr sz="1400" b="0">
                          <a:solidFill>
                            <a:srgbClr val="33373D"/>
                          </a:solidFill>
                          <a:latin typeface="Arial"/>
                        </a:rPr>
                        <a:t>La aritmética tributaria está implementada una sola vez</a:t>
                      </a:r>
                    </a:p>
                  </a:txBody>
                  <a:tcPr marL="73152" marR="73152" marT="27432" marB="27432">
                    <a:solidFill>
                      <a:srgbClr val="FFFFFF"/>
                    </a:solidFill>
                  </a:tcPr>
                </a:tc>
              </a:tr>
              <a:tr h="323556">
                <a:tc>
                  <a:txBody>
                    <a:bodyPr/>
                    <a:lstStyle/>
                    <a:p>
                      <a:r>
                        <a:rPr sz="1400" b="0">
                          <a:solidFill>
                            <a:srgbClr val="33373D"/>
                          </a:solidFill>
                          <a:latin typeface="Arial"/>
                        </a:rPr>
                        <a:t>Escalabilidad</a:t>
                      </a:r>
                    </a:p>
                  </a:txBody>
                  <a:tcPr marL="73152" marR="73152" marT="27432" marB="27432">
                    <a:solidFill>
                      <a:srgbClr val="EFF3F9"/>
                    </a:solidFill>
                  </a:tcPr>
                </a:tc>
                <a:tc>
                  <a:txBody>
                    <a:bodyPr/>
                    <a:lstStyle/>
                    <a:p>
                      <a:r>
                        <a:rPr sz="1400" b="0">
                          <a:solidFill>
                            <a:srgbClr val="33373D"/>
                          </a:solidFill>
                          <a:latin typeface="Arial"/>
                        </a:rPr>
                        <a:t>2</a:t>
                      </a:r>
                    </a:p>
                  </a:txBody>
                  <a:tcPr marL="73152" marR="73152" marT="27432" marB="27432">
                    <a:solidFill>
                      <a:srgbClr val="EFF3F9"/>
                    </a:solidFill>
                  </a:tcPr>
                </a:tc>
                <a:tc>
                  <a:txBody>
                    <a:bodyPr/>
                    <a:lstStyle/>
                    <a:p>
                      <a:r>
                        <a:rPr sz="1400" b="0">
                          <a:solidFill>
                            <a:srgbClr val="33373D"/>
                          </a:solidFill>
                          <a:latin typeface="Arial"/>
                        </a:rPr>
                        <a:t>Admite nuevas empresas emisoras sin cambios en el código</a:t>
                      </a:r>
                    </a:p>
                  </a:txBody>
                  <a:tcPr marL="73152" marR="73152" marT="27432" marB="27432">
                    <a:solidFill>
                      <a:srgbClr val="EFF3F9"/>
                    </a:solidFill>
                  </a:tcPr>
                </a:tc>
              </a:tr>
              <a:tr h="323556">
                <a:tc>
                  <a:txBody>
                    <a:bodyPr/>
                    <a:lstStyle/>
                    <a:p>
                      <a:r>
                        <a:rPr sz="1400" b="0">
                          <a:solidFill>
                            <a:srgbClr val="33373D"/>
                          </a:solidFill>
                          <a:latin typeface="Arial"/>
                        </a:rPr>
                        <a:t>Portabilidad</a:t>
                      </a:r>
                    </a:p>
                  </a:txBody>
                  <a:tcPr marL="73152" marR="73152" marT="27432" marB="27432">
                    <a:solidFill>
                      <a:srgbClr val="FFFFFF"/>
                    </a:solidFill>
                  </a:tcPr>
                </a:tc>
                <a:tc>
                  <a:txBody>
                    <a:bodyPr/>
                    <a:lstStyle/>
                    <a:p>
                      <a:r>
                        <a:rPr sz="1400" b="0">
                          <a:solidFill>
                            <a:srgbClr val="33373D"/>
                          </a:solidFill>
                          <a:latin typeface="Arial"/>
                        </a:rPr>
                        <a:t>1</a:t>
                      </a:r>
                    </a:p>
                  </a:txBody>
                  <a:tcPr marL="73152" marR="73152" marT="27432" marB="27432">
                    <a:solidFill>
                      <a:srgbClr val="FFFFFF"/>
                    </a:solidFill>
                  </a:tcPr>
                </a:tc>
                <a:tc>
                  <a:txBody>
                    <a:bodyPr/>
                    <a:lstStyle/>
                    <a:p>
                      <a:r>
                        <a:rPr sz="1400" b="0">
                          <a:solidFill>
                            <a:srgbClr val="33373D"/>
                          </a:solidFill>
                          <a:latin typeface="Arial"/>
                        </a:rPr>
                        <a:t>Opera desde cualquier sistema operativo con un navegador</a:t>
                      </a:r>
                    </a:p>
                  </a:txBody>
                  <a:tcPr marL="73152" marR="73152" marT="27432" marB="27432">
                    <a:solidFill>
                      <a:srgbClr val="FFFFFF"/>
                    </a:solidFill>
                  </a:tcPr>
                </a:tc>
              </a:tr>
              <a:tr h="323568">
                <a:tc>
                  <a:txBody>
                    <a:bodyPr/>
                    <a:lstStyle/>
                    <a:p>
                      <a:r>
                        <a:rPr sz="1400" b="0">
                          <a:solidFill>
                            <a:srgbClr val="33373D"/>
                          </a:solidFill>
                          <a:latin typeface="Arial"/>
                        </a:rPr>
                        <a:t>Total</a:t>
                      </a:r>
                    </a:p>
                  </a:txBody>
                  <a:tcPr marL="73152" marR="73152" marT="27432" marB="27432">
                    <a:solidFill>
                      <a:srgbClr val="EFF3F9"/>
                    </a:solidFill>
                  </a:tcPr>
                </a:tc>
                <a:tc>
                  <a:txBody>
                    <a:bodyPr/>
                    <a:lstStyle/>
                    <a:p>
                      <a:r>
                        <a:rPr sz="1400" b="0">
                          <a:solidFill>
                            <a:srgbClr val="33373D"/>
                          </a:solidFill>
                          <a:latin typeface="Arial"/>
                        </a:rPr>
                        <a:t>32</a:t>
                      </a:r>
                    </a:p>
                  </a:txBody>
                  <a:tcPr marL="73152" marR="73152" marT="27432" marB="27432">
                    <a:solidFill>
                      <a:srgbClr val="EFF3F9"/>
                    </a:solidFill>
                  </a:tcPr>
                </a:tc>
                <a:tc>
                  <a:txBody>
                    <a:bodyPr/>
                    <a:lstStyle/>
                    <a:p/>
                  </a:txBody>
                  <a:tcPr marL="73152" marR="73152" marT="27432" marB="27432">
                    <a:solidFill>
                      <a:srgbClr val="EFF3F9"/>
                    </a:solidFill>
                  </a:tcPr>
                </a:tc>
              </a:tr>
            </a:tbl>
          </a:graphicData>
        </a:graphic>
      </p:graphicFrame>
      <p:sp>
        <p:nvSpPr>
          <p:cNvPr id="25" name="TextBox 24"/>
          <p:cNvSpPr txBox="1"/>
          <p:nvPr/>
        </p:nvSpPr>
        <p:spPr>
          <a:xfrm>
            <a:off x="685800" y="5806440"/>
            <a:ext cx="10835640" cy="457200"/>
          </a:xfrm>
          <a:prstGeom prst="rect">
            <a:avLst/>
          </a:prstGeom>
          <a:noFill/>
        </p:spPr>
        <p:txBody>
          <a:bodyPr wrap="square">
            <a:spAutoFit/>
          </a:bodyPr>
          <a:lstStyle/>
          <a:p>
            <a:pPr algn="l"/>
            <a:r>
              <a:rPr sz="1700" b="0">
                <a:solidFill>
                  <a:srgbClr val="6B7280"/>
                </a:solidFill>
                <a:latin typeface="Arial"/>
              </a:rPr>
              <a:t>Cada requisito indica cómo se comprueba, porque uno que no lo indica es una aspiración y no un requisito.</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22 / 41</a:t>
            </a:r>
          </a:p>
        </p:txBody>
      </p:sp>
    </p:spTree>
    <p:extLst>
      <p:ext uri="{BB962C8B-B14F-4D97-AF65-F5344CB8AC3E}">
        <p14:creationId xmlns:p14="http://schemas.microsoft.com/office/powerpoint/2010/main" val="6139588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282;p23">
            <a:extLst>
              <a:ext uri="{FF2B5EF4-FFF2-40B4-BE49-F238E27FC236}">
                <a16:creationId xmlns:a16="http://schemas.microsoft.com/office/drawing/2014/main" id="{A5A9BDB2-C597-8A4A-8476-8F00C90E6F0D}"/>
              </a:ext>
            </a:extLst>
          </p:cNvPr>
          <p:cNvSpPr txBox="1"/>
          <p:nvPr/>
        </p:nvSpPr>
        <p:spPr>
          <a:xfrm>
            <a:off x="3585431" y="2982671"/>
            <a:ext cx="5021137" cy="89265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III. DISEÑO</a:t>
            </a:r>
            <a:endParaRPr sz="4800" b="1" i="0" u="none" strike="noStrike" cap="none" dirty="0">
              <a:solidFill>
                <a:schemeClr val="lt1"/>
              </a:solidFill>
              <a:latin typeface="Arial"/>
              <a:ea typeface="Arial"/>
              <a:cs typeface="Arial"/>
              <a:sym typeface="Arial"/>
            </a:endParaRPr>
          </a:p>
        </p:txBody>
      </p:sp>
      <p:pic>
        <p:nvPicPr>
          <p:cNvPr id="3" name="Google Shape;84;p13" descr="image.png">
            <a:extLst>
              <a:ext uri="{FF2B5EF4-FFF2-40B4-BE49-F238E27FC236}">
                <a16:creationId xmlns:a16="http://schemas.microsoft.com/office/drawing/2014/main" id="{BBC8D485-FC01-5E30-AE40-B0421AADFC22}"/>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4" name="TextBox 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23 / 41</a:t>
            </a:r>
          </a:p>
        </p:txBody>
      </p:sp>
    </p:spTree>
    <p:extLst>
      <p:ext uri="{BB962C8B-B14F-4D97-AF65-F5344CB8AC3E}">
        <p14:creationId xmlns:p14="http://schemas.microsoft.com/office/powerpoint/2010/main" val="42182163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7AA0D39-E2EC-02DC-5EF0-8FAFFA955D29}"/>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Casos de Uso</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80160"/>
            <a:ext cx="10607040" cy="822960"/>
          </a:xfrm>
          <a:prstGeom prst="rect">
            <a:avLst/>
          </a:prstGeom>
          <a:noFill/>
        </p:spPr>
        <p:txBody>
          <a:bodyPr wrap="square">
            <a:spAutoFit/>
          </a:bodyPr>
          <a:lstStyle/>
          <a:p>
            <a:pPr algn="l"/>
            <a:r>
              <a:rPr sz="1800" b="0">
                <a:solidFill>
                  <a:srgbClr val="33373D"/>
                </a:solidFill>
                <a:latin typeface="Arial"/>
              </a:rPr>
              <a:t>El análisis identificó 56 casos de uso agrupados en los ocho módulos del sistema, con seis actores. Dos de ellos no son personas, ya que uno es el sistema externo que consume la API y el otro es quien recibe el documento emitido.</a:t>
            </a:r>
          </a:p>
        </p:txBody>
      </p:sp>
      <p:pic>
        <p:nvPicPr>
          <p:cNvPr id="25" name="Picture 24" descr="DCU-00 general.png"/>
          <p:cNvPicPr>
            <a:picLocks noChangeAspect="1"/>
          </p:cNvPicPr>
          <p:nvPr/>
        </p:nvPicPr>
        <p:blipFill>
          <a:blip r:embed="rId6"/>
          <a:stretch>
            <a:fillRect/>
          </a:stretch>
        </p:blipFill>
        <p:spPr>
          <a:xfrm>
            <a:off x="4157722" y="2148840"/>
            <a:ext cx="3846074" cy="3566159"/>
          </a:xfrm>
          <a:prstGeom prst="rect">
            <a:avLst/>
          </a:prstGeom>
        </p:spPr>
      </p:pic>
      <p:sp>
        <p:nvSpPr>
          <p:cNvPr id="26" name="TextBox 25"/>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Diagrama general de casos de uso. Elaboración propia.</a:t>
            </a:r>
          </a:p>
        </p:txBody>
      </p:sp>
      <p:sp>
        <p:nvSpPr>
          <p:cNvPr id="27" name="TextBox 26"/>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24 / 41</a:t>
            </a:r>
          </a:p>
        </p:txBody>
      </p:sp>
    </p:spTree>
    <p:extLst>
      <p:ext uri="{BB962C8B-B14F-4D97-AF65-F5344CB8AC3E}">
        <p14:creationId xmlns:p14="http://schemas.microsoft.com/office/powerpoint/2010/main" val="30389313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Documentación de Casos de Uso</a:t>
            </a:r>
            <a:endParaRPr sz="2700" dirty="0">
              <a:solidFill>
                <a:srgbClr val="003366"/>
              </a:solidFill>
              <a:latin typeface="Plus Jakarta Sans ExtraBold"/>
              <a:cs typeface="Plus Jakarta Sans ExtraBold"/>
            </a:endParaRPr>
          </a:p>
        </p:txBody>
      </p:sp>
      <p:graphicFrame>
        <p:nvGraphicFramePr>
          <p:cNvPr id="24" name="Table 23"/>
          <p:cNvGraphicFramePr>
            <a:graphicFrameLocks noGrp="1"/>
          </p:cNvGraphicFramePr>
          <p:nvPr/>
        </p:nvGraphicFramePr>
        <p:xfrm>
          <a:off x="685800" y="1508760"/>
          <a:ext cx="10835640" cy="3931920"/>
        </p:xfrm>
        <a:graphic>
          <a:graphicData uri="http://schemas.openxmlformats.org/drawingml/2006/table">
            <a:tbl>
              <a:tblPr firstRow="1" bandRow="1">
                <a:tableStyleId>{5C22544A-7EE6-4342-B048-85BDC9FD1C3A}</a:tableStyleId>
              </a:tblPr>
              <a:tblGrid>
                <a:gridCol w="2286000"/>
                <a:gridCol w="8549640"/>
              </a:tblGrid>
              <a:tr h="491490">
                <a:tc>
                  <a:txBody>
                    <a:bodyPr/>
                    <a:lstStyle/>
                    <a:p>
                      <a:r>
                        <a:rPr sz="1600" b="1">
                          <a:solidFill>
                            <a:srgbClr val="FFFFFF"/>
                          </a:solidFill>
                          <a:latin typeface="Arial"/>
                        </a:rPr>
                        <a:t>CU-08</a:t>
                      </a:r>
                    </a:p>
                  </a:txBody>
                  <a:tcPr marL="73152" marR="73152" marT="27432" marB="27432">
                    <a:solidFill>
                      <a:srgbClr val="1F3B73"/>
                    </a:solidFill>
                  </a:tcPr>
                </a:tc>
                <a:tc>
                  <a:txBody>
                    <a:bodyPr/>
                    <a:lstStyle/>
                    <a:p>
                      <a:r>
                        <a:rPr sz="1600" b="1">
                          <a:solidFill>
                            <a:srgbClr val="FFFFFF"/>
                          </a:solidFill>
                          <a:latin typeface="Arial"/>
                        </a:rPr>
                        <a:t>Emitir factura de venta</a:t>
                      </a:r>
                    </a:p>
                  </a:txBody>
                  <a:tcPr marL="73152" marR="73152" marT="27432" marB="27432">
                    <a:solidFill>
                      <a:srgbClr val="1F3B73"/>
                    </a:solidFill>
                  </a:tcPr>
                </a:tc>
              </a:tr>
              <a:tr h="491490">
                <a:tc>
                  <a:txBody>
                    <a:bodyPr/>
                    <a:lstStyle/>
                    <a:p>
                      <a:r>
                        <a:rPr sz="1600" b="0">
                          <a:solidFill>
                            <a:srgbClr val="33373D"/>
                          </a:solidFill>
                          <a:latin typeface="Arial"/>
                        </a:rPr>
                        <a:t>Actores</a:t>
                      </a:r>
                    </a:p>
                  </a:txBody>
                  <a:tcPr marL="73152" marR="73152" marT="27432" marB="27432">
                    <a:solidFill>
                      <a:srgbClr val="FFFFFF"/>
                    </a:solidFill>
                  </a:tcPr>
                </a:tc>
                <a:tc>
                  <a:txBody>
                    <a:bodyPr/>
                    <a:lstStyle/>
                    <a:p>
                      <a:r>
                        <a:rPr sz="1600" b="0">
                          <a:solidFill>
                            <a:srgbClr val="33373D"/>
                          </a:solidFill>
                          <a:latin typeface="Arial"/>
                        </a:rPr>
                        <a:t>Sistema cliente, Cajero</a:t>
                      </a:r>
                    </a:p>
                  </a:txBody>
                  <a:tcPr marL="73152" marR="73152" marT="27432" marB="27432">
                    <a:solidFill>
                      <a:srgbClr val="FFFFFF"/>
                    </a:solidFill>
                  </a:tcPr>
                </a:tc>
              </a:tr>
              <a:tr h="491490">
                <a:tc>
                  <a:txBody>
                    <a:bodyPr/>
                    <a:lstStyle/>
                    <a:p>
                      <a:r>
                        <a:rPr sz="1600" b="0">
                          <a:solidFill>
                            <a:srgbClr val="33373D"/>
                          </a:solidFill>
                          <a:latin typeface="Arial"/>
                        </a:rPr>
                        <a:t>Precondición</a:t>
                      </a:r>
                    </a:p>
                  </a:txBody>
                  <a:tcPr marL="73152" marR="73152" marT="27432" marB="27432">
                    <a:solidFill>
                      <a:srgbClr val="EFF3F9"/>
                    </a:solidFill>
                  </a:tcPr>
                </a:tc>
                <a:tc>
                  <a:txBody>
                    <a:bodyPr/>
                    <a:lstStyle/>
                    <a:p>
                      <a:r>
                        <a:rPr sz="1600" b="0">
                          <a:solidFill>
                            <a:srgbClr val="33373D"/>
                          </a:solidFill>
                          <a:latin typeface="Arial"/>
                        </a:rPr>
                        <a:t>El cliente tiene llave válida, resolución vigente y cupo disponible en el mes</a:t>
                      </a:r>
                    </a:p>
                  </a:txBody>
                  <a:tcPr marL="73152" marR="73152" marT="27432" marB="27432">
                    <a:solidFill>
                      <a:srgbClr val="EFF3F9"/>
                    </a:solidFill>
                  </a:tcPr>
                </a:tc>
              </a:tr>
              <a:tr h="491490">
                <a:tc>
                  <a:txBody>
                    <a:bodyPr/>
                    <a:lstStyle/>
                    <a:p>
                      <a:r>
                        <a:rPr sz="1600" b="0">
                          <a:solidFill>
                            <a:srgbClr val="33373D"/>
                          </a:solidFill>
                          <a:latin typeface="Arial"/>
                        </a:rPr>
                        <a:t>Pasos 1 a 4</a:t>
                      </a:r>
                    </a:p>
                  </a:txBody>
                  <a:tcPr marL="73152" marR="73152" marT="27432" marB="27432">
                    <a:solidFill>
                      <a:srgbClr val="FFFFFF"/>
                    </a:solidFill>
                  </a:tcPr>
                </a:tc>
                <a:tc>
                  <a:txBody>
                    <a:bodyPr/>
                    <a:lstStyle/>
                    <a:p>
                      <a:r>
                        <a:rPr sz="1600" b="0">
                          <a:solidFill>
                            <a:srgbClr val="33373D"/>
                          </a:solidFill>
                          <a:latin typeface="Arial"/>
                        </a:rPr>
                        <a:t>Recibe los datos, valida la petición, comprueba el cupo y reserva el consecutivo autorizado</a:t>
                      </a:r>
                    </a:p>
                  </a:txBody>
                  <a:tcPr marL="73152" marR="73152" marT="27432" marB="27432">
                    <a:solidFill>
                      <a:srgbClr val="FFFFFF"/>
                    </a:solidFill>
                  </a:tcPr>
                </a:tc>
              </a:tr>
              <a:tr h="491490">
                <a:tc>
                  <a:txBody>
                    <a:bodyPr/>
                    <a:lstStyle/>
                    <a:p>
                      <a:r>
                        <a:rPr sz="1600" b="0">
                          <a:solidFill>
                            <a:srgbClr val="33373D"/>
                          </a:solidFill>
                          <a:latin typeface="Arial"/>
                        </a:rPr>
                        <a:t>Pasos 5 a 8</a:t>
                      </a:r>
                    </a:p>
                  </a:txBody>
                  <a:tcPr marL="73152" marR="73152" marT="27432" marB="27432">
                    <a:solidFill>
                      <a:srgbClr val="EFF3F9"/>
                    </a:solidFill>
                  </a:tcPr>
                </a:tc>
                <a:tc>
                  <a:txBody>
                    <a:bodyPr/>
                    <a:lstStyle/>
                    <a:p>
                      <a:r>
                        <a:rPr sz="1600" b="0">
                          <a:solidFill>
                            <a:srgbClr val="33373D"/>
                          </a:solidFill>
                          <a:latin typeface="Arial"/>
                        </a:rPr>
                        <a:t>Calcula los totales, guarda el documento, genera el CUFE, el PDF y el XML, y responde</a:t>
                      </a:r>
                    </a:p>
                  </a:txBody>
                  <a:tcPr marL="73152" marR="73152" marT="27432" marB="27432">
                    <a:solidFill>
                      <a:srgbClr val="EFF3F9"/>
                    </a:solidFill>
                  </a:tcPr>
                </a:tc>
              </a:tr>
              <a:tr h="491490">
                <a:tc>
                  <a:txBody>
                    <a:bodyPr/>
                    <a:lstStyle/>
                    <a:p>
                      <a:r>
                        <a:rPr sz="1600" b="0">
                          <a:solidFill>
                            <a:srgbClr val="33373D"/>
                          </a:solidFill>
                          <a:latin typeface="Arial"/>
                        </a:rPr>
                        <a:t>Paso 9</a:t>
                      </a:r>
                    </a:p>
                  </a:txBody>
                  <a:tcPr marL="73152" marR="73152" marT="27432" marB="27432">
                    <a:solidFill>
                      <a:srgbClr val="FFFFFF"/>
                    </a:solidFill>
                  </a:tcPr>
                </a:tc>
                <a:tc>
                  <a:txBody>
                    <a:bodyPr/>
                    <a:lstStyle/>
                    <a:p>
                      <a:r>
                        <a:rPr sz="1600" b="0">
                          <a:solidFill>
                            <a:srgbClr val="33373D"/>
                          </a:solidFill>
                          <a:latin typeface="Arial"/>
                        </a:rPr>
                        <a:t>Agenda el envío al comprador, ya fuera de la transacción</a:t>
                      </a:r>
                    </a:p>
                  </a:txBody>
                  <a:tcPr marL="73152" marR="73152" marT="27432" marB="27432">
                    <a:solidFill>
                      <a:srgbClr val="FFFFFF"/>
                    </a:solidFill>
                  </a:tcPr>
                </a:tc>
              </a:tr>
              <a:tr h="491490">
                <a:tc>
                  <a:txBody>
                    <a:bodyPr/>
                    <a:lstStyle/>
                    <a:p>
                      <a:r>
                        <a:rPr sz="1600" b="0">
                          <a:solidFill>
                            <a:srgbClr val="33373D"/>
                          </a:solidFill>
                          <a:latin typeface="Arial"/>
                        </a:rPr>
                        <a:t>Postcondición</a:t>
                      </a:r>
                    </a:p>
                  </a:txBody>
                  <a:tcPr marL="73152" marR="73152" marT="27432" marB="27432">
                    <a:solidFill>
                      <a:srgbClr val="EFF3F9"/>
                    </a:solidFill>
                  </a:tcPr>
                </a:tc>
                <a:tc>
                  <a:txBody>
                    <a:bodyPr/>
                    <a:lstStyle/>
                    <a:p>
                      <a:r>
                        <a:rPr sz="1600" b="0">
                          <a:solidFill>
                            <a:srgbClr val="33373D"/>
                          </a:solidFill>
                          <a:latin typeface="Arial"/>
                        </a:rPr>
                        <a:t>Existe un documento con número único y CUFE, y el consumo del mes aumentó en uno</a:t>
                      </a:r>
                    </a:p>
                  </a:txBody>
                  <a:tcPr marL="73152" marR="73152" marT="27432" marB="27432">
                    <a:solidFill>
                      <a:srgbClr val="EFF3F9"/>
                    </a:solidFill>
                  </a:tcPr>
                </a:tc>
              </a:tr>
              <a:tr h="491490">
                <a:tc>
                  <a:txBody>
                    <a:bodyPr/>
                    <a:lstStyle/>
                    <a:p>
                      <a:r>
                        <a:rPr sz="1600" b="0">
                          <a:solidFill>
                            <a:srgbClr val="33373D"/>
                          </a:solidFill>
                          <a:latin typeface="Arial"/>
                        </a:rPr>
                        <a:t>Excepción</a:t>
                      </a:r>
                    </a:p>
                  </a:txBody>
                  <a:tcPr marL="73152" marR="73152" marT="27432" marB="27432">
                    <a:solidFill>
                      <a:srgbClr val="FFFFFF"/>
                    </a:solidFill>
                  </a:tcPr>
                </a:tc>
                <a:tc>
                  <a:txBody>
                    <a:bodyPr/>
                    <a:lstStyle/>
                    <a:p>
                      <a:r>
                        <a:rPr sz="1600" b="0">
                          <a:solidFill>
                            <a:srgbClr val="33373D"/>
                          </a:solidFill>
                          <a:latin typeface="Arial"/>
                        </a:rPr>
                        <a:t>Si el cupo está agotado responde 403 antes de reservar el consecutivo</a:t>
                      </a:r>
                    </a:p>
                  </a:txBody>
                  <a:tcPr marL="73152" marR="73152" marT="27432" marB="27432">
                    <a:solidFill>
                      <a:srgbClr val="FFFFFF"/>
                    </a:solidFill>
                  </a:tcPr>
                </a:tc>
              </a:tr>
            </a:tbl>
          </a:graphicData>
        </a:graphic>
      </p:graphicFrame>
      <p:sp>
        <p:nvSpPr>
          <p:cNvPr id="25" name="TextBox 24"/>
          <p:cNvSpPr txBox="1"/>
          <p:nvPr/>
        </p:nvSpPr>
        <p:spPr>
          <a:xfrm>
            <a:off x="685800" y="5532120"/>
            <a:ext cx="10835640" cy="822960"/>
          </a:xfrm>
          <a:prstGeom prst="rect">
            <a:avLst/>
          </a:prstGeom>
          <a:noFill/>
        </p:spPr>
        <p:txBody>
          <a:bodyPr wrap="square">
            <a:spAutoFit/>
          </a:bodyPr>
          <a:lstStyle/>
          <a:p>
            <a:pPr algn="l"/>
            <a:r>
              <a:rPr sz="1700" b="0">
                <a:solidFill>
                  <a:srgbClr val="33373D"/>
                </a:solidFill>
                <a:latin typeface="Arial"/>
              </a:rPr>
              <a:t>El cupo se valida en el paso 3, antes de reservar el número en el paso 4, porque rechazar después de haber tomado uno gastaría un consecutivo de una resolución autorizada en un documento que nunca existió.</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25 / 41</a:t>
            </a:r>
          </a:p>
        </p:txBody>
      </p:sp>
    </p:spTree>
    <p:extLst>
      <p:ext uri="{BB962C8B-B14F-4D97-AF65-F5344CB8AC3E}">
        <p14:creationId xmlns:p14="http://schemas.microsoft.com/office/powerpoint/2010/main" val="1287915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3" name="Imagen 12">
            <a:extLst>
              <a:ext uri="{FF2B5EF4-FFF2-40B4-BE49-F238E27FC236}">
                <a16:creationId xmlns:a16="http://schemas.microsoft.com/office/drawing/2014/main" id="{A5E5D415-B509-BDF6-3699-3CAA5A9D86C8}"/>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11" name="Google Shape;169;p17">
            <a:extLst>
              <a:ext uri="{FF2B5EF4-FFF2-40B4-BE49-F238E27FC236}">
                <a16:creationId xmlns:a16="http://schemas.microsoft.com/office/drawing/2014/main" id="{81F0DD6F-780A-27A8-380E-E1A99AFA476A}"/>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Metodología de Desarrollo</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endParaRPr dirty="0"/>
          </a:p>
        </p:txBody>
      </p:sp>
      <p:sp>
        <p:nvSpPr>
          <p:cNvPr id="14" name="TextBox 13"/>
          <p:cNvSpPr txBox="1"/>
          <p:nvPr/>
        </p:nvSpPr>
        <p:spPr>
          <a:xfrm>
            <a:off x="777240" y="1280160"/>
            <a:ext cx="10607040" cy="731520"/>
          </a:xfrm>
          <a:prstGeom prst="rect">
            <a:avLst/>
          </a:prstGeom>
          <a:noFill/>
        </p:spPr>
        <p:txBody>
          <a:bodyPr wrap="square">
            <a:spAutoFit/>
          </a:bodyPr>
          <a:lstStyle/>
          <a:p>
            <a:pPr algn="l"/>
            <a:r>
              <a:rPr sz="1800" b="0">
                <a:solidFill>
                  <a:srgbClr val="33373D"/>
                </a:solidFill>
                <a:latin typeface="Arial"/>
              </a:rPr>
              <a:t>Scrum, con ocho sprints de dos semanas entre noviembre de 2025 y marzo de 2026. Cada sprint cerró con un módulo utilizable y no con una parte de varios.</a:t>
            </a:r>
          </a:p>
        </p:txBody>
      </p:sp>
      <p:pic>
        <p:nvPicPr>
          <p:cNvPr id="15" name="Picture 14" descr="FIG-scrum.png"/>
          <p:cNvPicPr>
            <a:picLocks noChangeAspect="1"/>
          </p:cNvPicPr>
          <p:nvPr/>
        </p:nvPicPr>
        <p:blipFill>
          <a:blip r:embed="rId10"/>
          <a:stretch>
            <a:fillRect/>
          </a:stretch>
        </p:blipFill>
        <p:spPr>
          <a:xfrm>
            <a:off x="2985029" y="2057400"/>
            <a:ext cx="6191461" cy="3200400"/>
          </a:xfrm>
          <a:prstGeom prst="rect">
            <a:avLst/>
          </a:prstGeom>
        </p:spPr>
      </p:pic>
      <p:sp>
        <p:nvSpPr>
          <p:cNvPr id="16" name="TextBox 15"/>
          <p:cNvSpPr txBox="1"/>
          <p:nvPr/>
        </p:nvSpPr>
        <p:spPr>
          <a:xfrm>
            <a:off x="777240" y="5486400"/>
            <a:ext cx="10607040" cy="548640"/>
          </a:xfrm>
          <a:prstGeom prst="rect">
            <a:avLst/>
          </a:prstGeom>
          <a:noFill/>
        </p:spPr>
        <p:txBody>
          <a:bodyPr wrap="square">
            <a:spAutoFit/>
          </a:bodyPr>
          <a:lstStyle/>
          <a:p>
            <a:pPr algn="l"/>
            <a:r>
              <a:rPr sz="1900" b="1">
                <a:solidFill>
                  <a:srgbClr val="1F3B73"/>
                </a:solidFill>
                <a:latin typeface="Arial"/>
              </a:rPr>
              <a:t>El alcance del proyecto cambió durante el desarrollo, y ese cambio se incorporó reordenando el backlog sin desechar lo construido.</a:t>
            </a:r>
          </a:p>
        </p:txBody>
      </p:sp>
      <p:sp>
        <p:nvSpPr>
          <p:cNvPr id="17" name="TextBox 16"/>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26 / 41</a:t>
            </a:r>
          </a:p>
        </p:txBody>
      </p:sp>
    </p:spTree>
    <p:extLst>
      <p:ext uri="{BB962C8B-B14F-4D97-AF65-F5344CB8AC3E}">
        <p14:creationId xmlns:p14="http://schemas.microsoft.com/office/powerpoint/2010/main" val="2443154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11" name="Google Shape;169;p17">
            <a:extLst>
              <a:ext uri="{FF2B5EF4-FFF2-40B4-BE49-F238E27FC236}">
                <a16:creationId xmlns:a16="http://schemas.microsoft.com/office/drawing/2014/main" id="{81F0DD6F-780A-27A8-380E-E1A99AFA476A}"/>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Mockup del Panel de Control</a:t>
            </a:r>
            <a:endParaRPr dirty="0"/>
          </a:p>
        </p:txBody>
      </p:sp>
      <p:pic>
        <p:nvPicPr>
          <p:cNvPr id="7" name="Imagen 6">
            <a:extLst>
              <a:ext uri="{FF2B5EF4-FFF2-40B4-BE49-F238E27FC236}">
                <a16:creationId xmlns:a16="http://schemas.microsoft.com/office/drawing/2014/main" id="{8B7C7DD4-18B0-D0E9-9364-3228B0F09D09}"/>
              </a:ext>
            </a:extLst>
          </p:cNvPr>
          <p:cNvPicPr>
            <a:picLocks noChangeAspect="1"/>
          </p:cNvPicPr>
          <p:nvPr/>
        </p:nvPicPr>
        <p:blipFill>
          <a:blip r:embed="rId5"/>
          <a:stretch>
            <a:fillRect/>
          </a:stretch>
        </p:blipFill>
        <p:spPr>
          <a:xfrm>
            <a:off x="1474198" y="1070837"/>
            <a:ext cx="9243603" cy="5445125"/>
          </a:xfrm>
          <a:prstGeom prst="rect">
            <a:avLst/>
          </a:prstGeom>
        </p:spPr>
      </p:pic>
      <p:pic>
        <p:nvPicPr>
          <p:cNvPr id="13" name="Picture 12" descr="Mockup panel de control.png"/>
          <p:cNvPicPr>
            <a:picLocks noChangeAspect="1"/>
          </p:cNvPicPr>
          <p:nvPr/>
        </p:nvPicPr>
        <p:blipFill>
          <a:blip r:embed="rId6"/>
          <a:stretch>
            <a:fillRect/>
          </a:stretch>
        </p:blipFill>
        <p:spPr>
          <a:xfrm>
            <a:off x="2591812" y="1325880"/>
            <a:ext cx="6977895" cy="4114800"/>
          </a:xfrm>
          <a:prstGeom prst="rect">
            <a:avLst/>
          </a:prstGeom>
        </p:spPr>
      </p:pic>
      <p:sp>
        <p:nvSpPr>
          <p:cNvPr id="14" name="TextBox 13"/>
          <p:cNvSpPr txBox="1"/>
          <p:nvPr/>
        </p:nvSpPr>
        <p:spPr>
          <a:xfrm>
            <a:off x="777240" y="5532120"/>
            <a:ext cx="10607040" cy="822960"/>
          </a:xfrm>
          <a:prstGeom prst="rect">
            <a:avLst/>
          </a:prstGeom>
          <a:noFill/>
        </p:spPr>
        <p:txBody>
          <a:bodyPr wrap="square">
            <a:spAutoFit/>
          </a:bodyPr>
          <a:lstStyle/>
          <a:p>
            <a:pPr algn="l"/>
            <a:r>
              <a:rPr sz="1700" b="0">
                <a:solidFill>
                  <a:srgbClr val="33373D"/>
                </a:solidFill>
                <a:latin typeface="Arial"/>
              </a:rPr>
              <a:t>El tablero se separó en dos secciones y se ordenaron de modo que el servicio prestado aparezca antes que su cobro, porque es lo que la empresa hace. Un tablero que abriera con las ventas describiría un comercio y no un proveedor de facturación.</a:t>
            </a:r>
          </a:p>
        </p:txBody>
      </p:sp>
      <p:sp>
        <p:nvSpPr>
          <p:cNvPr id="15" name="TextBox 14"/>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27 / 41</a:t>
            </a:r>
          </a:p>
        </p:txBody>
      </p:sp>
    </p:spTree>
    <p:extLst>
      <p:ext uri="{BB962C8B-B14F-4D97-AF65-F5344CB8AC3E}">
        <p14:creationId xmlns:p14="http://schemas.microsoft.com/office/powerpoint/2010/main" val="15558039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11" name="Google Shape;169;p17">
            <a:extLst>
              <a:ext uri="{FF2B5EF4-FFF2-40B4-BE49-F238E27FC236}">
                <a16:creationId xmlns:a16="http://schemas.microsoft.com/office/drawing/2014/main" id="{81F0DD6F-780A-27A8-380E-E1A99AFA476A}"/>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Mockup de Crear Nueva Factura</a:t>
            </a:r>
            <a:r>
              <a:rPr lang="en-US" sz="2700" dirty="0" err="1">
                <a:solidFill>
                  <a:srgbClr val="003366"/>
                </a:solidFill>
                <a:latin typeface="Plus Jakarta Sans ExtraBold"/>
                <a:ea typeface="Plus Jakarta Sans ExtraBold"/>
                <a:cs typeface="Plus Jakarta Sans ExtraBold"/>
                <a:sym typeface="Plus Jakarta Sans ExtraBold"/>
              </a:rPr>
              <a:t/>
            </a:r>
            <a:r>
              <a:rPr lang="en-US" sz="2700" dirty="0">
                <a:solidFill>
                  <a:srgbClr val="003366"/>
                </a:solidFill>
                <a:latin typeface="Plus Jakarta Sans ExtraBold"/>
                <a:ea typeface="Plus Jakarta Sans ExtraBold"/>
                <a:cs typeface="Plus Jakarta Sans ExtraBold"/>
                <a:sym typeface="Plus Jakarta Sans ExtraBold"/>
              </a:rPr>
              <a:t/>
            </a:r>
            <a:endParaRPr dirty="0"/>
          </a:p>
        </p:txBody>
      </p:sp>
      <p:pic>
        <p:nvPicPr>
          <p:cNvPr id="7" name="Imagen 6">
            <a:extLst>
              <a:ext uri="{FF2B5EF4-FFF2-40B4-BE49-F238E27FC236}">
                <a16:creationId xmlns:a16="http://schemas.microsoft.com/office/drawing/2014/main" id="{A1B584C4-5BB9-C68D-BD54-5BA8E780F33A}"/>
              </a:ext>
            </a:extLst>
          </p:cNvPr>
          <p:cNvPicPr>
            <a:picLocks noChangeAspect="1"/>
          </p:cNvPicPr>
          <p:nvPr/>
        </p:nvPicPr>
        <p:blipFill>
          <a:blip r:embed="rId5"/>
          <a:stretch>
            <a:fillRect/>
          </a:stretch>
        </p:blipFill>
        <p:spPr>
          <a:xfrm>
            <a:off x="1554086" y="1140719"/>
            <a:ext cx="9083827" cy="5375244"/>
          </a:xfrm>
          <a:prstGeom prst="rect">
            <a:avLst/>
          </a:prstGeom>
        </p:spPr>
      </p:pic>
      <p:pic>
        <p:nvPicPr>
          <p:cNvPr id="13" name="Picture 12" descr="Mockup crear nueva factura.png"/>
          <p:cNvPicPr>
            <a:picLocks noChangeAspect="1"/>
          </p:cNvPicPr>
          <p:nvPr/>
        </p:nvPicPr>
        <p:blipFill>
          <a:blip r:embed="rId6"/>
          <a:stretch>
            <a:fillRect/>
          </a:stretch>
        </p:blipFill>
        <p:spPr>
          <a:xfrm>
            <a:off x="2604787" y="1325880"/>
            <a:ext cx="6951945" cy="4114800"/>
          </a:xfrm>
          <a:prstGeom prst="rect">
            <a:avLst/>
          </a:prstGeom>
        </p:spPr>
      </p:pic>
      <p:sp>
        <p:nvSpPr>
          <p:cNvPr id="14" name="TextBox 13"/>
          <p:cNvSpPr txBox="1"/>
          <p:nvPr/>
        </p:nvSpPr>
        <p:spPr>
          <a:xfrm>
            <a:off x="777240" y="5532120"/>
            <a:ext cx="10607040" cy="822960"/>
          </a:xfrm>
          <a:prstGeom prst="rect">
            <a:avLst/>
          </a:prstGeom>
          <a:noFill/>
        </p:spPr>
        <p:txBody>
          <a:bodyPr wrap="square">
            <a:spAutoFit/>
          </a:bodyPr>
          <a:lstStyle/>
          <a:p>
            <a:pPr algn="l"/>
            <a:r>
              <a:rPr sz="1700" b="0">
                <a:solidFill>
                  <a:srgbClr val="33373D"/>
                </a:solidFill>
                <a:latin typeface="Arial"/>
              </a:rPr>
              <a:t>Organizado en tres momentos, a quién se le factura, qué se le factura y cómo paga, con el resumen de totales siempre a la vista. Responde a que el registro de una venta toma pocos segundos y una pantalla que obligue a ir y volver termina siendo rechazada.</a:t>
            </a:r>
          </a:p>
        </p:txBody>
      </p:sp>
      <p:sp>
        <p:nvSpPr>
          <p:cNvPr id="15" name="TextBox 14"/>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28 / 41</a:t>
            </a:r>
          </a:p>
        </p:txBody>
      </p:sp>
    </p:spTree>
    <p:extLst>
      <p:ext uri="{BB962C8B-B14F-4D97-AF65-F5344CB8AC3E}">
        <p14:creationId xmlns:p14="http://schemas.microsoft.com/office/powerpoint/2010/main" val="18438772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Diseño de la Base de Datos</a:t>
            </a:r>
            <a:endParaRPr sz="2700" dirty="0">
              <a:solidFill>
                <a:srgbClr val="003366"/>
              </a:solidFill>
              <a:latin typeface="Plus Jakarta Sans ExtraBold"/>
              <a:cs typeface="Plus Jakarta Sans ExtraBold"/>
            </a:endParaRPr>
          </a:p>
        </p:txBody>
      </p:sp>
      <p:pic>
        <p:nvPicPr>
          <p:cNvPr id="24" name="Picture 23" descr="FIG-mer.png"/>
          <p:cNvPicPr>
            <a:picLocks noChangeAspect="1"/>
          </p:cNvPicPr>
          <p:nvPr/>
        </p:nvPicPr>
        <p:blipFill>
          <a:blip r:embed="rId6"/>
          <a:stretch>
            <a:fillRect/>
          </a:stretch>
        </p:blipFill>
        <p:spPr>
          <a:xfrm>
            <a:off x="815705" y="1371600"/>
            <a:ext cx="6872509" cy="4206240"/>
          </a:xfrm>
          <a:prstGeom prst="rect">
            <a:avLst/>
          </a:prstGeom>
        </p:spPr>
      </p:pic>
      <p:sp>
        <p:nvSpPr>
          <p:cNvPr id="25" name="TextBox 24"/>
          <p:cNvSpPr txBox="1"/>
          <p:nvPr/>
        </p:nvSpPr>
        <p:spPr>
          <a:xfrm>
            <a:off x="8138160" y="1554480"/>
            <a:ext cx="3566160" cy="457200"/>
          </a:xfrm>
          <a:prstGeom prst="rect">
            <a:avLst/>
          </a:prstGeom>
          <a:noFill/>
        </p:spPr>
        <p:txBody>
          <a:bodyPr wrap="square">
            <a:spAutoFit/>
          </a:bodyPr>
          <a:lstStyle/>
          <a:p>
            <a:pPr algn="l"/>
            <a:r>
              <a:rPr sz="2000" b="1">
                <a:solidFill>
                  <a:srgbClr val="1F3B73"/>
                </a:solidFill>
                <a:latin typeface="Arial"/>
              </a:rPr>
              <a:t>Dos zonas que no se mezclan</a:t>
            </a:r>
          </a:p>
        </p:txBody>
      </p:sp>
      <p:sp>
        <p:nvSpPr>
          <p:cNvPr id="26" name="TextBox 25"/>
          <p:cNvSpPr txBox="1"/>
          <p:nvPr/>
        </p:nvSpPr>
        <p:spPr>
          <a:xfrm>
            <a:off x="8138160" y="2377440"/>
            <a:ext cx="3566160" cy="1097280"/>
          </a:xfrm>
          <a:prstGeom prst="rect">
            <a:avLst/>
          </a:prstGeom>
          <a:noFill/>
        </p:spPr>
        <p:txBody>
          <a:bodyPr wrap="square">
            <a:spAutoFit/>
          </a:bodyPr>
          <a:lstStyle/>
          <a:p>
            <a:r>
              <a:rPr sz="1500">
                <a:solidFill>
                  <a:srgbClr val="33373D"/>
                </a:solidFill>
                <a:latin typeface="Arial"/>
              </a:rPr>
              <a:t>La zona comercial guarda lo que el proveedor vende, con sus planes, sus clientes y sus facturas.</a:t>
            </a:r>
          </a:p>
        </p:txBody>
      </p:sp>
      <p:sp>
        <p:nvSpPr>
          <p:cNvPr id="27" name="TextBox 26"/>
          <p:cNvSpPr txBox="1"/>
          <p:nvPr/>
        </p:nvSpPr>
        <p:spPr>
          <a:xfrm>
            <a:off x="8138160" y="3474720"/>
            <a:ext cx="3566160" cy="1097280"/>
          </a:xfrm>
          <a:prstGeom prst="rect">
            <a:avLst/>
          </a:prstGeom>
          <a:noFill/>
        </p:spPr>
        <p:txBody>
          <a:bodyPr wrap="square">
            <a:spAutoFit/>
          </a:bodyPr>
          <a:lstStyle/>
          <a:p>
            <a:r>
              <a:rPr sz="1500">
                <a:solidFill>
                  <a:srgbClr val="33373D"/>
                </a:solidFill>
                <a:latin typeface="Arial"/>
              </a:rPr>
              <a:t>La zona de middleware guarda lo que emite por cuenta de terceros.</a:t>
            </a:r>
          </a:p>
        </p:txBody>
      </p:sp>
      <p:sp>
        <p:nvSpPr>
          <p:cNvPr id="28" name="TextBox 27"/>
          <p:cNvSpPr txBox="1"/>
          <p:nvPr/>
        </p:nvSpPr>
        <p:spPr>
          <a:xfrm>
            <a:off x="8138160" y="4572000"/>
            <a:ext cx="3566160" cy="1097280"/>
          </a:xfrm>
          <a:prstGeom prst="rect">
            <a:avLst/>
          </a:prstGeom>
          <a:noFill/>
        </p:spPr>
        <p:txBody>
          <a:bodyPr wrap="square">
            <a:spAutoFit/>
          </a:bodyPr>
          <a:lstStyle/>
          <a:p>
            <a:r>
              <a:rPr sz="1500">
                <a:solidFill>
                  <a:srgbClr val="33373D"/>
                </a:solidFill>
                <a:latin typeface="Arial"/>
              </a:rPr>
              <a:t>Una tabla puente registra qué mes de qué cliente ya fue cobrado.</a:t>
            </a:r>
          </a:p>
        </p:txBody>
      </p:sp>
      <p:sp>
        <p:nvSpPr>
          <p:cNvPr id="29" name="TextBox 28"/>
          <p:cNvSpPr txBox="1"/>
          <p:nvPr/>
        </p:nvSpPr>
        <p:spPr>
          <a:xfrm>
            <a:off x="640080" y="5715000"/>
            <a:ext cx="10881360" cy="640080"/>
          </a:xfrm>
          <a:prstGeom prst="rect">
            <a:avLst/>
          </a:prstGeom>
          <a:noFill/>
        </p:spPr>
        <p:txBody>
          <a:bodyPr wrap="square">
            <a:spAutoFit/>
          </a:bodyPr>
          <a:lstStyle/>
          <a:p>
            <a:pPr algn="l"/>
            <a:r>
              <a:rPr sz="1700" b="0">
                <a:solidFill>
                  <a:srgbClr val="33373D"/>
                </a:solidFill>
                <a:latin typeface="Arial"/>
              </a:rPr>
              <a:t>Si un documento emitido para un cliente se guardara en la zona comercial, el tablero lo contaría como ingreso propio del proveedor.</a:t>
            </a:r>
          </a:p>
        </p:txBody>
      </p:sp>
      <p:sp>
        <p:nvSpPr>
          <p:cNvPr id="30" name="TextBox 29"/>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Modelo entidad-relación conceptual. El modelo físico completo consta en el documento de grado.</a:t>
            </a:r>
          </a:p>
        </p:txBody>
      </p:sp>
      <p:sp>
        <p:nvSpPr>
          <p:cNvPr id="31" name="TextBox 3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29 / 41</a:t>
            </a:r>
          </a:p>
        </p:txBody>
      </p:sp>
    </p:spTree>
    <p:extLst>
      <p:ext uri="{BB962C8B-B14F-4D97-AF65-F5344CB8AC3E}">
        <p14:creationId xmlns:p14="http://schemas.microsoft.com/office/powerpoint/2010/main" val="17127598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Diccionario de Datos</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34440"/>
            <a:ext cx="10607040" cy="365760"/>
          </a:xfrm>
          <a:prstGeom prst="rect">
            <a:avLst/>
          </a:prstGeom>
          <a:noFill/>
        </p:spPr>
        <p:txBody>
          <a:bodyPr wrap="square">
            <a:spAutoFit/>
          </a:bodyPr>
          <a:lstStyle/>
          <a:p>
            <a:pPr algn="l"/>
            <a:r>
              <a:rPr sz="1900" b="1">
                <a:solidFill>
                  <a:srgbClr val="1F3B73"/>
                </a:solidFill>
                <a:latin typeface="Arial"/>
              </a:rPr>
              <a:t>Tabla documentos, la que guarda cada documento emitido por cuenta de terceros</a:t>
            </a:r>
          </a:p>
        </p:txBody>
      </p:sp>
      <p:graphicFrame>
        <p:nvGraphicFramePr>
          <p:cNvPr id="25" name="Table 24"/>
          <p:cNvGraphicFramePr>
            <a:graphicFrameLocks noGrp="1"/>
          </p:cNvGraphicFramePr>
          <p:nvPr/>
        </p:nvGraphicFramePr>
        <p:xfrm>
          <a:off x="685800" y="1691640"/>
          <a:ext cx="10835640" cy="3749039"/>
        </p:xfrm>
        <a:graphic>
          <a:graphicData uri="http://schemas.openxmlformats.org/drawingml/2006/table">
            <a:tbl>
              <a:tblPr firstRow="1" bandRow="1">
                <a:tableStyleId>{5C22544A-7EE6-4342-B048-85BDC9FD1C3A}</a:tableStyleId>
              </a:tblPr>
              <a:tblGrid>
                <a:gridCol w="2468880"/>
                <a:gridCol w="1737360"/>
                <a:gridCol w="1371600"/>
                <a:gridCol w="5257800"/>
              </a:tblGrid>
              <a:tr h="340821">
                <a:tc>
                  <a:txBody>
                    <a:bodyPr/>
                    <a:lstStyle/>
                    <a:p>
                      <a:r>
                        <a:rPr sz="1400" b="1">
                          <a:solidFill>
                            <a:srgbClr val="FFFFFF"/>
                          </a:solidFill>
                          <a:latin typeface="Arial"/>
                        </a:rPr>
                        <a:t>Campo</a:t>
                      </a:r>
                    </a:p>
                  </a:txBody>
                  <a:tcPr marL="73152" marR="73152" marT="27432" marB="27432">
                    <a:solidFill>
                      <a:srgbClr val="1F3B73"/>
                    </a:solidFill>
                  </a:tcPr>
                </a:tc>
                <a:tc>
                  <a:txBody>
                    <a:bodyPr/>
                    <a:lstStyle/>
                    <a:p>
                      <a:r>
                        <a:rPr sz="1400" b="1">
                          <a:solidFill>
                            <a:srgbClr val="FFFFFF"/>
                          </a:solidFill>
                          <a:latin typeface="Arial"/>
                        </a:rPr>
                        <a:t>Tipo</a:t>
                      </a:r>
                    </a:p>
                  </a:txBody>
                  <a:tcPr marL="73152" marR="73152" marT="27432" marB="27432">
                    <a:solidFill>
                      <a:srgbClr val="1F3B73"/>
                    </a:solidFill>
                  </a:tcPr>
                </a:tc>
                <a:tc>
                  <a:txBody>
                    <a:bodyPr/>
                    <a:lstStyle/>
                    <a:p>
                      <a:r>
                        <a:rPr sz="1400" b="1">
                          <a:solidFill>
                            <a:srgbClr val="FFFFFF"/>
                          </a:solidFill>
                          <a:latin typeface="Arial"/>
                        </a:rPr>
                        <a:t>Clave</a:t>
                      </a:r>
                    </a:p>
                  </a:txBody>
                  <a:tcPr marL="73152" marR="73152" marT="27432" marB="27432">
                    <a:solidFill>
                      <a:srgbClr val="1F3B73"/>
                    </a:solidFill>
                  </a:tcPr>
                </a:tc>
                <a:tc>
                  <a:txBody>
                    <a:bodyPr/>
                    <a:lstStyle/>
                    <a:p>
                      <a:r>
                        <a:rPr sz="1400" b="1">
                          <a:solidFill>
                            <a:srgbClr val="FFFFFF"/>
                          </a:solidFill>
                          <a:latin typeface="Arial"/>
                        </a:rPr>
                        <a:t>Descripción</a:t>
                      </a:r>
                    </a:p>
                  </a:txBody>
                  <a:tcPr marL="73152" marR="73152" marT="27432" marB="27432">
                    <a:solidFill>
                      <a:srgbClr val="1F3B73"/>
                    </a:solidFill>
                  </a:tcPr>
                </a:tc>
              </a:tr>
              <a:tr h="340821">
                <a:tc>
                  <a:txBody>
                    <a:bodyPr/>
                    <a:lstStyle/>
                    <a:p>
                      <a:r>
                        <a:rPr sz="1400" b="0">
                          <a:solidFill>
                            <a:srgbClr val="33373D"/>
                          </a:solidFill>
                          <a:latin typeface="Arial"/>
                        </a:rPr>
                        <a:t>cod_documento</a:t>
                      </a:r>
                    </a:p>
                  </a:txBody>
                  <a:tcPr marL="73152" marR="73152" marT="27432" marB="27432">
                    <a:solidFill>
                      <a:srgbClr val="FFFFFF"/>
                    </a:solidFill>
                  </a:tcPr>
                </a:tc>
                <a:tc>
                  <a:txBody>
                    <a:bodyPr/>
                    <a:lstStyle/>
                    <a:p>
                      <a:r>
                        <a:rPr sz="1400" b="0">
                          <a:solidFill>
                            <a:srgbClr val="33373D"/>
                          </a:solidFill>
                          <a:latin typeface="Arial"/>
                        </a:rPr>
                        <a:t>Entero (11)</a:t>
                      </a:r>
                    </a:p>
                  </a:txBody>
                  <a:tcPr marL="73152" marR="73152" marT="27432" marB="27432">
                    <a:solidFill>
                      <a:srgbClr val="FFFFFF"/>
                    </a:solidFill>
                  </a:tcPr>
                </a:tc>
                <a:tc>
                  <a:txBody>
                    <a:bodyPr/>
                    <a:lstStyle/>
                    <a:p>
                      <a:r>
                        <a:rPr sz="1400" b="0">
                          <a:solidFill>
                            <a:srgbClr val="33373D"/>
                          </a:solidFill>
                          <a:latin typeface="Arial"/>
                        </a:rPr>
                        <a:t>PK</a:t>
                      </a:r>
                    </a:p>
                  </a:txBody>
                  <a:tcPr marL="73152" marR="73152" marT="27432" marB="27432">
                    <a:solidFill>
                      <a:srgbClr val="FFFFFF"/>
                    </a:solidFill>
                  </a:tcPr>
                </a:tc>
                <a:tc>
                  <a:txBody>
                    <a:bodyPr/>
                    <a:lstStyle/>
                    <a:p>
                      <a:r>
                        <a:rPr sz="1400" b="0">
                          <a:solidFill>
                            <a:srgbClr val="33373D"/>
                          </a:solidFill>
                          <a:latin typeface="Arial"/>
                        </a:rPr>
                        <a:t>Identificador interno del documento</a:t>
                      </a:r>
                    </a:p>
                  </a:txBody>
                  <a:tcPr marL="73152" marR="73152" marT="27432" marB="27432">
                    <a:solidFill>
                      <a:srgbClr val="FFFFFF"/>
                    </a:solidFill>
                  </a:tcPr>
                </a:tc>
              </a:tr>
              <a:tr h="340821">
                <a:tc>
                  <a:txBody>
                    <a:bodyPr/>
                    <a:lstStyle/>
                    <a:p>
                      <a:r>
                        <a:rPr sz="1400" b="0">
                          <a:solidFill>
                            <a:srgbClr val="33373D"/>
                          </a:solidFill>
                          <a:latin typeface="Arial"/>
                        </a:rPr>
                        <a:t>id_publico</a:t>
                      </a:r>
                    </a:p>
                  </a:txBody>
                  <a:tcPr marL="73152" marR="73152" marT="27432" marB="27432">
                    <a:solidFill>
                      <a:srgbClr val="EFF3F9"/>
                    </a:solidFill>
                  </a:tcPr>
                </a:tc>
                <a:tc>
                  <a:txBody>
                    <a:bodyPr/>
                    <a:lstStyle/>
                    <a:p>
                      <a:r>
                        <a:rPr sz="1400" b="0">
                          <a:solidFill>
                            <a:srgbClr val="33373D"/>
                          </a:solidFill>
                          <a:latin typeface="Arial"/>
                        </a:rPr>
                        <a:t>Texto (40)</a:t>
                      </a:r>
                    </a:p>
                  </a:txBody>
                  <a:tcPr marL="73152" marR="73152" marT="27432" marB="27432">
                    <a:solidFill>
                      <a:srgbClr val="EFF3F9"/>
                    </a:solidFill>
                  </a:tcPr>
                </a:tc>
                <a:tc>
                  <a:txBody>
                    <a:bodyPr/>
                    <a:lstStyle/>
                    <a:p>
                      <a:r>
                        <a:rPr sz="1400" b="0">
                          <a:solidFill>
                            <a:srgbClr val="33373D"/>
                          </a:solidFill>
                          <a:latin typeface="Arial"/>
                        </a:rPr>
                        <a:t>Única</a:t>
                      </a:r>
                    </a:p>
                  </a:txBody>
                  <a:tcPr marL="73152" marR="73152" marT="27432" marB="27432">
                    <a:solidFill>
                      <a:srgbClr val="EFF3F9"/>
                    </a:solidFill>
                  </a:tcPr>
                </a:tc>
                <a:tc>
                  <a:txBody>
                    <a:bodyPr/>
                    <a:lstStyle/>
                    <a:p>
                      <a:r>
                        <a:rPr sz="1400" b="0">
                          <a:solidFill>
                            <a:srgbClr val="33373D"/>
                          </a:solidFill>
                          <a:latin typeface="Arial"/>
                        </a:rPr>
                        <a:t>Identificador que ve el cliente, sin exponer la clave interna</a:t>
                      </a:r>
                    </a:p>
                  </a:txBody>
                  <a:tcPr marL="73152" marR="73152" marT="27432" marB="27432">
                    <a:solidFill>
                      <a:srgbClr val="EFF3F9"/>
                    </a:solidFill>
                  </a:tcPr>
                </a:tc>
              </a:tr>
              <a:tr h="340821">
                <a:tc>
                  <a:txBody>
                    <a:bodyPr/>
                    <a:lstStyle/>
                    <a:p>
                      <a:r>
                        <a:rPr sz="1400" b="0">
                          <a:solidFill>
                            <a:srgbClr val="33373D"/>
                          </a:solidFill>
                          <a:latin typeface="Arial"/>
                        </a:rPr>
                        <a:t>cod_cliente_api</a:t>
                      </a:r>
                    </a:p>
                  </a:txBody>
                  <a:tcPr marL="73152" marR="73152" marT="27432" marB="27432">
                    <a:solidFill>
                      <a:srgbClr val="FFFFFF"/>
                    </a:solidFill>
                  </a:tcPr>
                </a:tc>
                <a:tc>
                  <a:txBody>
                    <a:bodyPr/>
                    <a:lstStyle/>
                    <a:p>
                      <a:r>
                        <a:rPr sz="1400" b="0">
                          <a:solidFill>
                            <a:srgbClr val="33373D"/>
                          </a:solidFill>
                          <a:latin typeface="Arial"/>
                        </a:rPr>
                        <a:t>Entero (11)</a:t>
                      </a:r>
                    </a:p>
                  </a:txBody>
                  <a:tcPr marL="73152" marR="73152" marT="27432" marB="27432">
                    <a:solidFill>
                      <a:srgbClr val="FFFFFF"/>
                    </a:solidFill>
                  </a:tcPr>
                </a:tc>
                <a:tc>
                  <a:txBody>
                    <a:bodyPr/>
                    <a:lstStyle/>
                    <a:p>
                      <a:r>
                        <a:rPr sz="1400" b="0">
                          <a:solidFill>
                            <a:srgbClr val="33373D"/>
                          </a:solidFill>
                          <a:latin typeface="Arial"/>
                        </a:rPr>
                        <a:t>FK, Única</a:t>
                      </a:r>
                    </a:p>
                  </a:txBody>
                  <a:tcPr marL="73152" marR="73152" marT="27432" marB="27432">
                    <a:solidFill>
                      <a:srgbClr val="FFFFFF"/>
                    </a:solidFill>
                  </a:tcPr>
                </a:tc>
                <a:tc>
                  <a:txBody>
                    <a:bodyPr/>
                    <a:lstStyle/>
                    <a:p>
                      <a:r>
                        <a:rPr sz="1400" b="0">
                          <a:solidFill>
                            <a:srgbClr val="33373D"/>
                          </a:solidFill>
                          <a:latin typeface="Arial"/>
                        </a:rPr>
                        <a:t>Cliente integrado por cuenta del cual se emitió</a:t>
                      </a:r>
                    </a:p>
                  </a:txBody>
                  <a:tcPr marL="73152" marR="73152" marT="27432" marB="27432">
                    <a:solidFill>
                      <a:srgbClr val="FFFFFF"/>
                    </a:solidFill>
                  </a:tcPr>
                </a:tc>
              </a:tr>
              <a:tr h="340821">
                <a:tc>
                  <a:txBody>
                    <a:bodyPr/>
                    <a:lstStyle/>
                    <a:p>
                      <a:r>
                        <a:rPr sz="1400" b="0">
                          <a:solidFill>
                            <a:srgbClr val="33373D"/>
                          </a:solidFill>
                          <a:latin typeface="Arial"/>
                        </a:rPr>
                        <a:t>cod_empresa</a:t>
                      </a:r>
                    </a:p>
                  </a:txBody>
                  <a:tcPr marL="73152" marR="73152" marT="27432" marB="27432">
                    <a:solidFill>
                      <a:srgbClr val="EFF3F9"/>
                    </a:solidFill>
                  </a:tcPr>
                </a:tc>
                <a:tc>
                  <a:txBody>
                    <a:bodyPr/>
                    <a:lstStyle/>
                    <a:p>
                      <a:r>
                        <a:rPr sz="1400" b="0">
                          <a:solidFill>
                            <a:srgbClr val="33373D"/>
                          </a:solidFill>
                          <a:latin typeface="Arial"/>
                        </a:rPr>
                        <a:t>Entero (11)</a:t>
                      </a:r>
                    </a:p>
                  </a:txBody>
                  <a:tcPr marL="73152" marR="73152" marT="27432" marB="27432">
                    <a:solidFill>
                      <a:srgbClr val="EFF3F9"/>
                    </a:solidFill>
                  </a:tcPr>
                </a:tc>
                <a:tc>
                  <a:txBody>
                    <a:bodyPr/>
                    <a:lstStyle/>
                    <a:p>
                      <a:r>
                        <a:rPr sz="1400" b="0">
                          <a:solidFill>
                            <a:srgbClr val="33373D"/>
                          </a:solidFill>
                          <a:latin typeface="Arial"/>
                        </a:rPr>
                        <a:t>FK, Única</a:t>
                      </a:r>
                    </a:p>
                  </a:txBody>
                  <a:tcPr marL="73152" marR="73152" marT="27432" marB="27432">
                    <a:solidFill>
                      <a:srgbClr val="EFF3F9"/>
                    </a:solidFill>
                  </a:tcPr>
                </a:tc>
                <a:tc>
                  <a:txBody>
                    <a:bodyPr/>
                    <a:lstStyle/>
                    <a:p>
                      <a:r>
                        <a:rPr sz="1400" b="0">
                          <a:solidFill>
                            <a:srgbClr val="33373D"/>
                          </a:solidFill>
                          <a:latin typeface="Arial"/>
                        </a:rPr>
                        <a:t>Empresa emisora con cuya resolución se numeró</a:t>
                      </a:r>
                    </a:p>
                  </a:txBody>
                  <a:tcPr marL="73152" marR="73152" marT="27432" marB="27432">
                    <a:solidFill>
                      <a:srgbClr val="EFF3F9"/>
                    </a:solidFill>
                  </a:tcPr>
                </a:tc>
              </a:tr>
              <a:tr h="340821">
                <a:tc>
                  <a:txBody>
                    <a:bodyPr/>
                    <a:lstStyle/>
                    <a:p>
                      <a:r>
                        <a:rPr sz="1400" b="0">
                          <a:solidFill>
                            <a:srgbClr val="33373D"/>
                          </a:solidFill>
                          <a:latin typeface="Arial"/>
                        </a:rPr>
                        <a:t>tipo</a:t>
                      </a:r>
                    </a:p>
                  </a:txBody>
                  <a:tcPr marL="73152" marR="73152" marT="27432" marB="27432">
                    <a:solidFill>
                      <a:srgbClr val="FFFFFF"/>
                    </a:solidFill>
                  </a:tcPr>
                </a:tc>
                <a:tc>
                  <a:txBody>
                    <a:bodyPr/>
                    <a:lstStyle/>
                    <a:p>
                      <a:r>
                        <a:rPr sz="1400" b="0">
                          <a:solidFill>
                            <a:srgbClr val="33373D"/>
                          </a:solidFill>
                          <a:latin typeface="Arial"/>
                        </a:rPr>
                        <a:t>Texto (5)</a:t>
                      </a:r>
                    </a:p>
                  </a:txBody>
                  <a:tcPr marL="73152" marR="73152" marT="27432" marB="27432">
                    <a:solidFill>
                      <a:srgbClr val="FFFFFF"/>
                    </a:solidFill>
                  </a:tcPr>
                </a:tc>
                <a:tc>
                  <a:txBody>
                    <a:bodyPr/>
                    <a:lstStyle/>
                    <a:p>
                      <a:r>
                        <a:rPr sz="1400" b="0">
                          <a:solidFill>
                            <a:srgbClr val="33373D"/>
                          </a:solidFill>
                          <a:latin typeface="Arial"/>
                        </a:rPr>
                        <a:t>Única</a:t>
                      </a:r>
                    </a:p>
                  </a:txBody>
                  <a:tcPr marL="73152" marR="73152" marT="27432" marB="27432">
                    <a:solidFill>
                      <a:srgbClr val="FFFFFF"/>
                    </a:solidFill>
                  </a:tcPr>
                </a:tc>
                <a:tc>
                  <a:txBody>
                    <a:bodyPr/>
                    <a:lstStyle/>
                    <a:p>
                      <a:r>
                        <a:rPr sz="1400" b="0">
                          <a:solidFill>
                            <a:srgbClr val="33373D"/>
                          </a:solidFill>
                          <a:latin typeface="Arial"/>
                        </a:rPr>
                        <a:t>Factura de venta, nota crédito o nota débito</a:t>
                      </a:r>
                    </a:p>
                  </a:txBody>
                  <a:tcPr marL="73152" marR="73152" marT="27432" marB="27432">
                    <a:solidFill>
                      <a:srgbClr val="FFFFFF"/>
                    </a:solidFill>
                  </a:tcPr>
                </a:tc>
              </a:tr>
              <a:tr h="340821">
                <a:tc>
                  <a:txBody>
                    <a:bodyPr/>
                    <a:lstStyle/>
                    <a:p>
                      <a:r>
                        <a:rPr sz="1400" b="0">
                          <a:solidFill>
                            <a:srgbClr val="33373D"/>
                          </a:solidFill>
                          <a:latin typeface="Arial"/>
                        </a:rPr>
                        <a:t>numero</a:t>
                      </a:r>
                    </a:p>
                  </a:txBody>
                  <a:tcPr marL="73152" marR="73152" marT="27432" marB="27432">
                    <a:solidFill>
                      <a:srgbClr val="EFF3F9"/>
                    </a:solidFill>
                  </a:tcPr>
                </a:tc>
                <a:tc>
                  <a:txBody>
                    <a:bodyPr/>
                    <a:lstStyle/>
                    <a:p>
                      <a:r>
                        <a:rPr sz="1400" b="0">
                          <a:solidFill>
                            <a:srgbClr val="33373D"/>
                          </a:solidFill>
                          <a:latin typeface="Arial"/>
                        </a:rPr>
                        <a:t>Texto (50)</a:t>
                      </a:r>
                    </a:p>
                  </a:txBody>
                  <a:tcPr marL="73152" marR="73152" marT="27432" marB="27432">
                    <a:solidFill>
                      <a:srgbClr val="EFF3F9"/>
                    </a:solidFill>
                  </a:tcPr>
                </a:tc>
                <a:tc>
                  <a:txBody>
                    <a:bodyPr/>
                    <a:lstStyle/>
                    <a:p>
                      <a:r>
                        <a:rPr sz="1400" b="0">
                          <a:solidFill>
                            <a:srgbClr val="33373D"/>
                          </a:solidFill>
                          <a:latin typeface="Arial"/>
                        </a:rPr>
                        <a:t>Única</a:t>
                      </a:r>
                    </a:p>
                  </a:txBody>
                  <a:tcPr marL="73152" marR="73152" marT="27432" marB="27432">
                    <a:solidFill>
                      <a:srgbClr val="EFF3F9"/>
                    </a:solidFill>
                  </a:tcPr>
                </a:tc>
                <a:tc>
                  <a:txBody>
                    <a:bodyPr/>
                    <a:lstStyle/>
                    <a:p>
                      <a:r>
                        <a:rPr sz="1400" b="0">
                          <a:solidFill>
                            <a:srgbClr val="33373D"/>
                          </a:solidFill>
                          <a:latin typeface="Arial"/>
                        </a:rPr>
                        <a:t>Número completo del documento, con su prefijo</a:t>
                      </a:r>
                    </a:p>
                  </a:txBody>
                  <a:tcPr marL="73152" marR="73152" marT="27432" marB="27432">
                    <a:solidFill>
                      <a:srgbClr val="EFF3F9"/>
                    </a:solidFill>
                  </a:tcPr>
                </a:tc>
              </a:tr>
              <a:tr h="340821">
                <a:tc>
                  <a:txBody>
                    <a:bodyPr/>
                    <a:lstStyle/>
                    <a:p>
                      <a:r>
                        <a:rPr sz="1400" b="0">
                          <a:solidFill>
                            <a:srgbClr val="33373D"/>
                          </a:solidFill>
                          <a:latin typeface="Arial"/>
                        </a:rPr>
                        <a:t>cufe</a:t>
                      </a:r>
                    </a:p>
                  </a:txBody>
                  <a:tcPr marL="73152" marR="73152" marT="27432" marB="27432">
                    <a:solidFill>
                      <a:srgbClr val="FFFFFF"/>
                    </a:solidFill>
                  </a:tcPr>
                </a:tc>
                <a:tc>
                  <a:txBody>
                    <a:bodyPr/>
                    <a:lstStyle/>
                    <a:p>
                      <a:r>
                        <a:rPr sz="1400" b="0">
                          <a:solidFill>
                            <a:srgbClr val="33373D"/>
                          </a:solidFill>
                          <a:latin typeface="Arial"/>
                        </a:rPr>
                        <a:t>Texto (200)</a:t>
                      </a:r>
                    </a:p>
                  </a:txBody>
                  <a:tcPr marL="73152" marR="73152" marT="27432" marB="27432">
                    <a:solidFill>
                      <a:srgbClr val="FFFFFF"/>
                    </a:solidFill>
                  </a:tcPr>
                </a:tc>
                <a:tc>
                  <a:txBody>
                    <a:bodyPr/>
                    <a:lstStyle/>
                    <a:p>
                      <a:r>
                        <a:rPr sz="1400" b="0">
                          <a:solidFill>
                            <a:srgbClr val="33373D"/>
                          </a:solidFill>
                          <a:latin typeface="Arial"/>
                        </a:rPr>
                        <a:t>No aplica</a:t>
                      </a:r>
                    </a:p>
                  </a:txBody>
                  <a:tcPr marL="73152" marR="73152" marT="27432" marB="27432">
                    <a:solidFill>
                      <a:srgbClr val="FFFFFF"/>
                    </a:solidFill>
                  </a:tcPr>
                </a:tc>
                <a:tc>
                  <a:txBody>
                    <a:bodyPr/>
                    <a:lstStyle/>
                    <a:p>
                      <a:r>
                        <a:rPr sz="1400" b="0">
                          <a:solidFill>
                            <a:srgbClr val="33373D"/>
                          </a:solidFill>
                          <a:latin typeface="Arial"/>
                        </a:rPr>
                        <a:t>Código único de facturación electrónica</a:t>
                      </a:r>
                    </a:p>
                  </a:txBody>
                  <a:tcPr marL="73152" marR="73152" marT="27432" marB="27432">
                    <a:solidFill>
                      <a:srgbClr val="FFFFFF"/>
                    </a:solidFill>
                  </a:tcPr>
                </a:tc>
              </a:tr>
              <a:tr h="340821">
                <a:tc>
                  <a:txBody>
                    <a:bodyPr/>
                    <a:lstStyle/>
                    <a:p>
                      <a:r>
                        <a:rPr sz="1400" b="0">
                          <a:solidFill>
                            <a:srgbClr val="33373D"/>
                          </a:solidFill>
                          <a:latin typeface="Arial"/>
                        </a:rPr>
                        <a:t>estado</a:t>
                      </a:r>
                    </a:p>
                  </a:txBody>
                  <a:tcPr marL="73152" marR="73152" marT="27432" marB="27432">
                    <a:solidFill>
                      <a:srgbClr val="EFF3F9"/>
                    </a:solidFill>
                  </a:tcPr>
                </a:tc>
                <a:tc>
                  <a:txBody>
                    <a:bodyPr/>
                    <a:lstStyle/>
                    <a:p>
                      <a:r>
                        <a:rPr sz="1400" b="0">
                          <a:solidFill>
                            <a:srgbClr val="33373D"/>
                          </a:solidFill>
                          <a:latin typeface="Arial"/>
                        </a:rPr>
                        <a:t>Texto (20)</a:t>
                      </a:r>
                    </a:p>
                  </a:txBody>
                  <a:tcPr marL="73152" marR="73152" marT="27432" marB="27432">
                    <a:solidFill>
                      <a:srgbClr val="EFF3F9"/>
                    </a:solidFill>
                  </a:tcPr>
                </a:tc>
                <a:tc>
                  <a:txBody>
                    <a:bodyPr/>
                    <a:lstStyle/>
                    <a:p>
                      <a:r>
                        <a:rPr sz="1400" b="0">
                          <a:solidFill>
                            <a:srgbClr val="33373D"/>
                          </a:solidFill>
                          <a:latin typeface="Arial"/>
                        </a:rPr>
                        <a:t>No aplica</a:t>
                      </a:r>
                    </a:p>
                  </a:txBody>
                  <a:tcPr marL="73152" marR="73152" marT="27432" marB="27432">
                    <a:solidFill>
                      <a:srgbClr val="EFF3F9"/>
                    </a:solidFill>
                  </a:tcPr>
                </a:tc>
                <a:tc>
                  <a:txBody>
                    <a:bodyPr/>
                    <a:lstStyle/>
                    <a:p>
                      <a:r>
                        <a:rPr sz="1400" b="0">
                          <a:solidFill>
                            <a:srgbClr val="33373D"/>
                          </a:solidFill>
                          <a:latin typeface="Arial"/>
                        </a:rPr>
                        <a:t>Resultado ante la administración tributaria</a:t>
                      </a:r>
                    </a:p>
                  </a:txBody>
                  <a:tcPr marL="73152" marR="73152" marT="27432" marB="27432">
                    <a:solidFill>
                      <a:srgbClr val="EFF3F9"/>
                    </a:solidFill>
                  </a:tcPr>
                </a:tc>
              </a:tr>
              <a:tr h="340821">
                <a:tc>
                  <a:txBody>
                    <a:bodyPr/>
                    <a:lstStyle/>
                    <a:p>
                      <a:r>
                        <a:rPr sz="1400" b="0">
                          <a:solidFill>
                            <a:srgbClr val="33373D"/>
                          </a:solidFill>
                          <a:latin typeface="Arial"/>
                        </a:rPr>
                        <a:t>referencia_externa</a:t>
                      </a:r>
                    </a:p>
                  </a:txBody>
                  <a:tcPr marL="73152" marR="73152" marT="27432" marB="27432">
                    <a:solidFill>
                      <a:srgbClr val="FFFFFF"/>
                    </a:solidFill>
                  </a:tcPr>
                </a:tc>
                <a:tc>
                  <a:txBody>
                    <a:bodyPr/>
                    <a:lstStyle/>
                    <a:p>
                      <a:r>
                        <a:rPr sz="1400" b="0">
                          <a:solidFill>
                            <a:srgbClr val="33373D"/>
                          </a:solidFill>
                          <a:latin typeface="Arial"/>
                        </a:rPr>
                        <a:t>Texto (80)</a:t>
                      </a:r>
                    </a:p>
                  </a:txBody>
                  <a:tcPr marL="73152" marR="73152" marT="27432" marB="27432">
                    <a:solidFill>
                      <a:srgbClr val="FFFFFF"/>
                    </a:solidFill>
                  </a:tcPr>
                </a:tc>
                <a:tc>
                  <a:txBody>
                    <a:bodyPr/>
                    <a:lstStyle/>
                    <a:p>
                      <a:r>
                        <a:rPr sz="1400" b="0">
                          <a:solidFill>
                            <a:srgbClr val="33373D"/>
                          </a:solidFill>
                          <a:latin typeface="Arial"/>
                        </a:rPr>
                        <a:t>Única</a:t>
                      </a:r>
                    </a:p>
                  </a:txBody>
                  <a:tcPr marL="73152" marR="73152" marT="27432" marB="27432">
                    <a:solidFill>
                      <a:srgbClr val="FFFFFF"/>
                    </a:solidFill>
                  </a:tcPr>
                </a:tc>
                <a:tc>
                  <a:txBody>
                    <a:bodyPr/>
                    <a:lstStyle/>
                    <a:p>
                      <a:r>
                        <a:rPr sz="1400" b="0">
                          <a:solidFill>
                            <a:srgbClr val="33373D"/>
                          </a:solidFill>
                          <a:latin typeface="Arial"/>
                        </a:rPr>
                        <a:t>Identificador de la venta en el sistema del cliente</a:t>
                      </a:r>
                    </a:p>
                  </a:txBody>
                  <a:tcPr marL="73152" marR="73152" marT="27432" marB="27432">
                    <a:solidFill>
                      <a:srgbClr val="FFFFFF"/>
                    </a:solidFill>
                  </a:tcPr>
                </a:tc>
              </a:tr>
              <a:tr h="340829">
                <a:tc>
                  <a:txBody>
                    <a:bodyPr/>
                    <a:lstStyle/>
                    <a:p>
                      <a:r>
                        <a:rPr sz="1400" b="0">
                          <a:solidFill>
                            <a:srgbClr val="33373D"/>
                          </a:solidFill>
                          <a:latin typeface="Arial"/>
                        </a:rPr>
                        <a:t>total</a:t>
                      </a:r>
                    </a:p>
                  </a:txBody>
                  <a:tcPr marL="73152" marR="73152" marT="27432" marB="27432">
                    <a:solidFill>
                      <a:srgbClr val="EFF3F9"/>
                    </a:solidFill>
                  </a:tcPr>
                </a:tc>
                <a:tc>
                  <a:txBody>
                    <a:bodyPr/>
                    <a:lstStyle/>
                    <a:p>
                      <a:r>
                        <a:rPr sz="1400" b="0">
                          <a:solidFill>
                            <a:srgbClr val="33373D"/>
                          </a:solidFill>
                          <a:latin typeface="Arial"/>
                        </a:rPr>
                        <a:t>Decimal (14,2)</a:t>
                      </a:r>
                    </a:p>
                  </a:txBody>
                  <a:tcPr marL="73152" marR="73152" marT="27432" marB="27432">
                    <a:solidFill>
                      <a:srgbClr val="EFF3F9"/>
                    </a:solidFill>
                  </a:tcPr>
                </a:tc>
                <a:tc>
                  <a:txBody>
                    <a:bodyPr/>
                    <a:lstStyle/>
                    <a:p>
                      <a:r>
                        <a:rPr sz="1400" b="0">
                          <a:solidFill>
                            <a:srgbClr val="33373D"/>
                          </a:solidFill>
                          <a:latin typeface="Arial"/>
                        </a:rPr>
                        <a:t>No aplica</a:t>
                      </a:r>
                    </a:p>
                  </a:txBody>
                  <a:tcPr marL="73152" marR="73152" marT="27432" marB="27432">
                    <a:solidFill>
                      <a:srgbClr val="EFF3F9"/>
                    </a:solidFill>
                  </a:tcPr>
                </a:tc>
                <a:tc>
                  <a:txBody>
                    <a:bodyPr/>
                    <a:lstStyle/>
                    <a:p>
                      <a:r>
                        <a:rPr sz="1400" b="0">
                          <a:solidFill>
                            <a:srgbClr val="33373D"/>
                          </a:solidFill>
                          <a:latin typeface="Arial"/>
                        </a:rPr>
                        <a:t>Valor final del documento</a:t>
                      </a:r>
                    </a:p>
                  </a:txBody>
                  <a:tcPr marL="73152" marR="73152" marT="27432" marB="27432">
                    <a:solidFill>
                      <a:srgbClr val="EFF3F9"/>
                    </a:solidFill>
                  </a:tcPr>
                </a:tc>
              </a:tr>
            </a:tbl>
          </a:graphicData>
        </a:graphic>
      </p:graphicFrame>
      <p:sp>
        <p:nvSpPr>
          <p:cNvPr id="26" name="TextBox 25"/>
          <p:cNvSpPr txBox="1"/>
          <p:nvPr/>
        </p:nvSpPr>
        <p:spPr>
          <a:xfrm>
            <a:off x="685800" y="5577840"/>
            <a:ext cx="10835640" cy="548640"/>
          </a:xfrm>
          <a:prstGeom prst="rect">
            <a:avLst/>
          </a:prstGeom>
          <a:noFill/>
        </p:spPr>
        <p:txBody>
          <a:bodyPr wrap="square">
            <a:spAutoFit/>
          </a:bodyPr>
          <a:lstStyle/>
          <a:p>
            <a:pPr algn="l"/>
            <a:r>
              <a:rPr sz="1700" b="0">
                <a:solidFill>
                  <a:srgbClr val="6B7280"/>
                </a:solidFill>
                <a:latin typeface="Arial"/>
              </a:rPr>
              <a:t>La referencia externa es la que hace idempotente el reintento, y sobre el número hay un índice único por emisor y tipo.</a:t>
            </a:r>
          </a:p>
        </p:txBody>
      </p:sp>
      <p:sp>
        <p:nvSpPr>
          <p:cNvPr id="27" name="TextBox 26"/>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30 / 41</a:t>
            </a:r>
          </a:p>
        </p:txBody>
      </p:sp>
    </p:spTree>
    <p:extLst>
      <p:ext uri="{BB962C8B-B14F-4D97-AF65-F5344CB8AC3E}">
        <p14:creationId xmlns:p14="http://schemas.microsoft.com/office/powerpoint/2010/main" val="33707147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363;p33">
            <a:extLst>
              <a:ext uri="{FF2B5EF4-FFF2-40B4-BE49-F238E27FC236}">
                <a16:creationId xmlns:a16="http://schemas.microsoft.com/office/drawing/2014/main" id="{138F84EF-3724-48DD-F366-6C02647240C4}"/>
              </a:ext>
            </a:extLst>
          </p:cNvPr>
          <p:cNvSpPr txBox="1"/>
          <p:nvPr/>
        </p:nvSpPr>
        <p:spPr>
          <a:xfrm>
            <a:off x="2733120" y="3034882"/>
            <a:ext cx="6725759"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IV. DESARROLLO</a:t>
            </a:r>
            <a:endParaRPr sz="4800" b="1" dirty="0">
              <a:solidFill>
                <a:schemeClr val="lt1"/>
              </a:solidFill>
              <a:latin typeface="Arial"/>
              <a:ea typeface="Arial"/>
              <a:cs typeface="Arial"/>
              <a:sym typeface="Arial"/>
            </a:endParaRPr>
          </a:p>
        </p:txBody>
      </p:sp>
      <p:pic>
        <p:nvPicPr>
          <p:cNvPr id="3" name="Google Shape;84;p13" descr="image.png">
            <a:extLst>
              <a:ext uri="{FF2B5EF4-FFF2-40B4-BE49-F238E27FC236}">
                <a16:creationId xmlns:a16="http://schemas.microsoft.com/office/drawing/2014/main" id="{F351DA7C-7126-24E6-81C6-B3EC476DDC59}"/>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4" name="TextBox 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31 / 41</a:t>
            </a:r>
          </a:p>
        </p:txBody>
      </p:sp>
    </p:spTree>
    <p:extLst>
      <p:ext uri="{BB962C8B-B14F-4D97-AF65-F5344CB8AC3E}">
        <p14:creationId xmlns:p14="http://schemas.microsoft.com/office/powerpoint/2010/main" val="6434112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15" name="Google Shape;213;p19">
            <a:extLst>
              <a:ext uri="{FF2B5EF4-FFF2-40B4-BE49-F238E27FC236}">
                <a16:creationId xmlns:a16="http://schemas.microsoft.com/office/drawing/2014/main" id="{674911B7-95B5-712F-35A8-57FEC42F3B04}"/>
              </a:ext>
            </a:extLst>
          </p:cNvPr>
          <p:cNvSpPr/>
          <p:nvPr/>
        </p:nvSpPr>
        <p:spPr>
          <a:xfrm>
            <a:off x="416066" y="846872"/>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2677976847"/>
              </p:ext>
            </p:extLst>
          </p:nvPr>
        </p:nvGraphicFramePr>
        <p:xfrm>
          <a:off x="672362" y="1209675"/>
          <a:ext cx="10847275" cy="5385500"/>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35860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203075">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302950">
                <a:tc>
                  <a:txBody>
                    <a:bodyPr/>
                    <a:lstStyle/>
                    <a:p>
                      <a:pPr marL="0" marR="0" lvl="0" indent="0" algn="ctr" rtl="0">
                        <a:spcBef>
                          <a:spcPts val="0"/>
                        </a:spcBef>
                        <a:spcAft>
                          <a:spcPts val="0"/>
                        </a:spcAft>
                        <a:buNone/>
                      </a:pPr>
                      <a:endParaRPr sz="2000" b="1"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346500">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r h="1174375">
                <a:tc>
                  <a:txBody>
                    <a:bodyPr/>
                    <a:lstStyle/>
                    <a:p>
                      <a:pPr marL="0" marR="0" lvl="0" indent="0" algn="ctr" rtl="0">
                        <a:spcBef>
                          <a:spcPts val="0"/>
                        </a:spcBef>
                        <a:spcAft>
                          <a:spcPts val="0"/>
                        </a:spcAft>
                        <a:buNone/>
                      </a:pPr>
                      <a:endParaRPr dirty="0"/>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4"/>
                  </a:ext>
                </a:extLst>
              </a:tr>
            </a:tbl>
          </a:graphicData>
        </a:graphic>
      </p:graphicFrame>
      <p:sp>
        <p:nvSpPr>
          <p:cNvPr id="3" name="Google Shape;192;p18">
            <a:extLst>
              <a:ext uri="{FF2B5EF4-FFF2-40B4-BE49-F238E27FC236}">
                <a16:creationId xmlns:a16="http://schemas.microsoft.com/office/drawing/2014/main" id="{D93CB84A-018B-D336-DE20-54CF3DE4976B}"/>
              </a:ext>
            </a:extLst>
          </p:cNvPr>
          <p:cNvSpPr txBox="1"/>
          <p:nvPr/>
        </p:nvSpPr>
        <p:spPr>
          <a:xfrm>
            <a:off x="375882" y="418247"/>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Herramientas de Backend, Base de Datos y Web</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endParaRPr dirty="0"/>
          </a:p>
        </p:txBody>
      </p:sp>
      <p:pic>
        <p:nvPicPr>
          <p:cNvPr id="4" name="Google Shape;187;p18" descr="image.png">
            <a:extLst>
              <a:ext uri="{FF2B5EF4-FFF2-40B4-BE49-F238E27FC236}">
                <a16:creationId xmlns:a16="http://schemas.microsoft.com/office/drawing/2014/main" id="{814C9B0C-1481-6A4D-7AE4-5A43EAC3245D}"/>
              </a:ext>
            </a:extLst>
          </p:cNvPr>
          <p:cNvPicPr preferRelativeResize="0"/>
          <p:nvPr/>
        </p:nvPicPr>
        <p:blipFill rotWithShape="1">
          <a:blip r:embed="rId5">
            <a:alphaModFix/>
          </a:blip>
          <a:srcRect/>
          <a:stretch/>
        </p:blipFill>
        <p:spPr>
          <a:xfrm>
            <a:off x="955851" y="1735462"/>
            <a:ext cx="857250" cy="857250"/>
          </a:xfrm>
          <a:prstGeom prst="rect">
            <a:avLst/>
          </a:prstGeom>
          <a:noFill/>
          <a:ln>
            <a:noFill/>
          </a:ln>
        </p:spPr>
      </p:pic>
      <p:pic>
        <p:nvPicPr>
          <p:cNvPr id="5" name="Imagen 4">
            <a:extLst>
              <a:ext uri="{FF2B5EF4-FFF2-40B4-BE49-F238E27FC236}">
                <a16:creationId xmlns:a16="http://schemas.microsoft.com/office/drawing/2014/main" id="{DB4794E1-CF16-E507-6236-947F0502DFC1}"/>
              </a:ext>
            </a:extLst>
          </p:cNvPr>
          <p:cNvPicPr>
            <a:picLocks noChangeAspect="1"/>
          </p:cNvPicPr>
          <p:nvPr/>
        </p:nvPicPr>
        <p:blipFill>
          <a:blip r:embed="rId6">
            <a:alphaModFix/>
          </a:blip>
          <a:stretch>
            <a:fillRect/>
          </a:stretch>
        </p:blipFill>
        <p:spPr>
          <a:xfrm>
            <a:off x="976882" y="3001135"/>
            <a:ext cx="836219" cy="855730"/>
          </a:xfrm>
          <a:prstGeom prst="rect">
            <a:avLst/>
          </a:prstGeom>
          <a:noFill/>
          <a:ln>
            <a:noFill/>
          </a:ln>
        </p:spPr>
      </p:pic>
      <p:pic>
        <p:nvPicPr>
          <p:cNvPr id="6" name="Google Shape;189;p18" descr="image.png">
            <a:extLst>
              <a:ext uri="{FF2B5EF4-FFF2-40B4-BE49-F238E27FC236}">
                <a16:creationId xmlns:a16="http://schemas.microsoft.com/office/drawing/2014/main" id="{4FEBBEC8-0141-3C90-2E15-08B2F7C13ADC}"/>
              </a:ext>
            </a:extLst>
          </p:cNvPr>
          <p:cNvPicPr preferRelativeResize="0"/>
          <p:nvPr/>
        </p:nvPicPr>
        <p:blipFill rotWithShape="1">
          <a:blip r:embed="rId7">
            <a:alphaModFix/>
          </a:blip>
          <a:srcRect/>
          <a:stretch/>
        </p:blipFill>
        <p:spPr>
          <a:xfrm>
            <a:off x="774876" y="4513521"/>
            <a:ext cx="361950" cy="476250"/>
          </a:xfrm>
          <a:prstGeom prst="rect">
            <a:avLst/>
          </a:prstGeom>
          <a:noFill/>
          <a:ln>
            <a:noFill/>
          </a:ln>
        </p:spPr>
      </p:pic>
      <p:pic>
        <p:nvPicPr>
          <p:cNvPr id="7" name="Google Shape;190;p18" descr="image.png">
            <a:extLst>
              <a:ext uri="{FF2B5EF4-FFF2-40B4-BE49-F238E27FC236}">
                <a16:creationId xmlns:a16="http://schemas.microsoft.com/office/drawing/2014/main" id="{CB7BA741-7142-72B7-51B6-CFA76538A06A}"/>
              </a:ext>
            </a:extLst>
          </p:cNvPr>
          <p:cNvPicPr preferRelativeResize="0"/>
          <p:nvPr/>
        </p:nvPicPr>
        <p:blipFill rotWithShape="1">
          <a:blip r:embed="rId8">
            <a:alphaModFix/>
          </a:blip>
          <a:srcRect/>
          <a:stretch/>
        </p:blipFill>
        <p:spPr>
          <a:xfrm>
            <a:off x="1203501" y="4513521"/>
            <a:ext cx="361950" cy="476250"/>
          </a:xfrm>
          <a:prstGeom prst="rect">
            <a:avLst/>
          </a:prstGeom>
          <a:noFill/>
          <a:ln>
            <a:noFill/>
          </a:ln>
        </p:spPr>
      </p:pic>
      <p:pic>
        <p:nvPicPr>
          <p:cNvPr id="8" name="Google Shape;191;p18" descr="image.png">
            <a:extLst>
              <a:ext uri="{FF2B5EF4-FFF2-40B4-BE49-F238E27FC236}">
                <a16:creationId xmlns:a16="http://schemas.microsoft.com/office/drawing/2014/main" id="{18D8E3B5-0E01-F98D-D66D-0E43963D8938}"/>
              </a:ext>
            </a:extLst>
          </p:cNvPr>
          <p:cNvPicPr preferRelativeResize="0"/>
          <p:nvPr/>
        </p:nvPicPr>
        <p:blipFill rotWithShape="1">
          <a:blip r:embed="rId9">
            <a:alphaModFix/>
          </a:blip>
          <a:srcRect/>
          <a:stretch/>
        </p:blipFill>
        <p:spPr>
          <a:xfrm>
            <a:off x="1614806" y="4513521"/>
            <a:ext cx="419100" cy="476250"/>
          </a:xfrm>
          <a:prstGeom prst="rect">
            <a:avLst/>
          </a:prstGeom>
          <a:noFill/>
          <a:ln>
            <a:noFill/>
          </a:ln>
        </p:spPr>
      </p:pic>
      <p:pic>
        <p:nvPicPr>
          <p:cNvPr id="9" name="Google Shape;194;p18">
            <a:extLst>
              <a:ext uri="{FF2B5EF4-FFF2-40B4-BE49-F238E27FC236}">
                <a16:creationId xmlns:a16="http://schemas.microsoft.com/office/drawing/2014/main" id="{7D86662D-56E2-D9D7-D15B-060FFB696D65}"/>
              </a:ext>
            </a:extLst>
          </p:cNvPr>
          <p:cNvPicPr preferRelativeResize="0"/>
          <p:nvPr/>
        </p:nvPicPr>
        <p:blipFill>
          <a:blip r:embed="rId10">
            <a:alphaModFix/>
          </a:blip>
          <a:stretch>
            <a:fillRect/>
          </a:stretch>
        </p:blipFill>
        <p:spPr>
          <a:xfrm>
            <a:off x="981905" y="5535949"/>
            <a:ext cx="933149" cy="933149"/>
          </a:xfrm>
          <a:prstGeom prst="rect">
            <a:avLst/>
          </a:prstGeom>
          <a:noFill/>
          <a:ln>
            <a:noFill/>
          </a:ln>
        </p:spPr>
      </p:pic>
      <p:sp>
        <p:nvSpPr>
          <p:cNvPr id="10" name="Google Shape;179;p18">
            <a:extLst>
              <a:ext uri="{FF2B5EF4-FFF2-40B4-BE49-F238E27FC236}">
                <a16:creationId xmlns:a16="http://schemas.microsoft.com/office/drawing/2014/main" id="{7FA6E4FA-849F-7242-4DD4-B79BC9680F1C}"/>
              </a:ext>
            </a:extLst>
          </p:cNvPr>
          <p:cNvSpPr txBox="1"/>
          <p:nvPr/>
        </p:nvSpPr>
        <p:spPr>
          <a:xfrm>
            <a:off x="2493636" y="2054549"/>
            <a:ext cx="1710213"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003366"/>
                </a:solidFill>
                <a:latin typeface="Plus Jakarta Sans"/>
                <a:ea typeface="Plus Jakarta Sans"/>
                <a:cs typeface="Plus Jakarta Sans"/>
                <a:sym typeface="Plus Jakarta Sans"/>
              </a:rPr>
              <a:t>Python con </a:t>
            </a:r>
            <a:r>
              <a:rPr lang="en-US" sz="1350" b="1" i="0" u="none" strike="noStrike" cap="none" dirty="0" err="1">
                <a:solidFill>
                  <a:srgbClr val="003366"/>
                </a:solidFill>
                <a:latin typeface="Plus Jakarta Sans"/>
                <a:ea typeface="Plus Jakarta Sans"/>
                <a:cs typeface="Plus Jakarta Sans"/>
                <a:sym typeface="Plus Jakarta Sans"/>
              </a:rPr>
              <a:t>FastAPI</a:t>
            </a:r>
            <a:endParaRPr dirty="0"/>
          </a:p>
        </p:txBody>
      </p:sp>
      <p:sp>
        <p:nvSpPr>
          <p:cNvPr id="11" name="Google Shape;181;p18">
            <a:extLst>
              <a:ext uri="{FF2B5EF4-FFF2-40B4-BE49-F238E27FC236}">
                <a16:creationId xmlns:a16="http://schemas.microsoft.com/office/drawing/2014/main" id="{D6966D3D-7FE9-763C-8FB5-72EA12BC27A2}"/>
              </a:ext>
            </a:extLst>
          </p:cNvPr>
          <p:cNvSpPr txBox="1"/>
          <p:nvPr/>
        </p:nvSpPr>
        <p:spPr>
          <a:xfrm>
            <a:off x="2808674" y="3325125"/>
            <a:ext cx="1080135" cy="20774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003366"/>
                </a:solidFill>
                <a:latin typeface="Plus Jakarta Sans"/>
                <a:ea typeface="Plus Jakarta Sans"/>
                <a:cs typeface="Plus Jakarta Sans"/>
                <a:sym typeface="Plus Jakarta Sans"/>
              </a:rPr>
              <a:t>MySQL</a:t>
            </a:r>
            <a:endParaRPr dirty="0"/>
          </a:p>
        </p:txBody>
      </p:sp>
      <p:sp>
        <p:nvSpPr>
          <p:cNvPr id="12" name="Google Shape;183;p18">
            <a:extLst>
              <a:ext uri="{FF2B5EF4-FFF2-40B4-BE49-F238E27FC236}">
                <a16:creationId xmlns:a16="http://schemas.microsoft.com/office/drawing/2014/main" id="{AE8E8D92-0E30-06D2-639B-4BEC87153D25}"/>
              </a:ext>
            </a:extLst>
          </p:cNvPr>
          <p:cNvSpPr txBox="1"/>
          <p:nvPr/>
        </p:nvSpPr>
        <p:spPr>
          <a:xfrm>
            <a:off x="2328613" y="4642108"/>
            <a:ext cx="2040255"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003366"/>
                </a:solidFill>
                <a:latin typeface="Plus Jakarta Sans"/>
                <a:ea typeface="Plus Jakarta Sans"/>
                <a:cs typeface="Plus Jakarta Sans"/>
                <a:sym typeface="Plus Jakarta Sans"/>
              </a:rPr>
              <a:t>HTML, CSS y JavaScript</a:t>
            </a:r>
            <a:endParaRPr dirty="0"/>
          </a:p>
        </p:txBody>
      </p:sp>
      <p:sp>
        <p:nvSpPr>
          <p:cNvPr id="13" name="Google Shape;185;p18">
            <a:extLst>
              <a:ext uri="{FF2B5EF4-FFF2-40B4-BE49-F238E27FC236}">
                <a16:creationId xmlns:a16="http://schemas.microsoft.com/office/drawing/2014/main" id="{49BF5F14-A201-FA4C-9BEA-C612C4078AF5}"/>
              </a:ext>
            </a:extLst>
          </p:cNvPr>
          <p:cNvSpPr txBox="1"/>
          <p:nvPr/>
        </p:nvSpPr>
        <p:spPr>
          <a:xfrm>
            <a:off x="2938689" y="5901358"/>
            <a:ext cx="820102"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003366"/>
                </a:solidFill>
                <a:latin typeface="Plus Jakarta Sans"/>
                <a:ea typeface="Plus Jakarta Sans"/>
                <a:cs typeface="Plus Jakarta Sans"/>
                <a:sym typeface="Plus Jakarta Sans"/>
              </a:rPr>
              <a:t>PyCharm</a:t>
            </a:r>
            <a:endParaRPr dirty="0"/>
          </a:p>
        </p:txBody>
      </p:sp>
      <p:sp>
        <p:nvSpPr>
          <p:cNvPr id="14" name="Google Shape;180;p18">
            <a:extLst>
              <a:ext uri="{FF2B5EF4-FFF2-40B4-BE49-F238E27FC236}">
                <a16:creationId xmlns:a16="http://schemas.microsoft.com/office/drawing/2014/main" id="{B06F346E-BCBE-44F9-D1D7-C4A1D8FBBB80}"/>
              </a:ext>
            </a:extLst>
          </p:cNvPr>
          <p:cNvSpPr txBox="1"/>
          <p:nvPr/>
        </p:nvSpPr>
        <p:spPr>
          <a:xfrm>
            <a:off x="5185480" y="1937869"/>
            <a:ext cx="5787319" cy="415498"/>
          </a:xfrm>
          <a:prstGeom prst="rect">
            <a:avLst/>
          </a:prstGeom>
          <a:noFill/>
          <a:ln>
            <a:noFill/>
          </a:ln>
        </p:spPr>
        <p:txBody>
          <a:bodyPr spcFirstLastPara="1" wrap="square" lIns="0" tIns="0" rIns="0" bIns="0" anchor="t" anchorCtr="0">
            <a:spAutoFit/>
          </a:bodyPr>
          <a:lstStyle/>
          <a:p>
            <a:pPr algn="ctr"/>
            <a:r>
              <a:rPr sz="1500">
                <a:solidFill>
                  <a:srgbClr val="33373D"/>
                </a:solidFill>
                <a:latin typeface="Arial"/>
              </a:rPr>
              <a:t>Lenguaje y framework del servidor. Valida los datos de entrada desde los tipos declarados y publica el contrato de la API automáticamente.</a:t>
            </a:r>
            <a:endParaRPr sz="1350" b="1" dirty="0">
              <a:solidFill>
                <a:srgbClr val="003366"/>
              </a:solidFill>
              <a:latin typeface="Plus Jakarta Sans"/>
              <a:cs typeface="Plus Jakarta Sans"/>
            </a:endParaRPr>
          </a:p>
        </p:txBody>
      </p:sp>
      <p:sp>
        <p:nvSpPr>
          <p:cNvPr id="16" name="Google Shape;182;p18">
            <a:extLst>
              <a:ext uri="{FF2B5EF4-FFF2-40B4-BE49-F238E27FC236}">
                <a16:creationId xmlns:a16="http://schemas.microsoft.com/office/drawing/2014/main" id="{E5F35F2E-E15D-32B4-EFE9-854E706A4D7C}"/>
              </a:ext>
            </a:extLst>
          </p:cNvPr>
          <p:cNvSpPr txBox="1"/>
          <p:nvPr/>
        </p:nvSpPr>
        <p:spPr>
          <a:xfrm>
            <a:off x="5264501" y="3214070"/>
            <a:ext cx="5787319" cy="415498"/>
          </a:xfrm>
          <a:prstGeom prst="rect">
            <a:avLst/>
          </a:prstGeom>
          <a:noFill/>
          <a:ln>
            <a:noFill/>
          </a:ln>
        </p:spPr>
        <p:txBody>
          <a:bodyPr spcFirstLastPara="1" wrap="square" lIns="0" tIns="0" rIns="0" bIns="0" anchor="t" anchorCtr="0">
            <a:spAutoFit/>
          </a:bodyPr>
          <a:lstStyle/>
          <a:p>
            <a:pPr algn="ctr"/>
            <a:r>
              <a:rPr sz="1500">
                <a:solidFill>
                  <a:srgbClr val="33373D"/>
                </a:solidFill>
                <a:latin typeface="Arial"/>
              </a:rPr>
              <a:t>Gestor relacional con veintisiete tablas en dos zonas, con acceso mediante consultas SQL explícitas.</a:t>
            </a:r>
            <a:endParaRPr sz="1350" b="1" dirty="0">
              <a:solidFill>
                <a:srgbClr val="003366"/>
              </a:solidFill>
              <a:latin typeface="Plus Jakarta Sans"/>
              <a:cs typeface="Plus Jakarta Sans"/>
            </a:endParaRPr>
          </a:p>
        </p:txBody>
      </p:sp>
      <p:sp>
        <p:nvSpPr>
          <p:cNvPr id="19" name="Google Shape;184;p18">
            <a:extLst>
              <a:ext uri="{FF2B5EF4-FFF2-40B4-BE49-F238E27FC236}">
                <a16:creationId xmlns:a16="http://schemas.microsoft.com/office/drawing/2014/main" id="{A0DC273B-02A0-08EC-448F-6B6D27AB28B5}"/>
              </a:ext>
            </a:extLst>
          </p:cNvPr>
          <p:cNvSpPr txBox="1"/>
          <p:nvPr/>
        </p:nvSpPr>
        <p:spPr>
          <a:xfrm>
            <a:off x="5724878" y="4490271"/>
            <a:ext cx="4708524" cy="415498"/>
          </a:xfrm>
          <a:prstGeom prst="rect">
            <a:avLst/>
          </a:prstGeom>
          <a:noFill/>
          <a:ln>
            <a:noFill/>
          </a:ln>
        </p:spPr>
        <p:txBody>
          <a:bodyPr spcFirstLastPara="1" wrap="square" lIns="0" tIns="0" rIns="0" bIns="0" anchor="t" anchorCtr="0">
            <a:spAutoFit/>
          </a:bodyPr>
          <a:lstStyle/>
          <a:p>
            <a:pPr algn="ctr"/>
            <a:r>
              <a:rPr sz="1500">
                <a:solidFill>
                  <a:srgbClr val="33373D"/>
                </a:solidFill>
                <a:latin typeface="Arial"/>
              </a:rPr>
              <a:t>Plantillas Jinja2 con Bootstrap y Chart.js para el panel y sus gráficas.</a:t>
            </a:r>
            <a:endParaRPr sz="1350" b="1" dirty="0">
              <a:solidFill>
                <a:srgbClr val="003366"/>
              </a:solidFill>
              <a:latin typeface="Plus Jakarta Sans"/>
              <a:cs typeface="Plus Jakarta Sans"/>
            </a:endParaRPr>
          </a:p>
        </p:txBody>
      </p:sp>
      <p:sp>
        <p:nvSpPr>
          <p:cNvPr id="20" name="Google Shape;186;p18">
            <a:extLst>
              <a:ext uri="{FF2B5EF4-FFF2-40B4-BE49-F238E27FC236}">
                <a16:creationId xmlns:a16="http://schemas.microsoft.com/office/drawing/2014/main" id="{AF261DFC-D721-ED25-DE9B-C426812B8699}"/>
              </a:ext>
            </a:extLst>
          </p:cNvPr>
          <p:cNvSpPr txBox="1"/>
          <p:nvPr/>
        </p:nvSpPr>
        <p:spPr>
          <a:xfrm>
            <a:off x="5751496" y="5699271"/>
            <a:ext cx="4813331" cy="623248"/>
          </a:xfrm>
          <a:prstGeom prst="rect">
            <a:avLst/>
          </a:prstGeom>
          <a:noFill/>
          <a:ln>
            <a:noFill/>
          </a:ln>
        </p:spPr>
        <p:txBody>
          <a:bodyPr spcFirstLastPara="1" wrap="square" lIns="0" tIns="0" rIns="0" bIns="0" anchor="t" anchorCtr="0">
            <a:spAutoFit/>
          </a:bodyPr>
          <a:lstStyle/>
          <a:p>
            <a:pPr algn="ctr"/>
            <a:r>
              <a:rPr sz="1500">
                <a:solidFill>
                  <a:srgbClr val="33373D"/>
                </a:solidFill>
                <a:latin typeface="Arial"/>
              </a:rPr>
              <a:t>Entorno de desarrollo usado para escribir, depurar y mantener el código.</a:t>
            </a:r>
            <a:endParaRPr sz="1350" b="1" dirty="0">
              <a:solidFill>
                <a:srgbClr val="003366"/>
              </a:solidFill>
              <a:latin typeface="Plus Jakarta Sans"/>
              <a:cs typeface="Plus Jakarta Sans"/>
            </a:endParaRPr>
          </a:p>
        </p:txBody>
      </p:sp>
      <p:sp>
        <p:nvSpPr>
          <p:cNvPr id="21" name="TextBox 2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32 / 41</a:t>
            </a:r>
          </a:p>
        </p:txBody>
      </p:sp>
    </p:spTree>
    <p:extLst>
      <p:ext uri="{BB962C8B-B14F-4D97-AF65-F5344CB8AC3E}">
        <p14:creationId xmlns:p14="http://schemas.microsoft.com/office/powerpoint/2010/main" val="27865072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15" name="Google Shape;213;p19">
            <a:extLst>
              <a:ext uri="{FF2B5EF4-FFF2-40B4-BE49-F238E27FC236}">
                <a16:creationId xmlns:a16="http://schemas.microsoft.com/office/drawing/2014/main" id="{674911B7-95B5-712F-35A8-57FEC42F3B04}"/>
              </a:ext>
            </a:extLst>
          </p:cNvPr>
          <p:cNvSpPr/>
          <p:nvPr/>
        </p:nvSpPr>
        <p:spPr>
          <a:xfrm>
            <a:off x="481189" y="836930"/>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 name="Google Shape;212;p19">
            <a:extLst>
              <a:ext uri="{FF2B5EF4-FFF2-40B4-BE49-F238E27FC236}">
                <a16:creationId xmlns:a16="http://schemas.microsoft.com/office/drawing/2014/main" id="{DA5B7F3C-C4E1-2C3C-A80A-D53E220848D0}"/>
              </a:ext>
            </a:extLst>
          </p:cNvPr>
          <p:cNvSpPr txBox="1"/>
          <p:nvPr/>
        </p:nvSpPr>
        <p:spPr>
          <a:xfrm>
            <a:off x="481189" y="408305"/>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Herramientas de Apoyo, Pruebas y Control de Versiones</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r>
              <a:rPr lang="en-US" sz="2700" b="0" i="0" u="none" strike="noStrike" cap="none" dirty="0" err="1">
                <a:solidFill>
                  <a:srgbClr val="003366"/>
                </a:solidFill>
                <a:latin typeface="Plus Jakarta Sans ExtraBold"/>
                <a:ea typeface="Plus Jakarta Sans ExtraBold"/>
                <a:cs typeface="Plus Jakarta Sans ExtraBold"/>
                <a:sym typeface="Plus Jakarta Sans ExtraBold"/>
              </a:rPr>
              <a:t/>
            </a:r>
            <a:r>
              <a:rPr lang="en-US" sz="2700" b="0" i="0" u="none" strike="noStrike" cap="none" dirty="0">
                <a:solidFill>
                  <a:srgbClr val="003366"/>
                </a:solidFill>
                <a:latin typeface="Plus Jakarta Sans ExtraBold"/>
                <a:ea typeface="Plus Jakarta Sans ExtraBold"/>
                <a:cs typeface="Plus Jakarta Sans ExtraBold"/>
                <a:sym typeface="Plus Jakarta Sans ExtraBold"/>
              </a:rPr>
              <a:t/>
            </a:r>
            <a:endParaRPr dirty="0"/>
          </a:p>
        </p:txBody>
      </p:sp>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2164173344"/>
              </p:ext>
            </p:extLst>
          </p:nvPr>
        </p:nvGraphicFramePr>
        <p:xfrm>
          <a:off x="672362" y="1209675"/>
          <a:ext cx="10847275" cy="5385500"/>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35860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003366"/>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203075">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sz="1500" b="1">
                          <a:solidFill>
                            <a:srgbClr val="1F3B73"/>
                          </a:solidFill>
                          <a:latin typeface="Arial"/>
                        </a:rPr>
                        <a:t>Claude AI</a:t>
                      </a: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sz="1500" b="0">
                          <a:solidFill>
                            <a:srgbClr val="33373D"/>
                          </a:solidFill>
                          <a:latin typeface="Arial"/>
                        </a:rPr>
                        <a:t>Asistente empleado para revisar código, contrastar decisiones de diseño y redactar documentación.</a:t>
                      </a: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302950">
                <a:tc>
                  <a:txBody>
                    <a:bodyPr/>
                    <a:lstStyle/>
                    <a:p>
                      <a:pPr marL="0" marR="0" lvl="0" indent="0" algn="ctr" rtl="0">
                        <a:lnSpc>
                          <a:spcPct val="100000"/>
                        </a:lnSpc>
                        <a:spcBef>
                          <a:spcPts val="0"/>
                        </a:spcBef>
                        <a:spcAft>
                          <a:spcPts val="0"/>
                        </a:spcAft>
                        <a:buClr>
                          <a:srgbClr val="000000"/>
                        </a:buClr>
                        <a:buFont typeface="Arial"/>
                        <a:buNone/>
                      </a:pPr>
                      <a:endParaRPr sz="1400" b="0" i="0" u="none" strike="noStrike" cap="none" dirty="0">
                        <a:solidFill>
                          <a:schemeClr val="tx1"/>
                        </a:solidFill>
                        <a:highlight>
                          <a:srgbClr val="C0C0C0"/>
                        </a:highlight>
                        <a:latin typeface="+mn-lt"/>
                        <a:ea typeface="+mn-ea"/>
                        <a:cs typeface="+mn-cs"/>
                        <a:sym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r>
                        <a:rPr sz="1500" b="1">
                          <a:solidFill>
                            <a:srgbClr val="1F3B73"/>
                          </a:solidFill>
                          <a:latin typeface="Arial"/>
                        </a:rPr>
                        <a:t>Postman</a:t>
                      </a:r>
                      <a:endParaRPr sz="1400" b="0" i="0" u="none" strike="noStrike" cap="none" dirty="0">
                        <a:solidFill>
                          <a:schemeClr val="tx1"/>
                        </a:solidFill>
                        <a:highlight>
                          <a:srgbClr val="C0C0C0"/>
                        </a:highlight>
                        <a:latin typeface="+mn-lt"/>
                        <a:ea typeface="+mn-ea"/>
                        <a:cs typeface="+mn-cs"/>
                        <a:sym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r>
                        <a:rPr sz="1500" b="0">
                          <a:solidFill>
                            <a:srgbClr val="33373D"/>
                          </a:solidFill>
                          <a:latin typeface="Arial"/>
                        </a:rPr>
                        <a:t>Cliente con el que se probaron las nueve operaciones de la API antes de integrarlas.</a:t>
                      </a:r>
                      <a:endParaRPr sz="1400" b="0" i="0" u="none" strike="noStrike" cap="none" dirty="0">
                        <a:solidFill>
                          <a:schemeClr val="tx1"/>
                        </a:solidFill>
                        <a:highlight>
                          <a:srgbClr val="C0C0C0"/>
                        </a:highlight>
                        <a:latin typeface="+mn-lt"/>
                        <a:ea typeface="+mn-ea"/>
                        <a:cs typeface="+mn-cs"/>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346500">
                <a:tc>
                  <a:txBody>
                    <a:bodyPr/>
                    <a:lstStyle/>
                    <a:p>
                      <a:pPr marL="0" marR="0" lvl="0" indent="0" algn="ctr" rtl="0">
                        <a:spcBef>
                          <a:spcPts val="0"/>
                        </a:spcBef>
                        <a:spcAft>
                          <a:spcPts val="0"/>
                        </a:spcAft>
                        <a:buNone/>
                      </a:pPr>
                      <a:endParaRPr dirty="0"/>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sz="1500" b="1">
                          <a:solidFill>
                            <a:srgbClr val="1F3B73"/>
                          </a:solidFill>
                          <a:latin typeface="Arial"/>
                        </a:rPr>
                        <a:t>Git y GitHub</a:t>
                      </a: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sz="1500" b="0">
                          <a:solidFill>
                            <a:srgbClr val="33373D"/>
                          </a:solidFill>
                          <a:latin typeface="Arial"/>
                        </a:rPr>
                        <a:t>Control de versiones y alojamiento remoto para el trabajo colaborativo del equipo.</a:t>
                      </a: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r h="1174375">
                <a:tc>
                  <a:txBody>
                    <a:bodyPr/>
                    <a:lstStyle/>
                    <a:p>
                      <a:pPr marL="0" marR="0" lvl="0" indent="0" algn="ctr" rtl="0">
                        <a:spcBef>
                          <a:spcPts val="0"/>
                        </a:spcBef>
                        <a:spcAft>
                          <a:spcPts val="0"/>
                        </a:spcAft>
                        <a:buNone/>
                      </a:pPr>
                      <a:endParaRPr dirty="0"/>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r>
                        <a:rPr sz="1500" b="1">
                          <a:solidFill>
                            <a:srgbClr val="1F3B73"/>
                          </a:solidFill>
                          <a:latin typeface="Arial"/>
                        </a:rPr>
                        <a:t>pytest</a:t>
                      </a: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r>
                        <a:rPr sz="1500" b="0">
                          <a:solidFill>
                            <a:srgbClr val="33373D"/>
                          </a:solidFill>
                          <a:latin typeface="Arial"/>
                        </a:rPr>
                        <a:t>Ejecuta las 190 pruebas automatizadas del proyecto en 3,3 segundos.</a:t>
                      </a: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4"/>
                  </a:ext>
                </a:extLst>
              </a:tr>
            </a:tbl>
          </a:graphicData>
        </a:graphic>
      </p:graphicFrame>
      <p:pic>
        <p:nvPicPr>
          <p:cNvPr id="19" name="Google Shape;214;p19">
            <a:extLst>
              <a:ext uri="{FF2B5EF4-FFF2-40B4-BE49-F238E27FC236}">
                <a16:creationId xmlns:a16="http://schemas.microsoft.com/office/drawing/2014/main" id="{BB405D65-7548-5574-5245-4B8612EEC6C1}"/>
              </a:ext>
            </a:extLst>
          </p:cNvPr>
          <p:cNvPicPr preferRelativeResize="0"/>
          <p:nvPr/>
        </p:nvPicPr>
        <p:blipFill>
          <a:blip r:embed="rId5">
            <a:alphaModFix/>
          </a:blip>
          <a:stretch>
            <a:fillRect/>
          </a:stretch>
        </p:blipFill>
        <p:spPr>
          <a:xfrm>
            <a:off x="882719" y="1674675"/>
            <a:ext cx="966387" cy="966387"/>
          </a:xfrm>
          <a:prstGeom prst="rect">
            <a:avLst/>
          </a:prstGeom>
          <a:noFill/>
          <a:ln>
            <a:noFill/>
          </a:ln>
        </p:spPr>
      </p:pic>
      <p:pic>
        <p:nvPicPr>
          <p:cNvPr id="20" name="Google Shape;209;p19" descr="image.png">
            <a:extLst>
              <a:ext uri="{FF2B5EF4-FFF2-40B4-BE49-F238E27FC236}">
                <a16:creationId xmlns:a16="http://schemas.microsoft.com/office/drawing/2014/main" id="{959B4F65-47E5-59BA-5C6E-F8E60E028A70}"/>
              </a:ext>
            </a:extLst>
          </p:cNvPr>
          <p:cNvPicPr preferRelativeResize="0"/>
          <p:nvPr/>
        </p:nvPicPr>
        <p:blipFill rotWithShape="1">
          <a:blip r:embed="rId6">
            <a:alphaModFix/>
          </a:blip>
          <a:srcRect/>
          <a:stretch/>
        </p:blipFill>
        <p:spPr>
          <a:xfrm>
            <a:off x="937287" y="3048760"/>
            <a:ext cx="857250" cy="857250"/>
          </a:xfrm>
          <a:prstGeom prst="rect">
            <a:avLst/>
          </a:prstGeom>
          <a:noFill/>
          <a:ln>
            <a:noFill/>
          </a:ln>
        </p:spPr>
      </p:pic>
      <p:pic>
        <p:nvPicPr>
          <p:cNvPr id="21" name="Google Shape;210;p19" descr="image.png">
            <a:extLst>
              <a:ext uri="{FF2B5EF4-FFF2-40B4-BE49-F238E27FC236}">
                <a16:creationId xmlns:a16="http://schemas.microsoft.com/office/drawing/2014/main" id="{F5A32B8F-B913-5C82-028A-AF747D09BF81}"/>
              </a:ext>
            </a:extLst>
          </p:cNvPr>
          <p:cNvPicPr preferRelativeResize="0"/>
          <p:nvPr/>
        </p:nvPicPr>
        <p:blipFill rotWithShape="1">
          <a:blip r:embed="rId7">
            <a:alphaModFix/>
          </a:blip>
          <a:srcRect/>
          <a:stretch/>
        </p:blipFill>
        <p:spPr>
          <a:xfrm>
            <a:off x="882719" y="4568377"/>
            <a:ext cx="457200" cy="457200"/>
          </a:xfrm>
          <a:prstGeom prst="rect">
            <a:avLst/>
          </a:prstGeom>
          <a:noFill/>
          <a:ln>
            <a:noFill/>
          </a:ln>
        </p:spPr>
      </p:pic>
      <p:pic>
        <p:nvPicPr>
          <p:cNvPr id="22" name="Google Shape;211;p19" descr="image.png">
            <a:extLst>
              <a:ext uri="{FF2B5EF4-FFF2-40B4-BE49-F238E27FC236}">
                <a16:creationId xmlns:a16="http://schemas.microsoft.com/office/drawing/2014/main" id="{85243684-8CB1-3508-B1BA-C5247D4660EB}"/>
              </a:ext>
            </a:extLst>
          </p:cNvPr>
          <p:cNvPicPr preferRelativeResize="0"/>
          <p:nvPr/>
        </p:nvPicPr>
        <p:blipFill rotWithShape="1">
          <a:blip r:embed="rId8">
            <a:alphaModFix/>
          </a:blip>
          <a:srcRect/>
          <a:stretch/>
        </p:blipFill>
        <p:spPr>
          <a:xfrm>
            <a:off x="1492319" y="4568377"/>
            <a:ext cx="457200" cy="457200"/>
          </a:xfrm>
          <a:prstGeom prst="rect">
            <a:avLst/>
          </a:prstGeom>
          <a:noFill/>
          <a:ln>
            <a:noFill/>
          </a:ln>
        </p:spPr>
      </p:pic>
      <p:sp>
        <p:nvSpPr>
          <p:cNvPr id="23" name="TextBox 22"/>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33 / 41</a:t>
            </a:r>
          </a:p>
        </p:txBody>
      </p:sp>
    </p:spTree>
    <p:extLst>
      <p:ext uri="{BB962C8B-B14F-4D97-AF65-F5344CB8AC3E}">
        <p14:creationId xmlns:p14="http://schemas.microsoft.com/office/powerpoint/2010/main" val="24407614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3" name="Google Shape;390;p36">
            <a:extLst>
              <a:ext uri="{FF2B5EF4-FFF2-40B4-BE49-F238E27FC236}">
                <a16:creationId xmlns:a16="http://schemas.microsoft.com/office/drawing/2014/main" id="{71AE5CF3-DBC4-BAE8-C6EE-F8876AFE298A}"/>
              </a:ext>
            </a:extLst>
          </p:cNvPr>
          <p:cNvSpPr txBox="1"/>
          <p:nvPr/>
        </p:nvSpPr>
        <p:spPr>
          <a:xfrm>
            <a:off x="1914676" y="3034882"/>
            <a:ext cx="8362648"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V. IMPLEMENTACIÓN</a:t>
            </a:r>
            <a:endParaRPr sz="4800" b="1" dirty="0">
              <a:solidFill>
                <a:schemeClr val="lt1"/>
              </a:solidFill>
              <a:latin typeface="Arial"/>
              <a:ea typeface="Arial"/>
              <a:cs typeface="Arial"/>
              <a:sym typeface="Arial"/>
            </a:endParaRPr>
          </a:p>
        </p:txBody>
      </p:sp>
      <p:pic>
        <p:nvPicPr>
          <p:cNvPr id="2" name="Google Shape;84;p13" descr="image.png">
            <a:extLst>
              <a:ext uri="{FF2B5EF4-FFF2-40B4-BE49-F238E27FC236}">
                <a16:creationId xmlns:a16="http://schemas.microsoft.com/office/drawing/2014/main" id="{9E110A48-56E6-3553-9070-E94091458B65}"/>
              </a:ext>
            </a:extLst>
          </p:cNvPr>
          <p:cNvPicPr preferRelativeResize="0"/>
          <p:nvPr/>
        </p:nvPicPr>
        <p:blipFill rotWithShape="1">
          <a:blip r:embed="rId4">
            <a:alphaModFix/>
          </a:blip>
          <a:srcRect t="99333"/>
          <a:stretch/>
        </p:blipFill>
        <p:spPr>
          <a:xfrm>
            <a:off x="0" y="6820763"/>
            <a:ext cx="12192000" cy="45719"/>
          </a:xfrm>
          <a:prstGeom prst="rect">
            <a:avLst/>
          </a:prstGeom>
          <a:noFill/>
          <a:ln>
            <a:noFill/>
          </a:ln>
        </p:spPr>
      </p:pic>
      <p:sp>
        <p:nvSpPr>
          <p:cNvPr id="4" name="TextBox 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34 / 41</a:t>
            </a:r>
          </a:p>
        </p:txBody>
      </p:sp>
    </p:spTree>
    <p:extLst>
      <p:ext uri="{BB962C8B-B14F-4D97-AF65-F5344CB8AC3E}">
        <p14:creationId xmlns:p14="http://schemas.microsoft.com/office/powerpoint/2010/main" val="22165886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B6CCC5A5-4DB2-FC14-B379-DB735B3B5E4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Pruebas del Sistema</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80160"/>
            <a:ext cx="10607040" cy="731520"/>
          </a:xfrm>
          <a:prstGeom prst="rect">
            <a:avLst/>
          </a:prstGeom>
          <a:noFill/>
        </p:spPr>
        <p:txBody>
          <a:bodyPr wrap="square">
            <a:spAutoFit/>
          </a:bodyPr>
          <a:lstStyle/>
          <a:p>
            <a:pPr algn="l"/>
            <a:r>
              <a:rPr sz="2000" b="1">
                <a:solidFill>
                  <a:srgbClr val="1F3B73"/>
                </a:solidFill>
                <a:latin typeface="Arial"/>
              </a:rPr>
              <a:t>190 pruebas automatizadas en 3,3 segundos, más pruebas funcionales sobre la interfaz.</a:t>
            </a:r>
          </a:p>
        </p:txBody>
      </p:sp>
      <p:sp>
        <p:nvSpPr>
          <p:cNvPr id="25" name="TextBox 24"/>
          <p:cNvSpPr txBox="1"/>
          <p:nvPr/>
        </p:nvSpPr>
        <p:spPr>
          <a:xfrm>
            <a:off x="822960" y="2194560"/>
            <a:ext cx="4937760" cy="365760"/>
          </a:xfrm>
          <a:prstGeom prst="rect">
            <a:avLst/>
          </a:prstGeom>
          <a:noFill/>
        </p:spPr>
        <p:txBody>
          <a:bodyPr wrap="square">
            <a:spAutoFit/>
          </a:bodyPr>
          <a:lstStyle/>
          <a:p>
            <a:pPr algn="l"/>
            <a:r>
              <a:rPr sz="2000" b="1">
                <a:solidFill>
                  <a:srgbClr val="1F3B73"/>
                </a:solidFill>
                <a:latin typeface="Arial"/>
              </a:rPr>
              <a:t>Qué se comprueba</a:t>
            </a:r>
          </a:p>
        </p:txBody>
      </p:sp>
      <p:sp>
        <p:nvSpPr>
          <p:cNvPr id="26" name="TextBox 25"/>
          <p:cNvSpPr txBox="1"/>
          <p:nvPr/>
        </p:nvSpPr>
        <p:spPr>
          <a:xfrm>
            <a:off x="822960" y="2743200"/>
            <a:ext cx="4937760" cy="749808"/>
          </a:xfrm>
          <a:prstGeom prst="rect">
            <a:avLst/>
          </a:prstGeom>
          <a:noFill/>
        </p:spPr>
        <p:txBody>
          <a:bodyPr wrap="square">
            <a:spAutoFit/>
          </a:bodyPr>
          <a:lstStyle/>
          <a:p>
            <a:r>
              <a:rPr sz="1600">
                <a:solidFill>
                  <a:srgbClr val="33373D"/>
                </a:solidFill>
                <a:latin typeface="Arial"/>
              </a:rPr>
              <a:t>Que la aritmética tributaria arroje los mismos valores en la web y en la API.</a:t>
            </a:r>
          </a:p>
        </p:txBody>
      </p:sp>
      <p:sp>
        <p:nvSpPr>
          <p:cNvPr id="27" name="TextBox 26"/>
          <p:cNvSpPr txBox="1"/>
          <p:nvPr/>
        </p:nvSpPr>
        <p:spPr>
          <a:xfrm>
            <a:off x="822960" y="3493008"/>
            <a:ext cx="4937760" cy="749808"/>
          </a:xfrm>
          <a:prstGeom prst="rect">
            <a:avLst/>
          </a:prstGeom>
          <a:noFill/>
        </p:spPr>
        <p:txBody>
          <a:bodyPr wrap="square">
            <a:spAutoFit/>
          </a:bodyPr>
          <a:lstStyle/>
          <a:p>
            <a:r>
              <a:rPr sz="1600">
                <a:solidFill>
                  <a:srgbClr val="33373D"/>
                </a:solidFill>
                <a:latin typeface="Arial"/>
              </a:rPr>
              <a:t>Que un fallo a mitad de una emisión no deje rastro ni gaste un consecutivo.</a:t>
            </a:r>
          </a:p>
        </p:txBody>
      </p:sp>
      <p:sp>
        <p:nvSpPr>
          <p:cNvPr id="28" name="TextBox 27"/>
          <p:cNvSpPr txBox="1"/>
          <p:nvPr/>
        </p:nvSpPr>
        <p:spPr>
          <a:xfrm>
            <a:off x="822960" y="4242816"/>
            <a:ext cx="4937760" cy="749808"/>
          </a:xfrm>
          <a:prstGeom prst="rect">
            <a:avLst/>
          </a:prstGeom>
          <a:noFill/>
        </p:spPr>
        <p:txBody>
          <a:bodyPr wrap="square">
            <a:spAutoFit/>
          </a:bodyPr>
          <a:lstStyle/>
          <a:p>
            <a:r>
              <a:rPr sz="1600">
                <a:solidFill>
                  <a:srgbClr val="33373D"/>
                </a:solidFill>
                <a:latin typeface="Arial"/>
              </a:rPr>
              <a:t>Que los documentos lleven la identidad de la empresa emisora.</a:t>
            </a:r>
          </a:p>
        </p:txBody>
      </p:sp>
      <p:sp>
        <p:nvSpPr>
          <p:cNvPr id="29" name="TextBox 28"/>
          <p:cNvSpPr txBox="1"/>
          <p:nvPr/>
        </p:nvSpPr>
        <p:spPr>
          <a:xfrm>
            <a:off x="822960" y="4992624"/>
            <a:ext cx="4937760" cy="749808"/>
          </a:xfrm>
          <a:prstGeom prst="rect">
            <a:avLst/>
          </a:prstGeom>
          <a:noFill/>
        </p:spPr>
        <p:txBody>
          <a:bodyPr wrap="square">
            <a:spAutoFit/>
          </a:bodyPr>
          <a:lstStyle/>
          <a:p>
            <a:r>
              <a:rPr sz="1600">
                <a:solidFill>
                  <a:srgbClr val="33373D"/>
                </a:solidFill>
                <a:latin typeface="Arial"/>
              </a:rPr>
              <a:t>Que el control de acceso impida a cada rol lo que no le corresponde.</a:t>
            </a:r>
          </a:p>
        </p:txBody>
      </p:sp>
      <p:sp>
        <p:nvSpPr>
          <p:cNvPr id="30" name="TextBox 29"/>
          <p:cNvSpPr txBox="1"/>
          <p:nvPr/>
        </p:nvSpPr>
        <p:spPr>
          <a:xfrm>
            <a:off x="6309360" y="2194560"/>
            <a:ext cx="5029200" cy="365760"/>
          </a:xfrm>
          <a:prstGeom prst="rect">
            <a:avLst/>
          </a:prstGeom>
          <a:noFill/>
        </p:spPr>
        <p:txBody>
          <a:bodyPr wrap="square">
            <a:spAutoFit/>
          </a:bodyPr>
          <a:lstStyle/>
          <a:p>
            <a:pPr algn="l"/>
            <a:r>
              <a:rPr sz="2000" b="1">
                <a:solidFill>
                  <a:srgbClr val="1F3B73"/>
                </a:solidFill>
                <a:latin typeface="Arial"/>
              </a:rPr>
              <a:t>Qué quedó fuera</a:t>
            </a:r>
          </a:p>
        </p:txBody>
      </p:sp>
      <p:sp>
        <p:nvSpPr>
          <p:cNvPr id="31" name="TextBox 30"/>
          <p:cNvSpPr txBox="1"/>
          <p:nvPr/>
        </p:nvSpPr>
        <p:spPr>
          <a:xfrm>
            <a:off x="6309360" y="2743200"/>
            <a:ext cx="5029200" cy="1188720"/>
          </a:xfrm>
          <a:prstGeom prst="rect">
            <a:avLst/>
          </a:prstGeom>
          <a:noFill/>
        </p:spPr>
        <p:txBody>
          <a:bodyPr wrap="square">
            <a:spAutoFit/>
          </a:bodyPr>
          <a:lstStyle/>
          <a:p>
            <a:r>
              <a:rPr sz="1600">
                <a:solidFill>
                  <a:srgbClr val="33373D"/>
                </a:solidFill>
                <a:latin typeface="Arial"/>
              </a:rPr>
              <a:t>La carga sostenida, que exige una infraestructura de producción.</a:t>
            </a:r>
          </a:p>
        </p:txBody>
      </p:sp>
      <p:sp>
        <p:nvSpPr>
          <p:cNvPr id="32" name="TextBox 31"/>
          <p:cNvSpPr txBox="1"/>
          <p:nvPr/>
        </p:nvSpPr>
        <p:spPr>
          <a:xfrm>
            <a:off x="6309360" y="3931920"/>
            <a:ext cx="5029200" cy="1188720"/>
          </a:xfrm>
          <a:prstGeom prst="rect">
            <a:avLst/>
          </a:prstGeom>
          <a:noFill/>
        </p:spPr>
        <p:txBody>
          <a:bodyPr wrap="square">
            <a:spAutoFit/>
          </a:bodyPr>
          <a:lstStyle/>
          <a:p>
            <a:r>
              <a:rPr sz="1600">
                <a:solidFill>
                  <a:srgbClr val="33373D"/>
                </a:solidFill>
                <a:latin typeface="Arial"/>
              </a:rPr>
              <a:t>La validación contra los servicios en producción de la DIAN, que depende de la habilitación del proveedor.</a:t>
            </a:r>
          </a:p>
        </p:txBody>
      </p:sp>
      <p:sp>
        <p:nvSpPr>
          <p:cNvPr id="33" name="TextBox 32"/>
          <p:cNvSpPr txBox="1"/>
          <p:nvPr/>
        </p:nvSpPr>
        <p:spPr>
          <a:xfrm>
            <a:off x="777240" y="5577840"/>
            <a:ext cx="10607040" cy="640080"/>
          </a:xfrm>
          <a:prstGeom prst="rect">
            <a:avLst/>
          </a:prstGeom>
          <a:noFill/>
        </p:spPr>
        <p:txBody>
          <a:bodyPr wrap="square">
            <a:spAutoFit/>
          </a:bodyPr>
          <a:lstStyle/>
          <a:p>
            <a:pPr algn="l"/>
            <a:r>
              <a:rPr sz="1700" b="0">
                <a:solidFill>
                  <a:srgbClr val="33373D"/>
                </a:solidFill>
                <a:latin typeface="Arial"/>
              </a:rPr>
              <a:t>Comprobar qué pasa cuando algo falla pesa tanto como comprobar que funciona.</a:t>
            </a:r>
          </a:p>
        </p:txBody>
      </p:sp>
      <p:sp>
        <p:nvSpPr>
          <p:cNvPr id="34" name="TextBox 3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35 / 41</a:t>
            </a:r>
          </a:p>
        </p:txBody>
      </p:sp>
    </p:spTree>
    <p:extLst>
      <p:ext uri="{BB962C8B-B14F-4D97-AF65-F5344CB8AC3E}">
        <p14:creationId xmlns:p14="http://schemas.microsoft.com/office/powerpoint/2010/main" val="20496877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Evidencia de Pruebas</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34440"/>
            <a:ext cx="10607040" cy="365760"/>
          </a:xfrm>
          <a:prstGeom prst="rect">
            <a:avLst/>
          </a:prstGeom>
          <a:noFill/>
        </p:spPr>
        <p:txBody>
          <a:bodyPr wrap="square">
            <a:spAutoFit/>
          </a:bodyPr>
          <a:lstStyle/>
          <a:p>
            <a:pPr algn="l"/>
            <a:r>
              <a:rPr sz="1900" b="1">
                <a:solidFill>
                  <a:srgbClr val="1F3B73"/>
                </a:solidFill>
                <a:latin typeface="Arial"/>
              </a:rPr>
              <a:t>RF 4.2. Registro de un cliente</a:t>
            </a:r>
          </a:p>
        </p:txBody>
      </p:sp>
      <p:sp>
        <p:nvSpPr>
          <p:cNvPr id="25" name="TextBox 24"/>
          <p:cNvSpPr txBox="1"/>
          <p:nvPr/>
        </p:nvSpPr>
        <p:spPr>
          <a:xfrm>
            <a:off x="822960" y="1737360"/>
            <a:ext cx="4937760" cy="274320"/>
          </a:xfrm>
          <a:prstGeom prst="rect">
            <a:avLst/>
          </a:prstGeom>
          <a:noFill/>
        </p:spPr>
        <p:txBody>
          <a:bodyPr wrap="square">
            <a:spAutoFit/>
          </a:bodyPr>
          <a:lstStyle/>
          <a:p>
            <a:pPr algn="l"/>
            <a:r>
              <a:rPr sz="1500" b="0">
                <a:solidFill>
                  <a:srgbClr val="6B7280"/>
                </a:solidFill>
                <a:latin typeface="Arial"/>
              </a:rPr>
              <a:t>Formulario diligenciado</a:t>
            </a:r>
          </a:p>
        </p:txBody>
      </p:sp>
      <p:pic>
        <p:nvPicPr>
          <p:cNvPr id="26" name="Picture 25" descr="registro de nuevo cliente.png"/>
          <p:cNvPicPr>
            <a:picLocks noChangeAspect="1"/>
          </p:cNvPicPr>
          <p:nvPr/>
        </p:nvPicPr>
        <p:blipFill>
          <a:blip r:embed="rId6"/>
          <a:stretch>
            <a:fillRect/>
          </a:stretch>
        </p:blipFill>
        <p:spPr>
          <a:xfrm>
            <a:off x="822960" y="2322705"/>
            <a:ext cx="5029200" cy="2486909"/>
          </a:xfrm>
          <a:prstGeom prst="rect">
            <a:avLst/>
          </a:prstGeom>
        </p:spPr>
      </p:pic>
      <p:sp>
        <p:nvSpPr>
          <p:cNvPr id="27" name="TextBox 26"/>
          <p:cNvSpPr txBox="1"/>
          <p:nvPr/>
        </p:nvSpPr>
        <p:spPr>
          <a:xfrm>
            <a:off x="6309360" y="1737360"/>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o cliente emitido.png"/>
          <p:cNvPicPr>
            <a:picLocks noChangeAspect="1"/>
          </p:cNvPicPr>
          <p:nvPr/>
        </p:nvPicPr>
        <p:blipFill>
          <a:blip r:embed="rId7"/>
          <a:stretch>
            <a:fillRect/>
          </a:stretch>
        </p:blipFill>
        <p:spPr>
          <a:xfrm>
            <a:off x="6309360" y="2329991"/>
            <a:ext cx="5029200" cy="2472338"/>
          </a:xfrm>
          <a:prstGeom prst="rect">
            <a:avLst/>
          </a:prstGeom>
        </p:spPr>
      </p:pic>
      <p:sp>
        <p:nvSpPr>
          <p:cNvPr id="29" name="TextBox 28"/>
          <p:cNvSpPr txBox="1"/>
          <p:nvPr/>
        </p:nvSpPr>
        <p:spPr>
          <a:xfrm>
            <a:off x="777240" y="5349240"/>
            <a:ext cx="10607040" cy="640080"/>
          </a:xfrm>
          <a:prstGeom prst="rect">
            <a:avLst/>
          </a:prstGeom>
          <a:noFill/>
        </p:spPr>
        <p:txBody>
          <a:bodyPr wrap="square">
            <a:spAutoFit/>
          </a:bodyPr>
          <a:lstStyle/>
          <a:p>
            <a:pPr algn="l"/>
            <a:r>
              <a:rPr sz="1800" b="0">
                <a:solidFill>
                  <a:srgbClr val="33373D"/>
                </a:solidFill>
                <a:latin typeface="Arial"/>
              </a:rPr>
              <a:t>El cliente quedó registrado y disponible para facturarle, y la operación quedó anotada en el registro de auditoría.</a:t>
            </a:r>
          </a:p>
        </p:txBody>
      </p:sp>
      <p:sp>
        <p:nvSpPr>
          <p:cNvPr id="30" name="TextBox 29"/>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Las cuatro evidencias constan en el capítulo 6 del documento de grado.</a:t>
            </a:r>
          </a:p>
        </p:txBody>
      </p:sp>
      <p:sp>
        <p:nvSpPr>
          <p:cNvPr id="31" name="TextBox 3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36 / 41</a:t>
            </a:r>
          </a:p>
        </p:txBody>
      </p:sp>
    </p:spTree>
    <p:extLst>
      <p:ext uri="{BB962C8B-B14F-4D97-AF65-F5344CB8AC3E}">
        <p14:creationId xmlns:p14="http://schemas.microsoft.com/office/powerpoint/2010/main" val="6497439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4"/>
        <p:cNvGrpSpPr/>
        <p:nvPr/>
      </p:nvGrpSpPr>
      <p:grpSpPr>
        <a:xfrm>
          <a:off x="0" y="0"/>
          <a:ext cx="0" cy="0"/>
          <a:chOff x="0" y="0"/>
          <a:chExt cx="0" cy="0"/>
        </a:xfrm>
      </p:grpSpPr>
      <p:sp>
        <p:nvSpPr>
          <p:cNvPr id="20" name="AutoShape 4" descr="Correo y sitio web en línea">
            <a:extLst>
              <a:ext uri="{FF2B5EF4-FFF2-40B4-BE49-F238E27FC236}">
                <a16:creationId xmlns:a16="http://schemas.microsoft.com/office/drawing/2014/main" id="{EAD54A52-3378-3CC3-29EF-E9E8EE665DE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23" name="Imagen 22">
            <a:extLst>
              <a:ext uri="{FF2B5EF4-FFF2-40B4-BE49-F238E27FC236}">
                <a16:creationId xmlns:a16="http://schemas.microsoft.com/office/drawing/2014/main" id="{5F281F11-A0F4-A0C6-E778-619B5F7C804E}"/>
              </a:ext>
            </a:extLst>
          </p:cNvPr>
          <p:cNvPicPr>
            <a:picLocks noChangeAspect="1"/>
          </p:cNvPicPr>
          <p:nvPr/>
        </p:nvPicPr>
        <p:blipFill>
          <a:blip r:embed="rId4"/>
          <a:srcRect t="42469" b="47778"/>
          <a:stretch/>
        </p:blipFill>
        <p:spPr>
          <a:xfrm>
            <a:off x="3349096" y="4392992"/>
            <a:ext cx="5189008" cy="380394"/>
          </a:xfrm>
          <a:prstGeom prst="rect">
            <a:avLst/>
          </a:prstGeom>
        </p:spPr>
      </p:pic>
      <p:pic>
        <p:nvPicPr>
          <p:cNvPr id="2" name="Google Shape;84;p13" descr="image.png">
            <a:extLst>
              <a:ext uri="{FF2B5EF4-FFF2-40B4-BE49-F238E27FC236}">
                <a16:creationId xmlns:a16="http://schemas.microsoft.com/office/drawing/2014/main" id="{FBE692BC-B46C-755F-B649-B15BA25BC357}"/>
              </a:ext>
            </a:extLst>
          </p:cNvPr>
          <p:cNvPicPr preferRelativeResize="0"/>
          <p:nvPr/>
        </p:nvPicPr>
        <p:blipFill rotWithShape="1">
          <a:blip r:embed="rId5">
            <a:alphaModFix/>
          </a:blip>
          <a:srcRect t="99333"/>
          <a:stretch/>
        </p:blipFill>
        <p:spPr>
          <a:xfrm>
            <a:off x="0" y="6820763"/>
            <a:ext cx="12192000" cy="45719"/>
          </a:xfrm>
          <a:prstGeom prst="rect">
            <a:avLst/>
          </a:prstGeom>
          <a:noFill/>
          <a:ln>
            <a:noFill/>
          </a:ln>
        </p:spPr>
      </p:pic>
      <p:sp>
        <p:nvSpPr>
          <p:cNvPr id="24" name="TextBox 23"/>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41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3">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Evidencia de Pruebas</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34440"/>
            <a:ext cx="10607040" cy="365760"/>
          </a:xfrm>
          <a:prstGeom prst="rect">
            <a:avLst/>
          </a:prstGeom>
          <a:noFill/>
        </p:spPr>
        <p:txBody>
          <a:bodyPr wrap="square">
            <a:spAutoFit/>
          </a:bodyPr>
          <a:lstStyle/>
          <a:p>
            <a:pPr algn="l"/>
            <a:r>
              <a:rPr sz="1900" b="1">
                <a:solidFill>
                  <a:srgbClr val="1F3B73"/>
                </a:solidFill>
                <a:latin typeface="Arial"/>
              </a:rPr>
              <a:t>RF 4.1. Emisión de una factura</a:t>
            </a:r>
          </a:p>
        </p:txBody>
      </p:sp>
      <p:sp>
        <p:nvSpPr>
          <p:cNvPr id="25" name="TextBox 24"/>
          <p:cNvSpPr txBox="1"/>
          <p:nvPr/>
        </p:nvSpPr>
        <p:spPr>
          <a:xfrm>
            <a:off x="822960" y="1737360"/>
            <a:ext cx="4937760" cy="274320"/>
          </a:xfrm>
          <a:prstGeom prst="rect">
            <a:avLst/>
          </a:prstGeom>
          <a:noFill/>
        </p:spPr>
        <p:txBody>
          <a:bodyPr wrap="square">
            <a:spAutoFit/>
          </a:bodyPr>
          <a:lstStyle/>
          <a:p>
            <a:pPr algn="l"/>
            <a:r>
              <a:rPr sz="1500" b="0">
                <a:solidFill>
                  <a:srgbClr val="6B7280"/>
                </a:solidFill>
                <a:latin typeface="Arial"/>
              </a:rPr>
              <a:t>Formulario diligenciado</a:t>
            </a:r>
          </a:p>
        </p:txBody>
      </p:sp>
      <p:pic>
        <p:nvPicPr>
          <p:cNvPr id="26" name="Picture 25" descr="registro de nueva factura.png"/>
          <p:cNvPicPr>
            <a:picLocks noChangeAspect="1"/>
          </p:cNvPicPr>
          <p:nvPr/>
        </p:nvPicPr>
        <p:blipFill>
          <a:blip r:embed="rId7"/>
          <a:stretch>
            <a:fillRect/>
          </a:stretch>
        </p:blipFill>
        <p:spPr>
          <a:xfrm>
            <a:off x="822960" y="2312187"/>
            <a:ext cx="5029200" cy="2507944"/>
          </a:xfrm>
          <a:prstGeom prst="rect">
            <a:avLst/>
          </a:prstGeom>
        </p:spPr>
      </p:pic>
      <p:sp>
        <p:nvSpPr>
          <p:cNvPr id="27" name="TextBox 26"/>
          <p:cNvSpPr txBox="1"/>
          <p:nvPr/>
        </p:nvSpPr>
        <p:spPr>
          <a:xfrm>
            <a:off x="6309360" y="1737360"/>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a factura emitida.png"/>
          <p:cNvPicPr>
            <a:picLocks noChangeAspect="1"/>
          </p:cNvPicPr>
          <p:nvPr/>
        </p:nvPicPr>
        <p:blipFill>
          <a:blip r:embed="rId8"/>
          <a:stretch>
            <a:fillRect/>
          </a:stretch>
        </p:blipFill>
        <p:spPr>
          <a:xfrm>
            <a:off x="6507241" y="2057400"/>
            <a:ext cx="4633436" cy="3017520"/>
          </a:xfrm>
          <a:prstGeom prst="rect">
            <a:avLst/>
          </a:prstGeom>
        </p:spPr>
      </p:pic>
      <p:sp>
        <p:nvSpPr>
          <p:cNvPr id="29" name="TextBox 28"/>
          <p:cNvSpPr txBox="1"/>
          <p:nvPr/>
        </p:nvSpPr>
        <p:spPr>
          <a:xfrm>
            <a:off x="777240" y="5349240"/>
            <a:ext cx="10607040" cy="640080"/>
          </a:xfrm>
          <a:prstGeom prst="rect">
            <a:avLst/>
          </a:prstGeom>
          <a:noFill/>
        </p:spPr>
        <p:txBody>
          <a:bodyPr wrap="square">
            <a:spAutoFit/>
          </a:bodyPr>
          <a:lstStyle/>
          <a:p>
            <a:pPr algn="l"/>
            <a:r>
              <a:rPr sz="1800" b="0">
                <a:solidFill>
                  <a:srgbClr val="33373D"/>
                </a:solidFill>
                <a:latin typeface="Arial"/>
              </a:rPr>
              <a:t>La factura quedó emitida con su número consecutivo, su código único y sus totales calculados.</a:t>
            </a:r>
          </a:p>
        </p:txBody>
      </p:sp>
      <p:sp>
        <p:nvSpPr>
          <p:cNvPr id="30" name="TextBox 29"/>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Las cuatro evidencias constan en el capítulo 6 del documento de grado.</a:t>
            </a:r>
          </a:p>
        </p:txBody>
      </p:sp>
      <p:sp>
        <p:nvSpPr>
          <p:cNvPr id="31" name="TextBox 3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37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3">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Resultado Obtenido de la Emisión</a:t>
            </a:r>
            <a:endParaRPr sz="2700" dirty="0">
              <a:solidFill>
                <a:srgbClr val="003366"/>
              </a:solidFill>
              <a:latin typeface="Plus Jakarta Sans ExtraBold"/>
              <a:cs typeface="Plus Jakarta Sans ExtraBold"/>
            </a:endParaRPr>
          </a:p>
        </p:txBody>
      </p:sp>
      <p:sp>
        <p:nvSpPr>
          <p:cNvPr id="24" name="TextBox 23"/>
          <p:cNvSpPr txBox="1"/>
          <p:nvPr/>
        </p:nvSpPr>
        <p:spPr>
          <a:xfrm>
            <a:off x="777240" y="1280160"/>
            <a:ext cx="10607040" cy="640080"/>
          </a:xfrm>
          <a:prstGeom prst="rect">
            <a:avLst/>
          </a:prstGeom>
          <a:noFill/>
        </p:spPr>
        <p:txBody>
          <a:bodyPr wrap="square">
            <a:spAutoFit/>
          </a:bodyPr>
          <a:lstStyle/>
          <a:p>
            <a:pPr algn="l"/>
            <a:r>
              <a:rPr sz="2100" b="1">
                <a:solidFill>
                  <a:srgbClr val="1F3B73"/>
                </a:solidFill>
                <a:latin typeface="Arial"/>
              </a:rPr>
              <a:t>La prueba fue satisfactoria. La factura quedó emitida y disponible para su descarga.</a:t>
            </a:r>
          </a:p>
        </p:txBody>
      </p:sp>
      <p:graphicFrame>
        <p:nvGraphicFramePr>
          <p:cNvPr id="25" name="Table 24"/>
          <p:cNvGraphicFramePr>
            <a:graphicFrameLocks noGrp="1"/>
          </p:cNvGraphicFramePr>
          <p:nvPr/>
        </p:nvGraphicFramePr>
        <p:xfrm>
          <a:off x="822960" y="2103120"/>
          <a:ext cx="10515600" cy="2926080"/>
        </p:xfrm>
        <a:graphic>
          <a:graphicData uri="http://schemas.openxmlformats.org/drawingml/2006/table">
            <a:tbl>
              <a:tblPr firstRow="1" bandRow="1">
                <a:tableStyleId>{5C22544A-7EE6-4342-B048-85BDC9FD1C3A}</a:tableStyleId>
              </a:tblPr>
              <a:tblGrid>
                <a:gridCol w="2834640"/>
                <a:gridCol w="7680960"/>
              </a:tblGrid>
              <a:tr h="487680">
                <a:tc>
                  <a:txBody>
                    <a:bodyPr/>
                    <a:lstStyle/>
                    <a:p>
                      <a:r>
                        <a:rPr sz="1600" b="1">
                          <a:solidFill>
                            <a:srgbClr val="FFFFFF"/>
                          </a:solidFill>
                          <a:latin typeface="Arial"/>
                        </a:rPr>
                        <a:t>Lo que se comprobó</a:t>
                      </a:r>
                    </a:p>
                  </a:txBody>
                  <a:tcPr marL="73152" marR="73152" marT="27432" marB="27432">
                    <a:solidFill>
                      <a:srgbClr val="1F3B73"/>
                    </a:solidFill>
                  </a:tcPr>
                </a:tc>
                <a:tc>
                  <a:txBody>
                    <a:bodyPr/>
                    <a:lstStyle/>
                    <a:p>
                      <a:r>
                        <a:rPr sz="1600" b="1">
                          <a:solidFill>
                            <a:srgbClr val="FFFFFF"/>
                          </a:solidFill>
                          <a:latin typeface="Arial"/>
                        </a:rPr>
                        <a:t>Resultado</a:t>
                      </a:r>
                    </a:p>
                  </a:txBody>
                  <a:tcPr marL="73152" marR="73152" marT="27432" marB="27432">
                    <a:solidFill>
                      <a:srgbClr val="1F3B73"/>
                    </a:solidFill>
                  </a:tcPr>
                </a:tc>
              </a:tr>
              <a:tr h="487680">
                <a:tc>
                  <a:txBody>
                    <a:bodyPr/>
                    <a:lstStyle/>
                    <a:p>
                      <a:r>
                        <a:rPr sz="1600" b="0">
                          <a:solidFill>
                            <a:srgbClr val="33373D"/>
                          </a:solidFill>
                          <a:latin typeface="Arial"/>
                        </a:rPr>
                        <a:t>Numeración</a:t>
                      </a:r>
                    </a:p>
                  </a:txBody>
                  <a:tcPr marL="73152" marR="73152" marT="27432" marB="27432">
                    <a:solidFill>
                      <a:srgbClr val="FFFFFF"/>
                    </a:solidFill>
                  </a:tcPr>
                </a:tc>
                <a:tc>
                  <a:txBody>
                    <a:bodyPr/>
                    <a:lstStyle/>
                    <a:p>
                      <a:r>
                        <a:rPr sz="1600" b="0">
                          <a:solidFill>
                            <a:srgbClr val="33373D"/>
                          </a:solidFill>
                          <a:latin typeface="Arial"/>
                        </a:rPr>
                        <a:t>El documento tomó el siguiente consecutivo autorizado de la resolución del emisor</a:t>
                      </a:r>
                    </a:p>
                  </a:txBody>
                  <a:tcPr marL="73152" marR="73152" marT="27432" marB="27432">
                    <a:solidFill>
                      <a:srgbClr val="FFFFFF"/>
                    </a:solidFill>
                  </a:tcPr>
                </a:tc>
              </a:tr>
              <a:tr h="487680">
                <a:tc>
                  <a:txBody>
                    <a:bodyPr/>
                    <a:lstStyle/>
                    <a:p>
                      <a:r>
                        <a:rPr sz="1600" b="0">
                          <a:solidFill>
                            <a:srgbClr val="33373D"/>
                          </a:solidFill>
                          <a:latin typeface="Arial"/>
                        </a:rPr>
                        <a:t>Cálculo</a:t>
                      </a:r>
                    </a:p>
                  </a:txBody>
                  <a:tcPr marL="73152" marR="73152" marT="27432" marB="27432">
                    <a:solidFill>
                      <a:srgbClr val="EFF3F9"/>
                    </a:solidFill>
                  </a:tcPr>
                </a:tc>
                <a:tc>
                  <a:txBody>
                    <a:bodyPr/>
                    <a:lstStyle/>
                    <a:p>
                      <a:r>
                        <a:rPr sz="1600" b="0">
                          <a:solidFill>
                            <a:srgbClr val="33373D"/>
                          </a:solidFill>
                          <a:latin typeface="Arial"/>
                        </a:rPr>
                        <a:t>Las bases, los descuentos y los impuestos coinciden con los valores esperados</a:t>
                      </a:r>
                    </a:p>
                  </a:txBody>
                  <a:tcPr marL="73152" marR="73152" marT="27432" marB="27432">
                    <a:solidFill>
                      <a:srgbClr val="EFF3F9"/>
                    </a:solidFill>
                  </a:tcPr>
                </a:tc>
              </a:tr>
              <a:tr h="487680">
                <a:tc>
                  <a:txBody>
                    <a:bodyPr/>
                    <a:lstStyle/>
                    <a:p>
                      <a:r>
                        <a:rPr sz="1600" b="0">
                          <a:solidFill>
                            <a:srgbClr val="33373D"/>
                          </a:solidFill>
                          <a:latin typeface="Arial"/>
                        </a:rPr>
                        <a:t>Código único</a:t>
                      </a:r>
                    </a:p>
                  </a:txBody>
                  <a:tcPr marL="73152" marR="73152" marT="27432" marB="27432">
                    <a:solidFill>
                      <a:srgbClr val="FFFFFF"/>
                    </a:solidFill>
                  </a:tcPr>
                </a:tc>
                <a:tc>
                  <a:txBody>
                    <a:bodyPr/>
                    <a:lstStyle/>
                    <a:p>
                      <a:r>
                        <a:rPr sz="1600" b="0">
                          <a:solidFill>
                            <a:srgbClr val="33373D"/>
                          </a:solidFill>
                          <a:latin typeface="Arial"/>
                        </a:rPr>
                        <a:t>Se generó el CUFE y quedó asociado al documento</a:t>
                      </a:r>
                    </a:p>
                  </a:txBody>
                  <a:tcPr marL="73152" marR="73152" marT="27432" marB="27432">
                    <a:solidFill>
                      <a:srgbClr val="FFFFFF"/>
                    </a:solidFill>
                  </a:tcPr>
                </a:tc>
              </a:tr>
              <a:tr h="487680">
                <a:tc>
                  <a:txBody>
                    <a:bodyPr/>
                    <a:lstStyle/>
                    <a:p>
                      <a:r>
                        <a:rPr sz="1600" b="0">
                          <a:solidFill>
                            <a:srgbClr val="33373D"/>
                          </a:solidFill>
                          <a:latin typeface="Arial"/>
                        </a:rPr>
                        <a:t>Archivos</a:t>
                      </a:r>
                    </a:p>
                  </a:txBody>
                  <a:tcPr marL="73152" marR="73152" marT="27432" marB="27432">
                    <a:solidFill>
                      <a:srgbClr val="EFF3F9"/>
                    </a:solidFill>
                  </a:tcPr>
                </a:tc>
                <a:tc>
                  <a:txBody>
                    <a:bodyPr/>
                    <a:lstStyle/>
                    <a:p>
                      <a:r>
                        <a:rPr sz="1600" b="0">
                          <a:solidFill>
                            <a:srgbClr val="33373D"/>
                          </a:solidFill>
                          <a:latin typeface="Arial"/>
                        </a:rPr>
                        <a:t>La representación gráfica y el archivo XML quedaron disponibles para descarga</a:t>
                      </a:r>
                    </a:p>
                  </a:txBody>
                  <a:tcPr marL="73152" marR="73152" marT="27432" marB="27432">
                    <a:solidFill>
                      <a:srgbClr val="EFF3F9"/>
                    </a:solidFill>
                  </a:tcPr>
                </a:tc>
              </a:tr>
              <a:tr h="487680">
                <a:tc>
                  <a:txBody>
                    <a:bodyPr/>
                    <a:lstStyle/>
                    <a:p>
                      <a:r>
                        <a:rPr sz="1600" b="0">
                          <a:solidFill>
                            <a:srgbClr val="33373D"/>
                          </a:solidFill>
                          <a:latin typeface="Arial"/>
                        </a:rPr>
                        <a:t>Registro</a:t>
                      </a:r>
                    </a:p>
                  </a:txBody>
                  <a:tcPr marL="73152" marR="73152" marT="27432" marB="27432">
                    <a:solidFill>
                      <a:srgbClr val="FFFFFF"/>
                    </a:solidFill>
                  </a:tcPr>
                </a:tc>
                <a:tc>
                  <a:txBody>
                    <a:bodyPr/>
                    <a:lstStyle/>
                    <a:p>
                      <a:r>
                        <a:rPr sz="1600" b="0">
                          <a:solidFill>
                            <a:srgbClr val="33373D"/>
                          </a:solidFill>
                          <a:latin typeface="Arial"/>
                        </a:rPr>
                        <a:t>La operación quedó anotada en el rastro de auditoría</a:t>
                      </a:r>
                    </a:p>
                  </a:txBody>
                  <a:tcPr marL="73152" marR="73152" marT="27432" marB="27432">
                    <a:solidFill>
                      <a:srgbClr val="FFFFFF"/>
                    </a:solidFill>
                  </a:tcPr>
                </a:tc>
              </a:tr>
            </a:tbl>
          </a:graphicData>
        </a:graphic>
      </p:graphicFrame>
      <p:sp>
        <p:nvSpPr>
          <p:cNvPr id="26" name="TextBox 25"/>
          <p:cNvSpPr txBox="1"/>
          <p:nvPr/>
        </p:nvSpPr>
        <p:spPr>
          <a:xfrm>
            <a:off x="822960" y="5257800"/>
            <a:ext cx="10515600" cy="822960"/>
          </a:xfrm>
          <a:prstGeom prst="rect">
            <a:avLst/>
          </a:prstGeom>
          <a:noFill/>
        </p:spPr>
        <p:txBody>
          <a:bodyPr wrap="square">
            <a:spAutoFit/>
          </a:bodyPr>
          <a:lstStyle/>
          <a:p>
            <a:pPr algn="l"/>
            <a:r>
              <a:rPr sz="1700" b="0">
                <a:solidFill>
                  <a:srgbClr val="33373D"/>
                </a:solidFill>
                <a:latin typeface="Arial"/>
              </a:rPr>
              <a:t>El consecutivo se reserva dentro de la misma transacción que guarda el documento, de modo que un fallo a mitad no deja una factura incompleta ni gasta un número de la resolución.</a:t>
            </a:r>
          </a:p>
        </p:txBody>
      </p:sp>
      <p:sp>
        <p:nvSpPr>
          <p:cNvPr id="27" name="TextBox 26"/>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38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3">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Resultados Obtenidos</a:t>
            </a:r>
            <a:endParaRPr sz="2700" dirty="0">
              <a:solidFill>
                <a:srgbClr val="003366"/>
              </a:solidFill>
              <a:latin typeface="Plus Jakarta Sans ExtraBold"/>
              <a:cs typeface="Plus Jakarta Sans ExtraBold"/>
            </a:endParaRPr>
          </a:p>
        </p:txBody>
      </p:sp>
      <p:graphicFrame>
        <p:nvGraphicFramePr>
          <p:cNvPr id="24" name="Table 23"/>
          <p:cNvGraphicFramePr>
            <a:graphicFrameLocks noGrp="1"/>
          </p:cNvGraphicFramePr>
          <p:nvPr/>
        </p:nvGraphicFramePr>
        <p:xfrm>
          <a:off x="685800" y="1417320"/>
          <a:ext cx="10835640" cy="4023360"/>
        </p:xfrm>
        <a:graphic>
          <a:graphicData uri="http://schemas.openxmlformats.org/drawingml/2006/table">
            <a:tbl>
              <a:tblPr firstRow="1" bandRow="1">
                <a:tableStyleId>{5C22544A-7EE6-4342-B048-85BDC9FD1C3A}</a:tableStyleId>
              </a:tblPr>
              <a:tblGrid>
                <a:gridCol w="2743200"/>
                <a:gridCol w="6675120"/>
                <a:gridCol w="1417320"/>
              </a:tblGrid>
              <a:tr h="574765">
                <a:tc>
                  <a:txBody>
                    <a:bodyPr/>
                    <a:lstStyle/>
                    <a:p>
                      <a:r>
                        <a:rPr sz="1300" b="1">
                          <a:solidFill>
                            <a:srgbClr val="FFFFFF"/>
                          </a:solidFill>
                          <a:latin typeface="Arial"/>
                        </a:rPr>
                        <a:t>Objetivo</a:t>
                      </a:r>
                    </a:p>
                  </a:txBody>
                  <a:tcPr marL="73152" marR="73152" marT="27432" marB="27432">
                    <a:solidFill>
                      <a:srgbClr val="1F3B73"/>
                    </a:solidFill>
                  </a:tcPr>
                </a:tc>
                <a:tc>
                  <a:txBody>
                    <a:bodyPr/>
                    <a:lstStyle/>
                    <a:p>
                      <a:r>
                        <a:rPr sz="1300" b="1">
                          <a:solidFill>
                            <a:srgbClr val="FFFFFF"/>
                          </a:solidFill>
                          <a:latin typeface="Arial"/>
                        </a:rPr>
                        <a:t>Resultado</a:t>
                      </a:r>
                    </a:p>
                  </a:txBody>
                  <a:tcPr marL="73152" marR="73152" marT="27432" marB="27432">
                    <a:solidFill>
                      <a:srgbClr val="1F3B73"/>
                    </a:solidFill>
                  </a:tcPr>
                </a:tc>
                <a:tc>
                  <a:txBody>
                    <a:bodyPr/>
                    <a:lstStyle/>
                    <a:p>
                      <a:r>
                        <a:rPr sz="1300" b="1">
                          <a:solidFill>
                            <a:srgbClr val="FFFFFF"/>
                          </a:solidFill>
                          <a:latin typeface="Arial"/>
                        </a:rPr>
                        <a:t>Estado</a:t>
                      </a:r>
                    </a:p>
                  </a:txBody>
                  <a:tcPr marL="73152" marR="73152" marT="27432" marB="27432">
                    <a:solidFill>
                      <a:srgbClr val="1F3B73"/>
                    </a:solidFill>
                  </a:tcPr>
                </a:tc>
              </a:tr>
              <a:tr h="574765">
                <a:tc>
                  <a:txBody>
                    <a:bodyPr/>
                    <a:lstStyle/>
                    <a:p>
                      <a:r>
                        <a:rPr sz="1300" b="0">
                          <a:solidFill>
                            <a:srgbClr val="33373D"/>
                          </a:solidFill>
                          <a:latin typeface="Arial"/>
                        </a:rPr>
                        <a:t>Emisión de documentos electrónicos</a:t>
                      </a:r>
                    </a:p>
                  </a:txBody>
                  <a:tcPr marL="73152" marR="73152" marT="27432" marB="27432">
                    <a:solidFill>
                      <a:srgbClr val="FFFFFF"/>
                    </a:solidFill>
                  </a:tcPr>
                </a:tc>
                <a:tc>
                  <a:txBody>
                    <a:bodyPr/>
                    <a:lstStyle/>
                    <a:p>
                      <a:r>
                        <a:rPr sz="1300" b="0">
                          <a:solidFill>
                            <a:srgbClr val="33373D"/>
                          </a:solidFill>
                          <a:latin typeface="Arial"/>
                        </a:rPr>
                        <a:t>Facturas de venta, notas crédito y notas débito con consecutivo autorizado, código único, representación gráfica y archivo XML bajo el estándar UBL 2.1.</a:t>
                      </a:r>
                    </a:p>
                  </a:txBody>
                  <a:tcPr marL="73152" marR="73152" marT="27432" marB="27432">
                    <a:solidFill>
                      <a:srgbClr val="FFFFFF"/>
                    </a:solidFill>
                  </a:tcPr>
                </a:tc>
                <a:tc>
                  <a:txBody>
                    <a:bodyPr/>
                    <a:lstStyle/>
                    <a:p>
                      <a:r>
                        <a:rPr sz="1300" b="0">
                          <a:solidFill>
                            <a:srgbClr val="33373D"/>
                          </a:solidFill>
                          <a:latin typeface="Arial"/>
                        </a:rPr>
                        <a:t>Cumplido</a:t>
                      </a:r>
                    </a:p>
                  </a:txBody>
                  <a:tcPr marL="73152" marR="73152" marT="27432" marB="27432">
                    <a:solidFill>
                      <a:srgbClr val="FFFFFF"/>
                    </a:solidFill>
                  </a:tcPr>
                </a:tc>
              </a:tr>
              <a:tr h="574765">
                <a:tc>
                  <a:txBody>
                    <a:bodyPr/>
                    <a:lstStyle/>
                    <a:p>
                      <a:r>
                        <a:rPr sz="1300" b="0">
                          <a:solidFill>
                            <a:srgbClr val="33373D"/>
                          </a:solidFill>
                          <a:latin typeface="Arial"/>
                        </a:rPr>
                        <a:t>Interfaz de integración</a:t>
                      </a:r>
                    </a:p>
                  </a:txBody>
                  <a:tcPr marL="73152" marR="73152" marT="27432" marB="27432">
                    <a:solidFill>
                      <a:srgbClr val="EFF3F9"/>
                    </a:solidFill>
                  </a:tcPr>
                </a:tc>
                <a:tc>
                  <a:txBody>
                    <a:bodyPr/>
                    <a:lstStyle/>
                    <a:p>
                      <a:r>
                        <a:rPr sz="1300" b="0">
                          <a:solidFill>
                            <a:srgbClr val="33373D"/>
                          </a:solidFill>
                          <a:latin typeface="Arial"/>
                        </a:rPr>
                        <a:t>Nueve operaciones disponibles, autenticadas por llave individual, con forma única de error y contrato publicado de forma automática.</a:t>
                      </a:r>
                    </a:p>
                  </a:txBody>
                  <a:tcPr marL="73152" marR="73152" marT="27432" marB="27432">
                    <a:solidFill>
                      <a:srgbClr val="EFF3F9"/>
                    </a:solidFill>
                  </a:tcPr>
                </a:tc>
                <a:tc>
                  <a:txBody>
                    <a:bodyPr/>
                    <a:lstStyle/>
                    <a:p>
                      <a:r>
                        <a:rPr sz="1300" b="0">
                          <a:solidFill>
                            <a:srgbClr val="33373D"/>
                          </a:solidFill>
                          <a:latin typeface="Arial"/>
                        </a:rPr>
                        <a:t>Cumplido</a:t>
                      </a:r>
                    </a:p>
                  </a:txBody>
                  <a:tcPr marL="73152" marR="73152" marT="27432" marB="27432">
                    <a:solidFill>
                      <a:srgbClr val="EFF3F9"/>
                    </a:solidFill>
                  </a:tcPr>
                </a:tc>
              </a:tr>
              <a:tr h="574765">
                <a:tc>
                  <a:txBody>
                    <a:bodyPr/>
                    <a:lstStyle/>
                    <a:p>
                      <a:r>
                        <a:rPr sz="1300" b="0">
                          <a:solidFill>
                            <a:srgbClr val="33373D"/>
                          </a:solidFill>
                          <a:latin typeface="Arial"/>
                        </a:rPr>
                        <a:t>Control de cupo y suscripción</a:t>
                      </a:r>
                    </a:p>
                  </a:txBody>
                  <a:tcPr marL="73152" marR="73152" marT="27432" marB="27432">
                    <a:solidFill>
                      <a:srgbClr val="FFFFFF"/>
                    </a:solidFill>
                  </a:tcPr>
                </a:tc>
                <a:tc>
                  <a:txBody>
                    <a:bodyPr/>
                    <a:lstStyle/>
                    <a:p>
                      <a:r>
                        <a:rPr sz="1300" b="0">
                          <a:solidFill>
                            <a:srgbClr val="33373D"/>
                          </a:solidFill>
                          <a:latin typeface="Arial"/>
                        </a:rPr>
                        <a:t>Consumo calculado sobre los documentos emitidos, bloqueo por cupo agotado y facturación de la mensualidad con sus excedentes.</a:t>
                      </a:r>
                    </a:p>
                  </a:txBody>
                  <a:tcPr marL="73152" marR="73152" marT="27432" marB="27432">
                    <a:solidFill>
                      <a:srgbClr val="FFFFFF"/>
                    </a:solidFill>
                  </a:tcPr>
                </a:tc>
                <a:tc>
                  <a:txBody>
                    <a:bodyPr/>
                    <a:lstStyle/>
                    <a:p>
                      <a:r>
                        <a:rPr sz="1300" b="0">
                          <a:solidFill>
                            <a:srgbClr val="33373D"/>
                          </a:solidFill>
                          <a:latin typeface="Arial"/>
                        </a:rPr>
                        <a:t>Cumplido</a:t>
                      </a:r>
                    </a:p>
                  </a:txBody>
                  <a:tcPr marL="73152" marR="73152" marT="27432" marB="27432">
                    <a:solidFill>
                      <a:srgbClr val="FFFFFF"/>
                    </a:solidFill>
                  </a:tcPr>
                </a:tc>
              </a:tr>
              <a:tr h="574765">
                <a:tc>
                  <a:txBody>
                    <a:bodyPr/>
                    <a:lstStyle/>
                    <a:p>
                      <a:r>
                        <a:rPr sz="1300" b="0">
                          <a:solidFill>
                            <a:srgbClr val="33373D"/>
                          </a:solidFill>
                          <a:latin typeface="Arial"/>
                        </a:rPr>
                        <a:t>Tablero de control y reportes</a:t>
                      </a:r>
                    </a:p>
                  </a:txBody>
                  <a:tcPr marL="73152" marR="73152" marT="27432" marB="27432">
                    <a:solidFill>
                      <a:srgbClr val="EFF3F9"/>
                    </a:solidFill>
                  </a:tcPr>
                </a:tc>
                <a:tc>
                  <a:txBody>
                    <a:bodyPr/>
                    <a:lstStyle/>
                    <a:p>
                      <a:r>
                        <a:rPr sz="1300" b="0">
                          <a:solidFill>
                            <a:srgbClr val="33373D"/>
                          </a:solidFill>
                          <a:latin typeface="Arial"/>
                        </a:rPr>
                        <a:t>Indicadores del servicio y de la venta con filtro de periodo, y siete reportes exportables a CSV y a PDF.</a:t>
                      </a:r>
                    </a:p>
                  </a:txBody>
                  <a:tcPr marL="73152" marR="73152" marT="27432" marB="27432">
                    <a:solidFill>
                      <a:srgbClr val="EFF3F9"/>
                    </a:solidFill>
                  </a:tcPr>
                </a:tc>
                <a:tc>
                  <a:txBody>
                    <a:bodyPr/>
                    <a:lstStyle/>
                    <a:p>
                      <a:r>
                        <a:rPr sz="1300" b="0">
                          <a:solidFill>
                            <a:srgbClr val="33373D"/>
                          </a:solidFill>
                          <a:latin typeface="Arial"/>
                        </a:rPr>
                        <a:t>Cumplido</a:t>
                      </a:r>
                    </a:p>
                  </a:txBody>
                  <a:tcPr marL="73152" marR="73152" marT="27432" marB="27432">
                    <a:solidFill>
                      <a:srgbClr val="EFF3F9"/>
                    </a:solidFill>
                  </a:tcPr>
                </a:tc>
              </a:tr>
              <a:tr h="574765">
                <a:tc>
                  <a:txBody>
                    <a:bodyPr/>
                    <a:lstStyle/>
                    <a:p>
                      <a:r>
                        <a:rPr sz="1300" b="0">
                          <a:solidFill>
                            <a:srgbClr val="33373D"/>
                          </a:solidFill>
                          <a:latin typeface="Arial"/>
                        </a:rPr>
                        <a:t>Seguridad y auditoría</a:t>
                      </a:r>
                    </a:p>
                  </a:txBody>
                  <a:tcPr marL="73152" marR="73152" marT="27432" marB="27432">
                    <a:solidFill>
                      <a:srgbClr val="FFFFFF"/>
                    </a:solidFill>
                  </a:tcPr>
                </a:tc>
                <a:tc>
                  <a:txBody>
                    <a:bodyPr/>
                    <a:lstStyle/>
                    <a:p>
                      <a:r>
                        <a:rPr sz="1300" b="0">
                          <a:solidFill>
                            <a:srgbClr val="33373D"/>
                          </a:solidFill>
                          <a:latin typeface="Arial"/>
                        </a:rPr>
                        <a:t>Autenticación con contraseñas cifradas, cuatro roles con control de acceso por ruta, cierre de sesión por inactividad y registro de las operaciones de escritura.</a:t>
                      </a:r>
                    </a:p>
                  </a:txBody>
                  <a:tcPr marL="73152" marR="73152" marT="27432" marB="27432">
                    <a:solidFill>
                      <a:srgbClr val="FFFFFF"/>
                    </a:solidFill>
                  </a:tcPr>
                </a:tc>
                <a:tc>
                  <a:txBody>
                    <a:bodyPr/>
                    <a:lstStyle/>
                    <a:p>
                      <a:r>
                        <a:rPr sz="1300" b="0">
                          <a:solidFill>
                            <a:srgbClr val="33373D"/>
                          </a:solidFill>
                          <a:latin typeface="Arial"/>
                        </a:rPr>
                        <a:t>Cumplido</a:t>
                      </a:r>
                    </a:p>
                  </a:txBody>
                  <a:tcPr marL="73152" marR="73152" marT="27432" marB="27432">
                    <a:solidFill>
                      <a:srgbClr val="FFFFFF"/>
                    </a:solidFill>
                  </a:tcPr>
                </a:tc>
              </a:tr>
              <a:tr h="574770">
                <a:tc>
                  <a:txBody>
                    <a:bodyPr/>
                    <a:lstStyle/>
                    <a:p>
                      <a:r>
                        <a:rPr sz="1300" b="0">
                          <a:solidFill>
                            <a:srgbClr val="33373D"/>
                          </a:solidFill>
                          <a:latin typeface="Arial"/>
                        </a:rPr>
                        <a:t>Transmisión en producción ante la DIAN</a:t>
                      </a:r>
                    </a:p>
                  </a:txBody>
                  <a:tcPr marL="73152" marR="73152" marT="27432" marB="27432">
                    <a:solidFill>
                      <a:srgbClr val="EFF3F9"/>
                    </a:solidFill>
                  </a:tcPr>
                </a:tc>
                <a:tc>
                  <a:txBody>
                    <a:bodyPr/>
                    <a:lstStyle/>
                    <a:p>
                      <a:r>
                        <a:rPr sz="1300" b="0">
                          <a:solidFill>
                            <a:srgbClr val="33373D"/>
                          </a:solidFill>
                          <a:latin typeface="Arial"/>
                        </a:rPr>
                        <a:t>El código único se genera en modalidad de pruebas, a la espera de la habilitación del proveedor.</a:t>
                      </a:r>
                    </a:p>
                  </a:txBody>
                  <a:tcPr marL="73152" marR="73152" marT="27432" marB="27432">
                    <a:solidFill>
                      <a:srgbClr val="EFF3F9"/>
                    </a:solidFill>
                  </a:tcPr>
                </a:tc>
                <a:tc>
                  <a:txBody>
                    <a:bodyPr/>
                    <a:lstStyle/>
                    <a:p>
                      <a:r>
                        <a:rPr sz="1300" b="0">
                          <a:solidFill>
                            <a:srgbClr val="33373D"/>
                          </a:solidFill>
                          <a:latin typeface="Arial"/>
                        </a:rPr>
                        <a:t>Parcial</a:t>
                      </a:r>
                    </a:p>
                  </a:txBody>
                  <a:tcPr marL="73152" marR="73152" marT="27432" marB="27432">
                    <a:solidFill>
                      <a:srgbClr val="EFF3F9"/>
                    </a:solidFill>
                  </a:tcPr>
                </a:tc>
              </a:tr>
            </a:tbl>
          </a:graphicData>
        </a:graphic>
      </p:graphicFrame>
      <p:sp>
        <p:nvSpPr>
          <p:cNvPr id="25" name="TextBox 24"/>
          <p:cNvSpPr txBox="1"/>
          <p:nvPr/>
        </p:nvSpPr>
        <p:spPr>
          <a:xfrm>
            <a:off x="685800" y="5577840"/>
            <a:ext cx="10835640" cy="731520"/>
          </a:xfrm>
          <a:prstGeom prst="rect">
            <a:avLst/>
          </a:prstGeom>
          <a:noFill/>
        </p:spPr>
        <p:txBody>
          <a:bodyPr wrap="square">
            <a:spAutoFit/>
          </a:bodyPr>
          <a:lstStyle/>
          <a:p>
            <a:pPr algn="l"/>
            <a:r>
              <a:rPr sz="1900" b="1">
                <a:solidFill>
                  <a:srgbClr val="1F3B73"/>
                </a:solidFill>
                <a:latin typeface="Arial"/>
              </a:rPr>
              <a:t>Un punto de venta en operación que no emitía facturación electrónica quedó expidiendo documentos válidos sin cambiar la forma en que registra sus ventas.</a:t>
            </a:r>
          </a:p>
        </p:txBody>
      </p:sp>
      <p:sp>
        <p:nvSpPr>
          <p:cNvPr id="26" name="TextBox 25"/>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39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2" name="Google Shape;84;p13" descr="image.png">
            <a:extLst>
              <a:ext uri="{FF2B5EF4-FFF2-40B4-BE49-F238E27FC236}">
                <a16:creationId xmlns:a16="http://schemas.microsoft.com/office/drawing/2014/main" id="{5A6150D9-67B2-A8B1-D14C-A719F9A789B2}"/>
              </a:ext>
            </a:extLst>
          </p:cNvPr>
          <p:cNvPicPr preferRelativeResize="0"/>
          <p:nvPr/>
        </p:nvPicPr>
        <p:blipFill rotWithShape="1">
          <a:blip r:embed="rId3">
            <a:alphaModFix/>
          </a:blip>
          <a:srcRect t="99333"/>
          <a:stretch/>
        </p:blipFill>
        <p:spPr>
          <a:xfrm>
            <a:off x="0" y="6820763"/>
            <a:ext cx="12192000" cy="45719"/>
          </a:xfrm>
          <a:prstGeom prst="rect">
            <a:avLst/>
          </a:prstGeom>
          <a:noFill/>
          <a:ln>
            <a:noFill/>
          </a:ln>
        </p:spPr>
      </p:pic>
      <p:sp>
        <p:nvSpPr>
          <p:cNvPr id="22" name="Google Shape;132;p15">
            <a:extLst>
              <a:ext uri="{FF2B5EF4-FFF2-40B4-BE49-F238E27FC236}">
                <a16:creationId xmlns:a16="http://schemas.microsoft.com/office/drawing/2014/main" id="{CC02D98E-02A7-CC82-CFE6-99DD61643922}"/>
              </a:ext>
            </a:extLst>
          </p:cNvPr>
          <p:cNvSpPr/>
          <p:nvPr/>
        </p:nvSpPr>
        <p:spPr>
          <a:xfrm>
            <a:off x="571500" y="904875"/>
            <a:ext cx="76200" cy="304800"/>
          </a:xfrm>
          <a:prstGeom prst="roundRect">
            <a:avLst>
              <a:gd name="adj" fmla="val 50000"/>
            </a:avLst>
          </a:prstGeom>
          <a:solidFill>
            <a:srgbClr val="F5B01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rgbClr val="003366"/>
                </a:solidFill>
                <a:latin typeface="Plus Jakarta Sans ExtraBold"/>
                <a:cs typeface="Plus Jakarta Sans ExtraBold"/>
              </a:rPr>
              <a:t>Referencias</a:t>
            </a:r>
            <a:endParaRPr sz="2700" dirty="0">
              <a:solidFill>
                <a:srgbClr val="003366"/>
              </a:solidFill>
              <a:latin typeface="Plus Jakarta Sans ExtraBold"/>
              <a:cs typeface="Plus Jakarta Sans ExtraBold"/>
            </a:endParaRPr>
          </a:p>
        </p:txBody>
      </p:sp>
      <p:sp>
        <p:nvSpPr>
          <p:cNvPr id="24" name="TextBox 23"/>
          <p:cNvSpPr txBox="1"/>
          <p:nvPr/>
        </p:nvSpPr>
        <p:spPr>
          <a:xfrm>
            <a:off x="777240" y="1417320"/>
            <a:ext cx="10607040" cy="749808"/>
          </a:xfrm>
          <a:prstGeom prst="rect">
            <a:avLst/>
          </a:prstGeom>
          <a:noFill/>
        </p:spPr>
        <p:txBody>
          <a:bodyPr wrap="square">
            <a:spAutoFit/>
          </a:bodyPr>
          <a:lstStyle/>
          <a:p>
            <a:r>
              <a:rPr sz="1500">
                <a:solidFill>
                  <a:srgbClr val="33373D"/>
                </a:solidFill>
                <a:latin typeface="Arial"/>
              </a:rPr>
              <a:t>Dirección de Impuestos y Aduanas Nacionales. (2020). Resolución 000042 de 2020. DIAN.</a:t>
            </a:r>
          </a:p>
        </p:txBody>
      </p:sp>
      <p:sp>
        <p:nvSpPr>
          <p:cNvPr id="25" name="TextBox 24"/>
          <p:cNvSpPr txBox="1"/>
          <p:nvPr/>
        </p:nvSpPr>
        <p:spPr>
          <a:xfrm>
            <a:off x="777240" y="2167128"/>
            <a:ext cx="10607040" cy="749808"/>
          </a:xfrm>
          <a:prstGeom prst="rect">
            <a:avLst/>
          </a:prstGeom>
          <a:noFill/>
        </p:spPr>
        <p:txBody>
          <a:bodyPr wrap="square">
            <a:spAutoFit/>
          </a:bodyPr>
          <a:lstStyle/>
          <a:p>
            <a:r>
              <a:rPr sz="1500">
                <a:solidFill>
                  <a:srgbClr val="33373D"/>
                </a:solidFill>
                <a:latin typeface="Arial"/>
              </a:rPr>
              <a:t>Estatuto Tributario Nacional. Art. 616-1. Factura o documento equivalente. Decreto 624 de 1989.</a:t>
            </a:r>
          </a:p>
        </p:txBody>
      </p:sp>
      <p:sp>
        <p:nvSpPr>
          <p:cNvPr id="26" name="TextBox 25"/>
          <p:cNvSpPr txBox="1"/>
          <p:nvPr/>
        </p:nvSpPr>
        <p:spPr>
          <a:xfrm>
            <a:off x="777240" y="2916936"/>
            <a:ext cx="10607040" cy="749808"/>
          </a:xfrm>
          <a:prstGeom prst="rect">
            <a:avLst/>
          </a:prstGeom>
          <a:noFill/>
        </p:spPr>
        <p:txBody>
          <a:bodyPr wrap="square">
            <a:spAutoFit/>
          </a:bodyPr>
          <a:lstStyle/>
          <a:p>
            <a:r>
              <a:rPr sz="1500">
                <a:solidFill>
                  <a:srgbClr val="33373D"/>
                </a:solidFill>
                <a:latin typeface="Arial"/>
              </a:rPr>
              <a:t>Fielding, R. T. (2000). Architectural styles and the design of network-based software architectures. University of California, Irvine.</a:t>
            </a:r>
          </a:p>
        </p:txBody>
      </p:sp>
      <p:sp>
        <p:nvSpPr>
          <p:cNvPr id="27" name="TextBox 26"/>
          <p:cNvSpPr txBox="1"/>
          <p:nvPr/>
        </p:nvSpPr>
        <p:spPr>
          <a:xfrm>
            <a:off x="777240" y="3666744"/>
            <a:ext cx="10607040" cy="749808"/>
          </a:xfrm>
          <a:prstGeom prst="rect">
            <a:avLst/>
          </a:prstGeom>
          <a:noFill/>
        </p:spPr>
        <p:txBody>
          <a:bodyPr wrap="square">
            <a:spAutoFit/>
          </a:bodyPr>
          <a:lstStyle/>
          <a:p>
            <a:r>
              <a:rPr sz="1500">
                <a:solidFill>
                  <a:srgbClr val="33373D"/>
                </a:solidFill>
                <a:latin typeface="Arial"/>
              </a:rPr>
              <a:t>Organization for the Advancement of Structured Information Standards. (2013). Universal Business Language Version 2.1. OASIS.</a:t>
            </a:r>
          </a:p>
        </p:txBody>
      </p:sp>
      <p:sp>
        <p:nvSpPr>
          <p:cNvPr id="28" name="TextBox 27"/>
          <p:cNvSpPr txBox="1"/>
          <p:nvPr/>
        </p:nvSpPr>
        <p:spPr>
          <a:xfrm>
            <a:off x="777240" y="4416552"/>
            <a:ext cx="10607040" cy="749808"/>
          </a:xfrm>
          <a:prstGeom prst="rect">
            <a:avLst/>
          </a:prstGeom>
          <a:noFill/>
        </p:spPr>
        <p:txBody>
          <a:bodyPr wrap="square">
            <a:spAutoFit/>
          </a:bodyPr>
          <a:lstStyle/>
          <a:p>
            <a:r>
              <a:rPr sz="1500">
                <a:solidFill>
                  <a:srgbClr val="33373D"/>
                </a:solidFill>
                <a:latin typeface="Arial"/>
              </a:rPr>
              <a:t>Schwaber, K., y Sutherland, J. (2020). La Guía de Scrum. Scrum.org.</a:t>
            </a:r>
          </a:p>
        </p:txBody>
      </p:sp>
      <p:sp>
        <p:nvSpPr>
          <p:cNvPr id="29" name="TextBox 28"/>
          <p:cNvSpPr txBox="1"/>
          <p:nvPr/>
        </p:nvSpPr>
        <p:spPr>
          <a:xfrm>
            <a:off x="777240" y="5166359"/>
            <a:ext cx="10607040" cy="749808"/>
          </a:xfrm>
          <a:prstGeom prst="rect">
            <a:avLst/>
          </a:prstGeom>
          <a:noFill/>
        </p:spPr>
        <p:txBody>
          <a:bodyPr wrap="square">
            <a:spAutoFit/>
          </a:bodyPr>
          <a:lstStyle/>
          <a:p>
            <a:r>
              <a:rPr sz="1500">
                <a:solidFill>
                  <a:srgbClr val="33373D"/>
                </a:solidFill>
                <a:latin typeface="Arial"/>
              </a:rPr>
              <a:t>Sommerville, I. (2011). Ingeniería de software (9.ª ed.). Pearson Educación.</a:t>
            </a:r>
          </a:p>
        </p:txBody>
      </p:sp>
      <p:sp>
        <p:nvSpPr>
          <p:cNvPr id="30" name="TextBox 29"/>
          <p:cNvSpPr txBox="1"/>
          <p:nvPr/>
        </p:nvSpPr>
        <p:spPr>
          <a:xfrm>
            <a:off x="566928" y="6263640"/>
            <a:ext cx="10058400" cy="320040"/>
          </a:xfrm>
          <a:prstGeom prst="rect">
            <a:avLst/>
          </a:prstGeom>
          <a:noFill/>
        </p:spPr>
        <p:txBody>
          <a:bodyPr wrap="square">
            <a:spAutoFit/>
          </a:bodyPr>
          <a:lstStyle/>
          <a:p>
            <a:pPr algn="l"/>
            <a:r>
              <a:rPr sz="1300" b="0">
                <a:solidFill>
                  <a:srgbClr val="6B7280"/>
                </a:solidFill>
                <a:latin typeface="Arial"/>
              </a:rPr>
              <a:t>Las trece referencias del trabajo constan en el documento de grado, en estilo APA séptima edición.</a:t>
            </a:r>
          </a:p>
        </p:txBody>
      </p:sp>
      <p:sp>
        <p:nvSpPr>
          <p:cNvPr id="31" name="TextBox 30"/>
          <p:cNvSpPr txBox="1"/>
          <p:nvPr/>
        </p:nvSpPr>
        <p:spPr>
          <a:xfrm>
            <a:off x="10881360" y="6455664"/>
            <a:ext cx="1097280" cy="256032"/>
          </a:xfrm>
          <a:prstGeom prst="rect">
            <a:avLst/>
          </a:prstGeom>
          <a:noFill/>
        </p:spPr>
        <p:txBody>
          <a:bodyPr wrap="square">
            <a:spAutoFit/>
          </a:bodyPr>
          <a:lstStyle/>
          <a:p>
            <a:pPr algn="r"/>
            <a:r>
              <a:rPr sz="1300" b="0">
                <a:solidFill>
                  <a:srgbClr val="6B7280"/>
                </a:solidFill>
                <a:latin typeface="Arial"/>
              </a:rPr>
              <a:t>40 / 41</a:t>
            </a:r>
          </a:p>
        </p:txBody>
      </p:sp>
    </p:spTree>
  </p:cSld>
  <p:clrMapOvr>
    <a:masterClrMapping/>
  </p:clrMapOvr>
</p:sld>
</file>

<file path=ppt/theme/theme1.xml><?xml version="1.0" encoding="utf-8"?>
<a:theme xmlns:a="http://schemas.openxmlformats.org/drawingml/2006/main" name="Office 2013 - Tema de 2022">
  <a:themeElements>
    <a:clrScheme name="Personalizado 1">
      <a:dk1>
        <a:srgbClr val="39A900"/>
      </a:dk1>
      <a:lt1>
        <a:srgbClr val="FFFFFF"/>
      </a:lt1>
      <a:dk2>
        <a:srgbClr val="00304D"/>
      </a:dk2>
      <a:lt2>
        <a:srgbClr val="F6F6F6"/>
      </a:lt2>
      <a:accent1>
        <a:srgbClr val="007832"/>
      </a:accent1>
      <a:accent2>
        <a:srgbClr val="71127A"/>
      </a:accent2>
      <a:accent3>
        <a:srgbClr val="50E5F9"/>
      </a:accent3>
      <a:accent4>
        <a:srgbClr val="FDC300"/>
      </a:accent4>
      <a:accent5>
        <a:srgbClr val="000000"/>
      </a:accent5>
      <a:accent6>
        <a:srgbClr val="70AD47"/>
      </a:accent6>
      <a:hlink>
        <a:srgbClr val="0563C1"/>
      </a:hlink>
      <a:folHlink>
        <a:srgbClr val="71127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669</TotalTime>
  <Words>664</Words>
  <Application>Microsoft Office PowerPoint</Application>
  <PresentationFormat>Panorámica</PresentationFormat>
  <Paragraphs>90</Paragraphs>
  <Slides>37</Slides>
  <Notes>37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37</vt:i4>
      </vt:variant>
    </vt:vector>
  </HeadingPairs>
  <TitlesOfParts>
    <vt:vector size="45" baseType="lpstr">
      <vt:lpstr>Inter Medium</vt:lpstr>
      <vt:lpstr>Inter</vt:lpstr>
      <vt:lpstr>Inter SemiBold</vt:lpstr>
      <vt:lpstr>Plus Jakarta Sans</vt:lpstr>
      <vt:lpstr>Arial</vt:lpstr>
      <vt:lpstr>Calibri</vt:lpstr>
      <vt:lpstr>Plus Jakarta Sans ExtraBold</vt:lpstr>
      <vt:lpstr>Office 2013 - Tema de 2022</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Johan Acosta</cp:lastModifiedBy>
  <cp:revision>28</cp:revision>
  <dcterms:created xsi:type="dcterms:W3CDTF">2020-10-01T23:51:28Z</dcterms:created>
  <dcterms:modified xsi:type="dcterms:W3CDTF">2026-08-08T16:46:42Z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c111285-cafa-4fc9-8a9a-bd902089b24f_Enabled">
    <vt:lpwstr>true</vt:lpwstr>
  </property>
  <property fmtid="{D5CDD505-2E9C-101B-9397-08002B2CF9AE}" pid="3" name="MSIP_Label_fc111285-cafa-4fc9-8a9a-bd902089b24f_SetDate">
    <vt:lpwstr>2025-07-11T16:31:34Z</vt:lpwstr>
  </property>
  <property fmtid="{D5CDD505-2E9C-101B-9397-08002B2CF9AE}" pid="4" name="MSIP_Label_fc111285-cafa-4fc9-8a9a-bd902089b24f_Method">
    <vt:lpwstr>Privileged</vt:lpwstr>
  </property>
  <property fmtid="{D5CDD505-2E9C-101B-9397-08002B2CF9AE}" pid="5" name="MSIP_Label_fc111285-cafa-4fc9-8a9a-bd902089b24f_Name">
    <vt:lpwstr>Public</vt:lpwstr>
  </property>
  <property fmtid="{D5CDD505-2E9C-101B-9397-08002B2CF9AE}" pid="6" name="MSIP_Label_fc111285-cafa-4fc9-8a9a-bd902089b24f_SiteId">
    <vt:lpwstr>cbc2c381-2f2e-4d93-91d1-506c9316ace7</vt:lpwstr>
  </property>
  <property fmtid="{D5CDD505-2E9C-101B-9397-08002B2CF9AE}" pid="7" name="MSIP_Label_fc111285-cafa-4fc9-8a9a-bd902089b24f_ActionId">
    <vt:lpwstr>c6329c04-9ceb-4fca-88c8-0029777b3481</vt:lpwstr>
  </property>
  <property fmtid="{D5CDD505-2E9C-101B-9397-08002B2CF9AE}" pid="8" name="MSIP_Label_fc111285-cafa-4fc9-8a9a-bd902089b24f_ContentBits">
    <vt:lpwstr>0</vt:lpwstr>
  </property>
  <property fmtid="{D5CDD505-2E9C-101B-9397-08002B2CF9AE}" pid="9" name="MSIP_Label_fc111285-cafa-4fc9-8a9a-bd902089b24f_Tag">
    <vt:lpwstr>10, 0, 1, 1</vt:lpwstr>
  </property>
  <property fmtid="{D5CDD505-2E9C-101B-9397-08002B2CF9AE}" pid="10" name="ContentTypeId">
    <vt:lpwstr>0x010100BAA091B23A43D34AA14462823DC894E8</vt:lpwstr>
  </property>
  <property fmtid="{D5CDD505-2E9C-101B-9397-08002B2CF9AE}" pid="11" name="MediaServiceImageTags">
    <vt:lpwstr/>
  </property>
  <property fmtid="{D5CDD505-2E9C-101B-9397-08002B2CF9AE}" pid="12" name="Order">
    <vt:r8>194900</vt:r8>
  </property>
  <property fmtid="{D5CDD505-2E9C-101B-9397-08002B2CF9AE}" pid="13" name="xd_Signature">
    <vt:bool>false</vt:bool>
  </property>
  <property fmtid="{D5CDD505-2E9C-101B-9397-08002B2CF9AE}" pid="14" name="xd_ProgID">
    <vt:lpwstr/>
  </property>
  <property fmtid="{D5CDD505-2E9C-101B-9397-08002B2CF9AE}" pid="15" name="_SourceUrl">
    <vt:lpwstr/>
  </property>
  <property fmtid="{D5CDD505-2E9C-101B-9397-08002B2CF9AE}" pid="16" name="_SharedFileIndex">
    <vt:lpwstr/>
  </property>
  <property fmtid="{D5CDD505-2E9C-101B-9397-08002B2CF9AE}" pid="17" name="ComplianceAssetId">
    <vt:lpwstr/>
  </property>
  <property fmtid="{D5CDD505-2E9C-101B-9397-08002B2CF9AE}" pid="18" name="TemplateUrl">
    <vt:lpwstr/>
  </property>
  <property fmtid="{D5CDD505-2E9C-101B-9397-08002B2CF9AE}" pid="19" name="_ExtendedDescription">
    <vt:lpwstr/>
  </property>
  <property fmtid="{D5CDD505-2E9C-101B-9397-08002B2CF9AE}" pid="20" name="TriggerFlowInfo">
    <vt:lpwstr/>
  </property>
</Properties>
</file>