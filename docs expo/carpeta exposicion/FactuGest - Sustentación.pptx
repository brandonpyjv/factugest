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0"/>
  </p:notesMasterIdLst>
  <p:sldIdLst>
    <p:sldId id="293" r:id="rId2"/>
    <p:sldId id="269" r:id="rId3"/>
    <p:sldId id="259" r:id="rId4"/>
    <p:sldId id="298" r:id="rId5"/>
    <p:sldId id="299" r:id="rId6"/>
    <p:sldId id="289" r:id="rId7"/>
    <p:sldId id="312" r:id="rId8"/>
    <p:sldId id="313" r:id="rId9"/>
    <p:sldId id="314" r:id="rId10"/>
    <p:sldId id="315" r:id="rId11"/>
    <p:sldId id="294" r:id="rId12"/>
    <p:sldId id="316" r:id="rId13"/>
    <p:sldId id="317" r:id="rId14"/>
    <p:sldId id="318" r:id="rId15"/>
    <p:sldId id="322" r:id="rId16"/>
    <p:sldId id="323" r:id="rId17"/>
    <p:sldId id="324" r:id="rId18"/>
    <p:sldId id="325" r:id="rId19"/>
    <p:sldId id="326" r:id="rId20"/>
    <p:sldId id="295" r:id="rId21"/>
    <p:sldId id="306" r:id="rId22"/>
    <p:sldId id="307" r:id="rId23"/>
    <p:sldId id="331" r:id="rId24"/>
    <p:sldId id="337" r:id="rId25"/>
    <p:sldId id="332" r:id="rId26"/>
    <p:sldId id="327" r:id="rId27"/>
    <p:sldId id="328" r:id="rId28"/>
    <p:sldId id="300" r:id="rId29"/>
    <p:sldId id="296" r:id="rId30"/>
    <p:sldId id="311" r:id="rId31"/>
    <p:sldId id="308" r:id="rId32"/>
    <p:sldId id="297" r:id="rId33"/>
    <p:sldId id="329" r:id="rId34"/>
    <p:sldId id="330" r:id="rId35"/>
    <p:sldId id="333" r:id="rId36"/>
    <p:sldId id="334" r:id="rId37"/>
    <p:sldId id="335" r:id="rId38"/>
    <p:sldId id="287" r:id="rId39"/>
  </p:sldIdLst>
  <p:sldSz cx="12192000" cy="6858000"/>
  <p:notesSz cx="6858000" cy="9144000"/>
  <p:embeddedFontLst>
    <p:embeddedFont>
      <p:font typeface="Calibri" panose="020F0502020204030204" pitchFamily="34" charset="0"/>
      <p:regular r:id="rId41"/>
      <p:bold r:id="rId42"/>
      <p:italic r:id="rId43"/>
      <p:boldItalic r:id="rId44"/>
    </p:embeddedFont>
    <p:embeddedFont>
      <p:font typeface="Inter" panose="020B0604020202020204" charset="0"/>
      <p:regular r:id="rId45"/>
      <p:bold r:id="rId46"/>
      <p:italic r:id="rId47"/>
      <p:boldItalic r:id="rId48"/>
    </p:embeddedFont>
    <p:embeddedFont>
      <p:font typeface="Plus Jakarta Sans" panose="020B0604020202020204" charset="0"/>
      <p:regular r:id="rId49"/>
      <p:bold r:id="rId50"/>
      <p:italic r:id="rId51"/>
      <p:boldItalic r:id="rId52"/>
    </p:embeddedFont>
    <p:embeddedFont>
      <p:font typeface="Plus Jakarta Sans ExtraBold" panose="020B0604020202020204" charset="0"/>
      <p:bold r:id="rId53"/>
      <p:boldItalic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5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87">
          <p15:clr>
            <a:srgbClr val="A4A3A4"/>
          </p15:clr>
        </p15:guide>
        <p15:guide id="4" pos="438">
          <p15:clr>
            <a:srgbClr val="A4A3A4"/>
          </p15:clr>
        </p15:guide>
        <p15:guide id="5" orient="horz" pos="2387">
          <p15:clr>
            <a:srgbClr val="A4A3A4"/>
          </p15:clr>
        </p15:guide>
        <p15:guide id="6" orient="horz" pos="2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8" roundtripDataSignature="AMtx7miuq0NguNk5LHHA5FwT6FGEpdEK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57BCAD3-15E7-4015-9B5F-DF1D467188F8}">
  <a:tblStyle styleId="{457BCAD3-15E7-4015-9B5F-DF1D467188F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BE7"/>
          </a:solidFill>
        </a:fill>
      </a:tcStyle>
    </a:wholeTbl>
    <a:band1H>
      <a:tcTxStyle/>
      <a:tcStyle>
        <a:tcBdr/>
        <a:fill>
          <a:solidFill>
            <a:srgbClr val="CAD5CC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5CC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409" autoAdjust="0"/>
    <p:restoredTop sz="94660"/>
  </p:normalViewPr>
  <p:slideViewPr>
    <p:cSldViewPr snapToGrid="0">
      <p:cViewPr varScale="1">
        <p:scale>
          <a:sx n="56" d="100"/>
          <a:sy n="56" d="100"/>
        </p:scale>
        <p:origin x="72" y="1194"/>
      </p:cViewPr>
      <p:guideLst>
        <p:guide orient="horz" pos="595"/>
        <p:guide pos="3840"/>
        <p:guide orient="horz" pos="187"/>
        <p:guide pos="438"/>
        <p:guide orient="horz" pos="2387"/>
        <p:guide orient="horz" pos="2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font" Target="fonts/font10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3" Type="http://schemas.openxmlformats.org/officeDocument/2006/relationships/font" Target="fonts/font13.fntdata"/><Relationship Id="rId58" Type="http://customschemas.google.com/relationships/presentationmetadata" Target="metadata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font" Target="fonts/font8.fntdata"/><Relationship Id="rId8" Type="http://schemas.openxmlformats.org/officeDocument/2006/relationships/slide" Target="slides/slide7.xml"/><Relationship Id="rId51" Type="http://schemas.openxmlformats.org/officeDocument/2006/relationships/font" Target="fonts/font1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6.fntdata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1.fntdata"/><Relationship Id="rId54" Type="http://schemas.openxmlformats.org/officeDocument/2006/relationships/font" Target="fonts/font14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9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52" Type="http://schemas.openxmlformats.org/officeDocument/2006/relationships/font" Target="fonts/font12.fntdata"/><Relationship Id="rId6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355996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588698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658672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954350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89339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614738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670233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837565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108144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45345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757230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922596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103305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987086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16084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913904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544023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97136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016358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626276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380547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162735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1077438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669908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199482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4933726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930964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7800655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6715802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9774443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1361089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9544336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EC388"/>
              </a:buClr>
              <a:buSzPts val="2400"/>
              <a:buNone/>
              <a:defRPr sz="2400">
                <a:solidFill>
                  <a:srgbClr val="8EC3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2000"/>
              <a:buNone/>
              <a:defRPr sz="2000">
                <a:solidFill>
                  <a:srgbClr val="8EC3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800"/>
              <a:buNone/>
              <a:defRPr sz="1800">
                <a:solidFill>
                  <a:srgbClr val="8EC3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4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4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4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6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5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6.png"/><Relationship Id="rId9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5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6.png"/><Relationship Id="rId9" Type="http://schemas.openxmlformats.org/officeDocument/2006/relationships/image" Target="../media/image3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"/>
          <p:cNvPicPr preferRelativeResize="0"/>
          <p:nvPr/>
        </p:nvPicPr>
        <p:blipFill rotWithShape="1">
          <a:blip r:embed="rId4">
            <a:alphaModFix/>
          </a:blip>
          <a:srcRect l="24976" t="22927" r="24976" b="22927"/>
          <a:stretch/>
        </p:blipFill>
        <p:spPr>
          <a:xfrm>
            <a:off x="10424123" y="870486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ubtítulo 4">
            <a:extLst>
              <a:ext uri="{FF2B5EF4-FFF2-40B4-BE49-F238E27FC236}">
                <a16:creationId xmlns:a16="http://schemas.microsoft.com/office/drawing/2014/main" id="{0D27D3C6-3047-48C6-E08D-1D2554CFC2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6443" y="3996267"/>
            <a:ext cx="3579112" cy="1915365"/>
          </a:xfrm>
        </p:spPr>
        <p:txBody>
          <a:bodyPr>
            <a:normAutofit fontScale="77500" lnSpcReduction="20000"/>
          </a:bodyPr>
          <a:lstStyle/>
          <a:p>
            <a:pPr algn="ctr"/>
            <a:r>
              <a:rPr sz="1600" b="1" dirty="0">
                <a:solidFill>
                  <a:srgbClr val="1F3B73"/>
                </a:solidFill>
                <a:latin typeface="Arial"/>
              </a:rPr>
              <a:t>INTEGRANTES:</a:t>
            </a:r>
            <a:endParaRPr lang="es-CO" sz="1600" b="1" dirty="0">
              <a:solidFill>
                <a:srgbClr val="334155"/>
              </a:solidFill>
              <a:latin typeface="Inter"/>
              <a:cs typeface="Inter"/>
              <a:sym typeface="Arial"/>
            </a:endParaRPr>
          </a:p>
          <a:p>
            <a:pPr algn="ctr"/>
            <a:endParaRPr lang="es-CO" sz="1600" b="1" dirty="0">
              <a:solidFill>
                <a:srgbClr val="334155"/>
              </a:solidFill>
              <a:latin typeface="Inter"/>
              <a:cs typeface="Inter"/>
              <a:sym typeface="Arial"/>
            </a:endParaRPr>
          </a:p>
          <a:p>
            <a:pPr algn="ctr"/>
            <a:r>
              <a:rPr sz="1600" b="1" dirty="0">
                <a:solidFill>
                  <a:srgbClr val="33373D"/>
                </a:solidFill>
                <a:latin typeface="Arial"/>
              </a:rPr>
              <a:t>BRANDON ARLEY RESTREPO G</a:t>
            </a:r>
            <a:r>
              <a:rPr lang="es-CO" sz="1600" b="1" dirty="0">
                <a:solidFill>
                  <a:srgbClr val="33373D"/>
                </a:solidFill>
                <a:latin typeface="Arial"/>
              </a:rPr>
              <a:t>E</a:t>
            </a:r>
            <a:r>
              <a:rPr sz="1600" b="1" dirty="0">
                <a:solidFill>
                  <a:srgbClr val="33373D"/>
                </a:solidFill>
                <a:latin typeface="Arial"/>
              </a:rPr>
              <a:t>LVEZ</a:t>
            </a:r>
          </a:p>
          <a:p>
            <a:pPr algn="ctr"/>
            <a:r>
              <a:rPr sz="1600" b="1" dirty="0">
                <a:solidFill>
                  <a:srgbClr val="33373D"/>
                </a:solidFill>
                <a:latin typeface="Arial"/>
              </a:rPr>
              <a:t>JOHAN SEBASTI</a:t>
            </a:r>
            <a:r>
              <a:rPr lang="es-CO" sz="1600" b="1" dirty="0">
                <a:solidFill>
                  <a:srgbClr val="33373D"/>
                </a:solidFill>
                <a:latin typeface="Arial"/>
              </a:rPr>
              <a:t>A</a:t>
            </a:r>
            <a:r>
              <a:rPr sz="1600" b="1" dirty="0">
                <a:solidFill>
                  <a:srgbClr val="33373D"/>
                </a:solidFill>
                <a:latin typeface="Arial"/>
              </a:rPr>
              <a:t>N ACOSTA S</a:t>
            </a:r>
            <a:r>
              <a:rPr lang="es-CO" sz="1600" b="1" dirty="0">
                <a:solidFill>
                  <a:srgbClr val="33373D"/>
                </a:solidFill>
                <a:latin typeface="Arial"/>
              </a:rPr>
              <a:t>A</a:t>
            </a:r>
            <a:r>
              <a:rPr sz="1600" b="1" dirty="0">
                <a:solidFill>
                  <a:srgbClr val="33373D"/>
                </a:solidFill>
                <a:latin typeface="Arial"/>
              </a:rPr>
              <a:t>NCHEZ</a:t>
            </a:r>
          </a:p>
          <a:p>
            <a:pPr algn="ctr"/>
            <a:r>
              <a:rPr sz="1600" b="1" dirty="0">
                <a:solidFill>
                  <a:srgbClr val="33373D"/>
                </a:solidFill>
                <a:latin typeface="Arial"/>
              </a:rPr>
              <a:t>WILMER JES</a:t>
            </a:r>
            <a:r>
              <a:rPr lang="es-CO" sz="1600" b="1" dirty="0">
                <a:solidFill>
                  <a:srgbClr val="33373D"/>
                </a:solidFill>
                <a:latin typeface="Arial"/>
              </a:rPr>
              <a:t>U</a:t>
            </a:r>
            <a:r>
              <a:rPr sz="1600" b="1" dirty="0">
                <a:solidFill>
                  <a:srgbClr val="33373D"/>
                </a:solidFill>
                <a:latin typeface="Arial"/>
              </a:rPr>
              <a:t>S CONTRERAS RANGEL</a:t>
            </a:r>
          </a:p>
          <a:p>
            <a:pPr algn="ctr"/>
            <a:endParaRPr sz="1600" b="1" dirty="0">
              <a:solidFill>
                <a:srgbClr val="33373D"/>
              </a:solidFill>
              <a:latin typeface="Arial"/>
            </a:endParaRPr>
          </a:p>
          <a:p>
            <a:pPr algn="ctr"/>
            <a:r>
              <a:rPr sz="1600" b="1" dirty="0" err="1">
                <a:solidFill>
                  <a:srgbClr val="33373D"/>
                </a:solidFill>
                <a:latin typeface="Arial"/>
              </a:rPr>
              <a:t>Ficha</a:t>
            </a:r>
            <a:r>
              <a:rPr sz="1600" b="1" dirty="0">
                <a:solidFill>
                  <a:srgbClr val="33373D"/>
                </a:solidFill>
                <a:latin typeface="Arial"/>
              </a:rPr>
              <a:t> 3115426</a:t>
            </a:r>
          </a:p>
        </p:txBody>
      </p:sp>
      <p:pic>
        <p:nvPicPr>
          <p:cNvPr id="3" name="Google Shape;90;p13" descr="image.png">
            <a:extLst>
              <a:ext uri="{FF2B5EF4-FFF2-40B4-BE49-F238E27FC236}">
                <a16:creationId xmlns:a16="http://schemas.microsoft.com/office/drawing/2014/main" id="{24B006EC-E35D-15B6-DB4E-F558902378F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1999" y="618067"/>
            <a:ext cx="3048000" cy="304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70859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1D120AAC-3F32-0221-6CDC-92BF2903B21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85;p13" descr="image.png">
            <a:extLst>
              <a:ext uri="{FF2B5EF4-FFF2-40B4-BE49-F238E27FC236}">
                <a16:creationId xmlns:a16="http://schemas.microsoft.com/office/drawing/2014/main" id="{6F82DF70-D1DF-BB77-7DA3-E4B341DD603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78022" y="1430934"/>
            <a:ext cx="4715581" cy="3996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86;p13" descr="image.png">
            <a:extLst>
              <a:ext uri="{FF2B5EF4-FFF2-40B4-BE49-F238E27FC236}">
                <a16:creationId xmlns:a16="http://schemas.microsoft.com/office/drawing/2014/main" id="{8FC35288-A11A-A47A-B1D2-293289B98EA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29053" y="4713643"/>
            <a:ext cx="236220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87;p13" descr="image.png">
            <a:extLst>
              <a:ext uri="{FF2B5EF4-FFF2-40B4-BE49-F238E27FC236}">
                <a16:creationId xmlns:a16="http://schemas.microsoft.com/office/drawing/2014/main" id="{1413AA8C-5895-3BE3-7C09-659710DFA8AD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9053" y="1154709"/>
            <a:ext cx="20574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88;p13">
            <a:extLst>
              <a:ext uri="{FF2B5EF4-FFF2-40B4-BE49-F238E27FC236}">
                <a16:creationId xmlns:a16="http://schemas.microsoft.com/office/drawing/2014/main" id="{06A82DE9-312C-9BF6-8485-7633EE9826C0}"/>
              </a:ext>
            </a:extLst>
          </p:cNvPr>
          <p:cNvSpPr txBox="1"/>
          <p:nvPr/>
        </p:nvSpPr>
        <p:spPr>
          <a:xfrm>
            <a:off x="1100667" y="1796641"/>
            <a:ext cx="2555522" cy="69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 dirty="0" err="1">
                <a:solidFill>
                  <a:srgbClr val="00336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FactuGest</a:t>
            </a:r>
            <a:endParaRPr dirty="0"/>
          </a:p>
        </p:txBody>
      </p:sp>
      <p:sp>
        <p:nvSpPr>
          <p:cNvPr id="8" name="Google Shape;89;p13">
            <a:extLst>
              <a:ext uri="{FF2B5EF4-FFF2-40B4-BE49-F238E27FC236}">
                <a16:creationId xmlns:a16="http://schemas.microsoft.com/office/drawing/2014/main" id="{C69884FC-0D06-AD26-4B09-9A0E6F0199C6}"/>
              </a:ext>
            </a:extLst>
          </p:cNvPr>
          <p:cNvSpPr txBox="1"/>
          <p:nvPr/>
        </p:nvSpPr>
        <p:spPr>
          <a:xfrm>
            <a:off x="1033639" y="3013774"/>
            <a:ext cx="479989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dirty="0">
                <a:solidFill>
                  <a:srgbClr val="33373D"/>
                </a:solidFill>
                <a:latin typeface="Arial"/>
              </a:rPr>
              <a:t>Plataforma web de </a:t>
            </a:r>
            <a:r>
              <a:rPr sz="2000" dirty="0" err="1">
                <a:solidFill>
                  <a:srgbClr val="33373D"/>
                </a:solidFill>
                <a:latin typeface="Arial"/>
              </a:rPr>
              <a:t>facturación</a:t>
            </a:r>
            <a:r>
              <a:rPr sz="2000" dirty="0">
                <a:solidFill>
                  <a:srgbClr val="33373D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33373D"/>
                </a:solidFill>
                <a:latin typeface="Arial"/>
              </a:rPr>
              <a:t>electrónica</a:t>
            </a:r>
            <a:r>
              <a:rPr sz="2000" dirty="0">
                <a:solidFill>
                  <a:srgbClr val="33373D"/>
                </a:solidFill>
                <a:latin typeface="Arial"/>
              </a:rPr>
              <a:t> que </a:t>
            </a:r>
            <a:r>
              <a:rPr sz="2000" dirty="0" err="1">
                <a:solidFill>
                  <a:srgbClr val="33373D"/>
                </a:solidFill>
                <a:latin typeface="Arial"/>
              </a:rPr>
              <a:t>emite</a:t>
            </a:r>
            <a:r>
              <a:rPr sz="2000" dirty="0">
                <a:solidFill>
                  <a:srgbClr val="33373D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33373D"/>
                </a:solidFill>
                <a:latin typeface="Arial"/>
              </a:rPr>
              <a:t>por</a:t>
            </a:r>
            <a:r>
              <a:rPr sz="2000" dirty="0">
                <a:solidFill>
                  <a:srgbClr val="33373D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33373D"/>
                </a:solidFill>
                <a:latin typeface="Arial"/>
              </a:rPr>
              <a:t>cuenta</a:t>
            </a:r>
            <a:r>
              <a:rPr sz="2000" dirty="0">
                <a:solidFill>
                  <a:srgbClr val="33373D"/>
                </a:solidFill>
                <a:latin typeface="Arial"/>
              </a:rPr>
              <a:t> de </a:t>
            </a:r>
            <a:r>
              <a:rPr sz="2000" dirty="0" err="1">
                <a:solidFill>
                  <a:srgbClr val="33373D"/>
                </a:solidFill>
                <a:latin typeface="Arial"/>
              </a:rPr>
              <a:t>terceros</a:t>
            </a:r>
            <a:r>
              <a:rPr sz="2000" dirty="0">
                <a:solidFill>
                  <a:srgbClr val="33373D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33373D"/>
                </a:solidFill>
                <a:latin typeface="Arial"/>
              </a:rPr>
              <a:t>mediante</a:t>
            </a:r>
            <a:r>
              <a:rPr sz="2000" dirty="0">
                <a:solidFill>
                  <a:srgbClr val="33373D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33373D"/>
                </a:solidFill>
                <a:latin typeface="Arial"/>
              </a:rPr>
              <a:t>una</a:t>
            </a:r>
            <a:r>
              <a:rPr sz="2000" dirty="0">
                <a:solidFill>
                  <a:srgbClr val="33373D"/>
                </a:solidFill>
                <a:latin typeface="Arial"/>
              </a:rPr>
              <a:t> API de </a:t>
            </a:r>
            <a:r>
              <a:rPr sz="2000" dirty="0" err="1">
                <a:solidFill>
                  <a:srgbClr val="33373D"/>
                </a:solidFill>
                <a:latin typeface="Arial"/>
              </a:rPr>
              <a:t>integración</a:t>
            </a:r>
            <a:r>
              <a:rPr sz="2000" dirty="0">
                <a:solidFill>
                  <a:srgbClr val="33373D"/>
                </a:solidFill>
                <a:latin typeface="Arial"/>
              </a:rPr>
              <a:t>.</a:t>
            </a:r>
            <a:endParaRPr sz="1600" dirty="0"/>
          </a:p>
        </p:txBody>
      </p:sp>
      <p:pic>
        <p:nvPicPr>
          <p:cNvPr id="9" name="Google Shape;90;p13" descr="image.png">
            <a:extLst>
              <a:ext uri="{FF2B5EF4-FFF2-40B4-BE49-F238E27FC236}">
                <a16:creationId xmlns:a16="http://schemas.microsoft.com/office/drawing/2014/main" id="{180BC0BB-653F-7D4E-99DB-6BE23B72993E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 b="21597"/>
          <a:stretch/>
        </p:blipFill>
        <p:spPr>
          <a:xfrm>
            <a:off x="7011812" y="2084565"/>
            <a:ext cx="3048000" cy="2496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91;p13" descr="image.png">
            <a:extLst>
              <a:ext uri="{FF2B5EF4-FFF2-40B4-BE49-F238E27FC236}">
                <a16:creationId xmlns:a16="http://schemas.microsoft.com/office/drawing/2014/main" id="{B074B4B6-84CD-D85F-C918-B84500ED341E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29242" y="4823180"/>
            <a:ext cx="1714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B98E55B9-4796-1AD4-FD91-7F8439DF9EDA}"/>
              </a:ext>
            </a:extLst>
          </p:cNvPr>
          <p:cNvSpPr txBox="1"/>
          <p:nvPr/>
        </p:nvSpPr>
        <p:spPr>
          <a:xfrm>
            <a:off x="7703256" y="4892245"/>
            <a:ext cx="38361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800" dirty="0"/>
              <a:t> </a:t>
            </a:r>
            <a:endParaRPr lang="es-CO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1;p3">
            <a:extLst>
              <a:ext uri="{FF2B5EF4-FFF2-40B4-BE49-F238E27FC236}">
                <a16:creationId xmlns:a16="http://schemas.microsoft.com/office/drawing/2014/main" id="{C3D3D267-D1DB-7794-090F-4F88F9C7C45B}"/>
              </a:ext>
            </a:extLst>
          </p:cNvPr>
          <p:cNvSpPr txBox="1"/>
          <p:nvPr/>
        </p:nvSpPr>
        <p:spPr>
          <a:xfrm>
            <a:off x="2100942" y="2640764"/>
            <a:ext cx="7990115" cy="1576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es-CO" sz="4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I. FORMULACIÓN DEL PROYECTO</a:t>
            </a:r>
            <a:endParaRPr sz="1100" dirty="0"/>
          </a:p>
        </p:txBody>
      </p:sp>
      <p:pic>
        <p:nvPicPr>
          <p:cNvPr id="3" name="Google Shape;84;p13" descr="image.png">
            <a:extLst>
              <a:ext uri="{FF2B5EF4-FFF2-40B4-BE49-F238E27FC236}">
                <a16:creationId xmlns:a16="http://schemas.microsoft.com/office/drawing/2014/main" id="{F8DFFA8D-D658-9F01-0D10-9353E89340D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8DF402D3-A560-9210-3DEA-358303C1CE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6D8587E6-BFC7-BE58-BA04-C802D8D4E3F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07;p14">
            <a:extLst>
              <a:ext uri="{FF2B5EF4-FFF2-40B4-BE49-F238E27FC236}">
                <a16:creationId xmlns:a16="http://schemas.microsoft.com/office/drawing/2014/main" id="{EEE9E0F4-D1BB-7771-0302-5F992181AFCD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06;p14">
            <a:extLst>
              <a:ext uri="{FF2B5EF4-FFF2-40B4-BE49-F238E27FC236}">
                <a16:creationId xmlns:a16="http://schemas.microsoft.com/office/drawing/2014/main" id="{72A46E4C-75C3-B387-4882-65CAAFC1DC0B}"/>
              </a:ext>
            </a:extLst>
          </p:cNvPr>
          <p:cNvSpPr txBox="1"/>
          <p:nvPr/>
        </p:nvSpPr>
        <p:spPr>
          <a:xfrm>
            <a:off x="571500" y="476250"/>
            <a:ext cx="1042416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 err="1">
                <a:solidFill>
                  <a:srgbClr val="00336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Planteamiento del Problema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640080" y="14173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1F3B73"/>
                </a:solidFill>
                <a:latin typeface="Arial"/>
              </a:rPr>
              <a:t>La </a:t>
            </a:r>
            <a:r>
              <a:rPr sz="2400" b="1" dirty="0" err="1">
                <a:solidFill>
                  <a:srgbClr val="1F3B73"/>
                </a:solidFill>
                <a:latin typeface="Arial"/>
              </a:rPr>
              <a:t>facturación</a:t>
            </a:r>
            <a:r>
              <a:rPr sz="2400" b="1" dirty="0">
                <a:solidFill>
                  <a:srgbClr val="1F3B73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1F3B73"/>
                </a:solidFill>
                <a:latin typeface="Arial"/>
              </a:rPr>
              <a:t>electrónica</a:t>
            </a:r>
            <a:r>
              <a:rPr sz="2400" b="1" dirty="0">
                <a:solidFill>
                  <a:srgbClr val="1F3B73"/>
                </a:solidFill>
                <a:latin typeface="Arial"/>
              </a:rPr>
              <a:t> es </a:t>
            </a:r>
            <a:r>
              <a:rPr sz="2400" b="1" dirty="0" err="1">
                <a:solidFill>
                  <a:srgbClr val="1F3B73"/>
                </a:solidFill>
                <a:latin typeface="Arial"/>
              </a:rPr>
              <a:t>obligatoria</a:t>
            </a:r>
            <a:r>
              <a:rPr sz="2400" b="1" dirty="0">
                <a:solidFill>
                  <a:srgbClr val="1F3B73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1F3B73"/>
                </a:solidFill>
                <a:latin typeface="Arial"/>
              </a:rPr>
              <a:t>en</a:t>
            </a:r>
            <a:r>
              <a:rPr sz="2400" b="1" dirty="0">
                <a:solidFill>
                  <a:srgbClr val="1F3B73"/>
                </a:solidFill>
                <a:latin typeface="Arial"/>
              </a:rPr>
              <a:t> Colombia, </a:t>
            </a:r>
            <a:r>
              <a:rPr sz="2400" b="1" dirty="0" err="1">
                <a:solidFill>
                  <a:srgbClr val="1F3B73"/>
                </a:solidFill>
                <a:latin typeface="Arial"/>
              </a:rPr>
              <a:t>pero</a:t>
            </a:r>
            <a:r>
              <a:rPr sz="2400" b="1" dirty="0">
                <a:solidFill>
                  <a:srgbClr val="1F3B73"/>
                </a:solidFill>
                <a:latin typeface="Arial"/>
              </a:rPr>
              <a:t> la </a:t>
            </a:r>
            <a:r>
              <a:rPr sz="2400" b="1" dirty="0" err="1">
                <a:solidFill>
                  <a:srgbClr val="1F3B73"/>
                </a:solidFill>
                <a:latin typeface="Arial"/>
              </a:rPr>
              <a:t>mayoría</a:t>
            </a:r>
            <a:r>
              <a:rPr sz="2400" b="1" dirty="0">
                <a:solidFill>
                  <a:srgbClr val="1F3B73"/>
                </a:solidFill>
                <a:latin typeface="Arial"/>
              </a:rPr>
              <a:t> de las </a:t>
            </a:r>
            <a:r>
              <a:rPr sz="2400" b="1" dirty="0" err="1">
                <a:solidFill>
                  <a:srgbClr val="1F3B73"/>
                </a:solidFill>
                <a:latin typeface="Arial"/>
              </a:rPr>
              <a:t>mipymes</a:t>
            </a:r>
            <a:r>
              <a:rPr sz="2400" b="1" dirty="0">
                <a:solidFill>
                  <a:srgbClr val="1F3B73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1F3B73"/>
                </a:solidFill>
                <a:latin typeface="Arial"/>
              </a:rPr>
              <a:t>todavía</a:t>
            </a:r>
            <a:r>
              <a:rPr sz="2400" b="1" dirty="0">
                <a:solidFill>
                  <a:srgbClr val="1F3B73"/>
                </a:solidFill>
                <a:latin typeface="Arial"/>
              </a:rPr>
              <a:t> no la ha </a:t>
            </a:r>
            <a:r>
              <a:rPr sz="2400" b="1" dirty="0" err="1">
                <a:solidFill>
                  <a:srgbClr val="1F3B73"/>
                </a:solidFill>
                <a:latin typeface="Arial"/>
              </a:rPr>
              <a:t>adoptado</a:t>
            </a:r>
            <a:r>
              <a:rPr sz="2400" b="1" dirty="0">
                <a:solidFill>
                  <a:srgbClr val="1F3B73"/>
                </a:solidFill>
                <a:latin typeface="Arial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788920"/>
            <a:ext cx="10424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>
                <a:solidFill>
                  <a:srgbClr val="33373D"/>
                </a:solidFill>
                <a:latin typeface="Arial"/>
              </a:rPr>
              <a:t>La </a:t>
            </a:r>
            <a:r>
              <a:rPr sz="2000" dirty="0" err="1">
                <a:solidFill>
                  <a:srgbClr val="33373D"/>
                </a:solidFill>
                <a:latin typeface="Arial"/>
              </a:rPr>
              <a:t>mayoría</a:t>
            </a:r>
            <a:r>
              <a:rPr sz="2000" dirty="0">
                <a:solidFill>
                  <a:srgbClr val="33373D"/>
                </a:solidFill>
                <a:latin typeface="Arial"/>
              </a:rPr>
              <a:t> de </a:t>
            </a:r>
            <a:r>
              <a:rPr sz="2000" dirty="0" err="1">
                <a:solidFill>
                  <a:srgbClr val="33373D"/>
                </a:solidFill>
                <a:latin typeface="Arial"/>
              </a:rPr>
              <a:t>estas</a:t>
            </a:r>
            <a:r>
              <a:rPr sz="2000" dirty="0">
                <a:solidFill>
                  <a:srgbClr val="33373D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33373D"/>
                </a:solidFill>
                <a:latin typeface="Arial"/>
              </a:rPr>
              <a:t>empresas</a:t>
            </a:r>
            <a:r>
              <a:rPr sz="2000" dirty="0">
                <a:solidFill>
                  <a:srgbClr val="33373D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33373D"/>
                </a:solidFill>
                <a:latin typeface="Arial"/>
              </a:rPr>
              <a:t>ya</a:t>
            </a:r>
            <a:r>
              <a:rPr sz="2000" dirty="0">
                <a:solidFill>
                  <a:srgbClr val="33373D"/>
                </a:solidFill>
                <a:latin typeface="Arial"/>
              </a:rPr>
              <a:t> opera con un software </a:t>
            </a:r>
            <a:r>
              <a:rPr sz="2000" dirty="0" err="1">
                <a:solidFill>
                  <a:srgbClr val="33373D"/>
                </a:solidFill>
                <a:latin typeface="Arial"/>
              </a:rPr>
              <a:t>propio</a:t>
            </a:r>
            <a:r>
              <a:rPr sz="2000" dirty="0">
                <a:solidFill>
                  <a:srgbClr val="33373D"/>
                </a:solidFill>
                <a:latin typeface="Arial"/>
              </a:rPr>
              <a:t>, sea un punto de </a:t>
            </a:r>
            <a:r>
              <a:rPr sz="2000" dirty="0" err="1">
                <a:solidFill>
                  <a:srgbClr val="33373D"/>
                </a:solidFill>
                <a:latin typeface="Arial"/>
              </a:rPr>
              <a:t>venta</a:t>
            </a:r>
            <a:r>
              <a:rPr sz="2000" dirty="0">
                <a:solidFill>
                  <a:srgbClr val="33373D"/>
                </a:solidFill>
                <a:latin typeface="Arial"/>
              </a:rPr>
              <a:t>, un </a:t>
            </a:r>
            <a:r>
              <a:rPr sz="2000" dirty="0" err="1">
                <a:solidFill>
                  <a:srgbClr val="33373D"/>
                </a:solidFill>
                <a:latin typeface="Arial"/>
              </a:rPr>
              <a:t>sistema</a:t>
            </a:r>
            <a:r>
              <a:rPr sz="2000" dirty="0">
                <a:solidFill>
                  <a:srgbClr val="33373D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33373D"/>
                </a:solidFill>
                <a:latin typeface="Arial"/>
              </a:rPr>
              <a:t>contable</a:t>
            </a:r>
            <a:r>
              <a:rPr sz="2000" dirty="0">
                <a:solidFill>
                  <a:srgbClr val="33373D"/>
                </a:solidFill>
                <a:latin typeface="Arial"/>
              </a:rPr>
              <a:t> o </a:t>
            </a:r>
            <a:r>
              <a:rPr sz="2000" dirty="0" err="1">
                <a:solidFill>
                  <a:srgbClr val="33373D"/>
                </a:solidFill>
                <a:latin typeface="Arial"/>
              </a:rPr>
              <a:t>una</a:t>
            </a:r>
            <a:r>
              <a:rPr sz="2000" dirty="0">
                <a:solidFill>
                  <a:srgbClr val="33373D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33373D"/>
                </a:solidFill>
                <a:latin typeface="Arial"/>
              </a:rPr>
              <a:t>aplicación</a:t>
            </a:r>
            <a:r>
              <a:rPr sz="2000" dirty="0">
                <a:solidFill>
                  <a:srgbClr val="33373D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33373D"/>
                </a:solidFill>
                <a:latin typeface="Arial"/>
              </a:rPr>
              <a:t>hecha</a:t>
            </a:r>
            <a:r>
              <a:rPr sz="2000" dirty="0">
                <a:solidFill>
                  <a:srgbClr val="33373D"/>
                </a:solidFill>
                <a:latin typeface="Arial"/>
              </a:rPr>
              <a:t> a la </a:t>
            </a:r>
            <a:r>
              <a:rPr sz="2000" dirty="0" err="1">
                <a:solidFill>
                  <a:srgbClr val="33373D"/>
                </a:solidFill>
                <a:latin typeface="Arial"/>
              </a:rPr>
              <a:t>medida</a:t>
            </a:r>
            <a:r>
              <a:rPr sz="2000" dirty="0">
                <a:solidFill>
                  <a:srgbClr val="33373D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33373D"/>
                </a:solidFill>
                <a:latin typeface="Arial"/>
              </a:rPr>
              <a:t>años</a:t>
            </a:r>
            <a:r>
              <a:rPr sz="2000" dirty="0">
                <a:solidFill>
                  <a:srgbClr val="33373D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33373D"/>
                </a:solidFill>
                <a:latin typeface="Arial"/>
              </a:rPr>
              <a:t>atrás</a:t>
            </a:r>
            <a:r>
              <a:rPr sz="2000" dirty="0">
                <a:solidFill>
                  <a:srgbClr val="33373D"/>
                </a:solidFill>
                <a:latin typeface="Arial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931920"/>
            <a:ext cx="10424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33373D"/>
                </a:solidFill>
                <a:latin typeface="Arial"/>
              </a:rPr>
              <a:t>La oferta habitual del mercado exige reemplazar esa herramienta, migrar la información, capacitar de nuevo al personal e interrumpir la operación mientras dura el cambio.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074920"/>
            <a:ext cx="10424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33373D"/>
                </a:solidFill>
                <a:latin typeface="Arial"/>
              </a:rPr>
              <a:t>El problema no es tecnológico sino de reemplazo, porque estas empresas no rechazan facturar electrónicamente sino abandonar el sistema con el que ya trabajan.</a:t>
            </a:r>
          </a:p>
        </p:txBody>
      </p:sp>
    </p:spTree>
    <p:extLst>
      <p:ext uri="{BB962C8B-B14F-4D97-AF65-F5344CB8AC3E}">
        <p14:creationId xmlns:p14="http://schemas.microsoft.com/office/powerpoint/2010/main" val="4150227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1">
            <a:extLst>
              <a:ext uri="{FF2B5EF4-FFF2-40B4-BE49-F238E27FC236}">
                <a16:creationId xmlns:a16="http://schemas.microsoft.com/office/drawing/2014/main" id="{13495FBF-C467-5FBA-8029-DB074EC699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38;p16" descr="image.png">
            <a:extLst>
              <a:ext uri="{FF2B5EF4-FFF2-40B4-BE49-F238E27FC236}">
                <a16:creationId xmlns:a16="http://schemas.microsoft.com/office/drawing/2014/main" id="{6E2E430C-E153-EE1C-9507-83BAA4900C8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424" y="4722657"/>
            <a:ext cx="1104900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39;p16" descr="image.png">
            <a:extLst>
              <a:ext uri="{FF2B5EF4-FFF2-40B4-BE49-F238E27FC236}">
                <a16:creationId xmlns:a16="http://schemas.microsoft.com/office/drawing/2014/main" id="{468D5443-582F-1671-D734-A0438BEAA997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143125"/>
            <a:ext cx="35305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40;p16" descr="image.png">
            <a:extLst>
              <a:ext uri="{FF2B5EF4-FFF2-40B4-BE49-F238E27FC236}">
                <a16:creationId xmlns:a16="http://schemas.microsoft.com/office/drawing/2014/main" id="{FC5C9815-BADF-30F6-D886-CBF83C550DC2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330600" y="2143125"/>
            <a:ext cx="3530649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41;p16" descr="image.png">
            <a:extLst>
              <a:ext uri="{FF2B5EF4-FFF2-40B4-BE49-F238E27FC236}">
                <a16:creationId xmlns:a16="http://schemas.microsoft.com/office/drawing/2014/main" id="{DB18B452-3E7B-2BAD-B2A3-F989A189E07E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089850" y="2143125"/>
            <a:ext cx="3530500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54;p16">
            <a:extLst>
              <a:ext uri="{FF2B5EF4-FFF2-40B4-BE49-F238E27FC236}">
                <a16:creationId xmlns:a16="http://schemas.microsoft.com/office/drawing/2014/main" id="{4CF8287F-6AA8-24B0-6B72-8A0480EFA084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53;p16">
            <a:extLst>
              <a:ext uri="{FF2B5EF4-FFF2-40B4-BE49-F238E27FC236}">
                <a16:creationId xmlns:a16="http://schemas.microsoft.com/office/drawing/2014/main" id="{3A3C55D1-1764-1508-0286-5FAFD912FB5C}"/>
              </a:ext>
            </a:extLst>
          </p:cNvPr>
          <p:cNvSpPr txBox="1"/>
          <p:nvPr/>
        </p:nvSpPr>
        <p:spPr>
          <a:xfrm>
            <a:off x="571500" y="476250"/>
            <a:ext cx="1042416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 err="1">
                <a:solidFill>
                  <a:srgbClr val="00336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Justificación del Proyecto</a:t>
            </a:r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768096" y="2331720"/>
            <a:ext cx="31272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3B73"/>
                </a:solidFill>
                <a:latin typeface="Arial"/>
              </a:rPr>
              <a:t>82%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3035808"/>
            <a:ext cx="3127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  <a:latin typeface="Arial"/>
              </a:rPr>
              <a:t>ESTÁN OBLIGADAS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3364992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373D"/>
                </a:solidFill>
                <a:latin typeface="Arial"/>
              </a:rPr>
              <a:t>de las empresas consultadas debe facturar electrónicamente ante la DIAN.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2331720"/>
            <a:ext cx="31272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3B73"/>
                </a:solidFill>
                <a:latin typeface="Arial"/>
              </a:rPr>
              <a:t>38%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3035808"/>
            <a:ext cx="3127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  <a:latin typeface="Arial"/>
              </a:rPr>
              <a:t>CAMBIAR DE SOFTWARE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3364992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373D"/>
                </a:solidFill>
                <a:latin typeface="Arial"/>
              </a:rPr>
              <a:t>señaló el reemplazo de su herramienta como la principal barrera para adoptarla.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2331720"/>
            <a:ext cx="31272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3B73"/>
                </a:solidFill>
                <a:latin typeface="Arial"/>
              </a:rPr>
              <a:t>84%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3608" y="3035808"/>
            <a:ext cx="3127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  <a:latin typeface="Arial"/>
              </a:rPr>
              <a:t>SÍ LO HARÍAN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93608" y="3364992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373D"/>
                </a:solidFill>
                <a:latin typeface="Arial"/>
              </a:rPr>
              <a:t>facturaría electrónicamente si no tuviera que cambiar de software.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" y="490118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B73"/>
                </a:solidFill>
                <a:latin typeface="Arial"/>
              </a:rPr>
              <a:t>FactuGest permite cumplir la obligación sin reemplazar el software con el que la empresa ya trabaja.</a:t>
            </a:r>
          </a:p>
        </p:txBody>
      </p:sp>
    </p:spTree>
    <p:extLst>
      <p:ext uri="{BB962C8B-B14F-4D97-AF65-F5344CB8AC3E}">
        <p14:creationId xmlns:p14="http://schemas.microsoft.com/office/powerpoint/2010/main" val="1556841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272611BD-5090-88E2-8DB2-78DB7477A2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76250"/>
            <a:ext cx="1042416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 err="1">
                <a:solidFill>
                  <a:srgbClr val="00336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Objetivo General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1249679" y="2603680"/>
            <a:ext cx="969264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600" b="1" dirty="0">
                <a:solidFill>
                  <a:srgbClr val="1F3B73"/>
                </a:solidFill>
              </a:rPr>
              <a:t>Desarrollar </a:t>
            </a:r>
            <a:r>
              <a:rPr lang="es-MX" sz="2600" b="1" dirty="0" err="1">
                <a:solidFill>
                  <a:srgbClr val="1F3B73"/>
                </a:solidFill>
              </a:rPr>
              <a:t>FactuGest</a:t>
            </a:r>
            <a:r>
              <a:rPr lang="es-MX" sz="2600" b="1" dirty="0">
                <a:solidFill>
                  <a:srgbClr val="1F3B73"/>
                </a:solidFill>
              </a:rPr>
              <a:t>, plataforma web que actúe como proveedor tecnológico y emita facturas, notas crédito y notas débito ante la DIAN por cuenta de </a:t>
            </a:r>
            <a:r>
              <a:rPr lang="es-MX" sz="2600" b="1" dirty="0" err="1">
                <a:solidFill>
                  <a:srgbClr val="1F3B73"/>
                </a:solidFill>
              </a:rPr>
              <a:t>mipymes</a:t>
            </a:r>
            <a:r>
              <a:rPr lang="es-MX" sz="2600" b="1" dirty="0">
                <a:solidFill>
                  <a:srgbClr val="1F3B73"/>
                </a:solidFill>
              </a:rPr>
              <a:t> colombianas, mediante una API integrada a su propio software.</a:t>
            </a:r>
            <a:endParaRPr sz="2600" b="1" dirty="0">
              <a:solidFill>
                <a:srgbClr val="1F3B73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68519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4B0AA0B5-E4A9-52D1-B9C7-4150FF2200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76250"/>
            <a:ext cx="1042416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 err="1">
                <a:solidFill>
                  <a:srgbClr val="00336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Objetivos Específicos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883920" y="1587148"/>
            <a:ext cx="1042416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>
                <a:solidFill>
                  <a:srgbClr val="33373D"/>
                </a:solidFill>
                <a:latin typeface="Arial"/>
              </a:rPr>
              <a:t>1. </a:t>
            </a:r>
            <a:r>
              <a:rPr lang="es-MX" sz="1800" dirty="0">
                <a:solidFill>
                  <a:srgbClr val="33373D"/>
                </a:solidFill>
              </a:rPr>
              <a:t>Automatizar la emisión electrónica de facturas, notas crédito y notas débito, asegurando su validez tributaria y su conformidad con el estándar UBL 2.1 exigido por la DIAN.</a:t>
            </a:r>
            <a:endParaRPr sz="2000" dirty="0">
              <a:solidFill>
                <a:srgbClr val="33373D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3920" y="2547268"/>
            <a:ext cx="1042416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>
                <a:solidFill>
                  <a:srgbClr val="33373D"/>
                </a:solidFill>
                <a:latin typeface="Arial"/>
              </a:rPr>
              <a:t>2. </a:t>
            </a:r>
            <a:r>
              <a:rPr lang="es-MX" sz="1800" dirty="0">
                <a:solidFill>
                  <a:srgbClr val="33373D"/>
                </a:solidFill>
              </a:rPr>
              <a:t>Habilitar la integración de sistemas externos con la plataforma mediante una API REST segura, que permita a terceros emitir documentos electrónicos sin modificar su propio software.</a:t>
            </a:r>
            <a:endParaRPr lang="es-CO" sz="1800" dirty="0">
              <a:solidFill>
                <a:srgbClr val="33373D"/>
              </a:solidFill>
            </a:endParaRPr>
          </a:p>
          <a:p>
            <a:endParaRPr sz="2000" dirty="0">
              <a:solidFill>
                <a:srgbClr val="33373D"/>
              </a:solidFill>
              <a:latin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83920" y="3507388"/>
            <a:ext cx="1042416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>
                <a:solidFill>
                  <a:srgbClr val="33373D"/>
                </a:solidFill>
                <a:latin typeface="Arial"/>
              </a:rPr>
              <a:t>3. </a:t>
            </a:r>
            <a:r>
              <a:rPr lang="es-MX" sz="1800" dirty="0">
                <a:solidFill>
                  <a:srgbClr val="33373D"/>
                </a:solidFill>
              </a:rPr>
              <a:t>Administrar el ciclo de vida de los clientes integrados y sus planes de suscripción, controlando su acceso, su consumo y su facturación dentro del modelo de proveedor tecnológico.</a:t>
            </a:r>
            <a:endParaRPr lang="es-CO" sz="1800" dirty="0">
              <a:solidFill>
                <a:srgbClr val="33373D"/>
              </a:solidFill>
            </a:endParaRPr>
          </a:p>
          <a:p>
            <a:endParaRPr sz="2000" dirty="0">
              <a:solidFill>
                <a:srgbClr val="33373D"/>
              </a:solidFill>
              <a:latin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83920" y="4467508"/>
            <a:ext cx="104241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>
                <a:solidFill>
                  <a:srgbClr val="33373D"/>
                </a:solidFill>
                <a:latin typeface="Arial"/>
              </a:rPr>
              <a:t>4. </a:t>
            </a:r>
            <a:r>
              <a:rPr lang="es-MX" sz="1800" dirty="0">
                <a:solidFill>
                  <a:srgbClr val="33373D"/>
                </a:solidFill>
              </a:rPr>
              <a:t>Proveer visibilidad sobre la operación del servicio y su desempeño financiero mediante un panel de control y reportes exportables. </a:t>
            </a:r>
            <a:endParaRPr lang="es-CO" sz="1800" dirty="0">
              <a:solidFill>
                <a:srgbClr val="33373D"/>
              </a:solidFill>
            </a:endParaRPr>
          </a:p>
          <a:p>
            <a:endParaRPr sz="2000" dirty="0">
              <a:solidFill>
                <a:srgbClr val="33373D"/>
              </a:solidFill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83920" y="5427628"/>
            <a:ext cx="104241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>
                <a:solidFill>
                  <a:srgbClr val="33373D"/>
                </a:solidFill>
                <a:latin typeface="Arial"/>
              </a:rPr>
              <a:t>5. </a:t>
            </a:r>
            <a:r>
              <a:rPr lang="es-MX" sz="1800" dirty="0">
                <a:solidFill>
                  <a:srgbClr val="33373D"/>
                </a:solidFill>
              </a:rPr>
              <a:t>Garantizar la seguridad de la plataforma mediante control de acceso por roles y trazabilidad de las operaciones realizadas por los usuarios.</a:t>
            </a:r>
            <a:endParaRPr lang="es-CO" sz="1800" dirty="0">
              <a:solidFill>
                <a:srgbClr val="33373D"/>
              </a:solidFill>
            </a:endParaRPr>
          </a:p>
          <a:p>
            <a:endParaRPr sz="2000" dirty="0">
              <a:solidFill>
                <a:srgbClr val="33373D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94821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FE379AC-14BA-0D80-78A8-2080EA36BF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2813"/>
            <a:ext cx="1042416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 err="1">
                <a:solidFill>
                  <a:srgbClr val="003366"/>
                </a:solidFill>
                <a:latin typeface="Plus Jakarta Sans ExtraBold"/>
                <a:cs typeface="Plus Jakarta Sans ExtraBold"/>
                <a:sym typeface="Plus Jakarta Sans ExtraBold"/>
              </a:rPr>
              <a:t>Alcance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82296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dirty="0">
                <a:solidFill>
                  <a:srgbClr val="1F3B73"/>
                </a:solidFill>
                <a:latin typeface="Arial"/>
              </a:rPr>
              <a:t>Lo que </a:t>
            </a:r>
            <a:r>
              <a:rPr sz="2200" b="1" dirty="0" err="1">
                <a:solidFill>
                  <a:srgbClr val="1F3B73"/>
                </a:solidFill>
                <a:latin typeface="Arial"/>
              </a:rPr>
              <a:t>el</a:t>
            </a:r>
            <a:r>
              <a:rPr sz="2200" b="1" dirty="0">
                <a:solidFill>
                  <a:srgbClr val="1F3B73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1F3B73"/>
                </a:solidFill>
                <a:latin typeface="Arial"/>
              </a:rPr>
              <a:t>sistema</a:t>
            </a:r>
            <a:r>
              <a:rPr sz="2200" b="1" dirty="0">
                <a:solidFill>
                  <a:srgbClr val="1F3B73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1F3B73"/>
                </a:solidFill>
                <a:latin typeface="Arial"/>
              </a:rPr>
              <a:t>hace</a:t>
            </a:r>
            <a:endParaRPr sz="2200" b="1" dirty="0">
              <a:solidFill>
                <a:srgbClr val="1F3B73"/>
              </a:solidFill>
              <a:latin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2960" y="2011680"/>
            <a:ext cx="493776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33373D"/>
                </a:solidFill>
                <a:latin typeface="Arial"/>
              </a:rPr>
              <a:t>Emite facturas de venta, notas crédito y notas débito por cuenta de terceros.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2798064"/>
            <a:ext cx="493776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33373D"/>
                </a:solidFill>
                <a:latin typeface="Arial"/>
              </a:rPr>
              <a:t>Expone una API que el software del cliente consume para emitir sus documentos.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584448"/>
            <a:ext cx="493776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33373D"/>
                </a:solidFill>
                <a:latin typeface="Arial"/>
              </a:rPr>
              <a:t>Administra los clientes integrados, sus llaves y sus planes.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370832"/>
            <a:ext cx="493776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33373D"/>
                </a:solidFill>
                <a:latin typeface="Arial"/>
              </a:rPr>
              <a:t>Controla el consumo mensual y factura la mensualidad del servicio.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157216"/>
            <a:ext cx="493776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33373D"/>
                </a:solidFill>
                <a:latin typeface="Arial"/>
              </a:rPr>
              <a:t>Consolida la operación en un tablero y siete reportes exportables.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dirty="0">
                <a:solidFill>
                  <a:srgbClr val="1F3B73"/>
                </a:solidFill>
                <a:latin typeface="Arial"/>
              </a:rPr>
              <a:t>Lo que </a:t>
            </a:r>
            <a:r>
              <a:rPr sz="2200" b="1" dirty="0" err="1">
                <a:solidFill>
                  <a:srgbClr val="1F3B73"/>
                </a:solidFill>
                <a:latin typeface="Arial"/>
              </a:rPr>
              <a:t>queda</a:t>
            </a:r>
            <a:r>
              <a:rPr sz="2200" b="1" dirty="0">
                <a:solidFill>
                  <a:srgbClr val="1F3B73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1F3B73"/>
                </a:solidFill>
                <a:latin typeface="Arial"/>
              </a:rPr>
              <a:t>fuera</a:t>
            </a:r>
            <a:r>
              <a:rPr sz="2200" b="1" dirty="0">
                <a:solidFill>
                  <a:srgbClr val="1F3B73"/>
                </a:solidFill>
                <a:latin typeface="Arial"/>
              </a:rPr>
              <a:t> de </a:t>
            </a:r>
            <a:r>
              <a:rPr sz="2200" b="1" dirty="0" err="1">
                <a:solidFill>
                  <a:srgbClr val="1F3B73"/>
                </a:solidFill>
                <a:latin typeface="Arial"/>
              </a:rPr>
              <a:t>esta</a:t>
            </a:r>
            <a:r>
              <a:rPr sz="2200" b="1" dirty="0">
                <a:solidFill>
                  <a:srgbClr val="1F3B73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1F3B73"/>
                </a:solidFill>
                <a:latin typeface="Arial"/>
              </a:rPr>
              <a:t>versión</a:t>
            </a:r>
            <a:endParaRPr sz="2200" b="1" dirty="0">
              <a:solidFill>
                <a:srgbClr val="1F3B73"/>
              </a:solidFill>
              <a:latin typeface="Arial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309360" y="2011680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33373D"/>
                </a:solidFill>
                <a:latin typeface="Arial"/>
              </a:rPr>
              <a:t>La transmisión a los servicios de producción de la DIAN, pendiente de la habilitación del proveedor.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2971800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33373D"/>
                </a:solidFill>
                <a:latin typeface="Arial"/>
              </a:rPr>
              <a:t>La integración con pasarelas de pago, porque el recaudo se registra a mano.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931920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33373D"/>
                </a:solidFill>
                <a:latin typeface="Arial"/>
              </a:rPr>
              <a:t>El cliente móvil, que quedó fuera de esta versión.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539320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dirty="0">
                <a:solidFill>
                  <a:srgbClr val="33373D"/>
                </a:solidFill>
                <a:latin typeface="Arial"/>
              </a:rPr>
              <a:t>La </a:t>
            </a:r>
            <a:r>
              <a:rPr sz="1700" dirty="0" err="1">
                <a:solidFill>
                  <a:srgbClr val="33373D"/>
                </a:solidFill>
                <a:latin typeface="Arial"/>
              </a:rPr>
              <a:t>prueba</a:t>
            </a:r>
            <a:r>
              <a:rPr sz="1700" dirty="0">
                <a:solidFill>
                  <a:srgbClr val="33373D"/>
                </a:solidFill>
                <a:latin typeface="Arial"/>
              </a:rPr>
              <a:t> de carga </a:t>
            </a:r>
            <a:r>
              <a:rPr sz="1700" dirty="0" err="1">
                <a:solidFill>
                  <a:srgbClr val="33373D"/>
                </a:solidFill>
                <a:latin typeface="Arial"/>
              </a:rPr>
              <a:t>sostenida</a:t>
            </a:r>
            <a:r>
              <a:rPr sz="1700" dirty="0">
                <a:solidFill>
                  <a:srgbClr val="33373D"/>
                </a:solidFill>
                <a:latin typeface="Arial"/>
              </a:rPr>
              <a:t>, que </a:t>
            </a:r>
            <a:r>
              <a:rPr sz="1700" dirty="0" err="1">
                <a:solidFill>
                  <a:srgbClr val="33373D"/>
                </a:solidFill>
                <a:latin typeface="Arial"/>
              </a:rPr>
              <a:t>exige</a:t>
            </a:r>
            <a:r>
              <a:rPr sz="1700" dirty="0">
                <a:solidFill>
                  <a:srgbClr val="33373D"/>
                </a:solidFill>
                <a:latin typeface="Arial"/>
              </a:rPr>
              <a:t> </a:t>
            </a:r>
            <a:r>
              <a:rPr sz="1700" dirty="0" err="1">
                <a:solidFill>
                  <a:srgbClr val="33373D"/>
                </a:solidFill>
                <a:latin typeface="Arial"/>
              </a:rPr>
              <a:t>infraestructura</a:t>
            </a:r>
            <a:r>
              <a:rPr sz="1700" dirty="0">
                <a:solidFill>
                  <a:srgbClr val="33373D"/>
                </a:solidFill>
                <a:latin typeface="Arial"/>
              </a:rPr>
              <a:t> de </a:t>
            </a:r>
            <a:r>
              <a:rPr sz="1700" dirty="0" err="1">
                <a:solidFill>
                  <a:srgbClr val="33373D"/>
                </a:solidFill>
                <a:latin typeface="Arial"/>
              </a:rPr>
              <a:t>producción</a:t>
            </a:r>
            <a:r>
              <a:rPr sz="1700" dirty="0">
                <a:solidFill>
                  <a:srgbClr val="33373D"/>
                </a:solidFill>
                <a:latin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22629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5135A98-CE2B-358F-3B61-F64EC00709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2813"/>
            <a:ext cx="301088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 err="1">
                <a:solidFill>
                  <a:srgbClr val="003366"/>
                </a:solidFill>
                <a:latin typeface="Plus Jakarta Sans ExtraBold"/>
                <a:cs typeface="Plus Jakarta Sans ExtraBold"/>
                <a:sym typeface="Plus Jakarta Sans ExtraBold"/>
              </a:rPr>
              <a:t>Riesgos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866794" y="1379055"/>
            <a:ext cx="10424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dirty="0">
                <a:solidFill>
                  <a:srgbClr val="33373D"/>
                </a:solidFill>
                <a:latin typeface="Arial"/>
              </a:rPr>
              <a:t>Que la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empresa</a:t>
            </a:r>
            <a:r>
              <a:rPr sz="1800" dirty="0">
                <a:solidFill>
                  <a:srgbClr val="33373D"/>
                </a:solidFill>
                <a:latin typeface="Arial"/>
              </a:rPr>
              <a:t> no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cuente</a:t>
            </a:r>
            <a:r>
              <a:rPr sz="1800" dirty="0">
                <a:solidFill>
                  <a:srgbClr val="33373D"/>
                </a:solidFill>
                <a:latin typeface="Arial"/>
              </a:rPr>
              <a:t> con personal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técnico</a:t>
            </a:r>
            <a:r>
              <a:rPr sz="180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capaz</a:t>
            </a:r>
            <a:r>
              <a:rPr sz="1800" dirty="0">
                <a:solidFill>
                  <a:srgbClr val="33373D"/>
                </a:solidFill>
                <a:latin typeface="Arial"/>
              </a:rPr>
              <a:t> de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consumir</a:t>
            </a:r>
            <a:r>
              <a:rPr sz="1800" dirty="0">
                <a:solidFill>
                  <a:srgbClr val="33373D"/>
                </a:solidFill>
                <a:latin typeface="Arial"/>
              </a:rPr>
              <a:t> la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interfaz</a:t>
            </a:r>
            <a:r>
              <a:rPr sz="1800" dirty="0">
                <a:solidFill>
                  <a:srgbClr val="33373D"/>
                </a:solidFill>
                <a:latin typeface="Arial"/>
              </a:rPr>
              <a:t> de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integración</a:t>
            </a:r>
            <a:r>
              <a:rPr sz="1800" dirty="0">
                <a:solidFill>
                  <a:srgbClr val="33373D"/>
                </a:solidFill>
                <a:latin typeface="Arial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6794" y="2060756"/>
            <a:ext cx="10424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dirty="0">
                <a:solidFill>
                  <a:srgbClr val="33373D"/>
                </a:solidFill>
                <a:latin typeface="Arial"/>
              </a:rPr>
              <a:t>Que un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servicio</a:t>
            </a:r>
            <a:r>
              <a:rPr sz="180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externo</a:t>
            </a:r>
            <a:r>
              <a:rPr sz="1800" dirty="0">
                <a:solidFill>
                  <a:srgbClr val="33373D"/>
                </a:solidFill>
                <a:latin typeface="Arial"/>
              </a:rPr>
              <a:t>,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como</a:t>
            </a:r>
            <a:r>
              <a:rPr sz="180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el</a:t>
            </a:r>
            <a:r>
              <a:rPr sz="180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correo</a:t>
            </a:r>
            <a:r>
              <a:rPr sz="1800" dirty="0">
                <a:solidFill>
                  <a:srgbClr val="33373D"/>
                </a:solidFill>
                <a:latin typeface="Arial"/>
              </a:rPr>
              <a:t> del comprador, no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esté</a:t>
            </a:r>
            <a:r>
              <a:rPr sz="1800" dirty="0">
                <a:solidFill>
                  <a:srgbClr val="33373D"/>
                </a:solidFill>
                <a:latin typeface="Arial"/>
              </a:rPr>
              <a:t> disponible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en</a:t>
            </a:r>
            <a:r>
              <a:rPr sz="180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el</a:t>
            </a:r>
            <a:r>
              <a:rPr sz="180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momento</a:t>
            </a:r>
            <a:r>
              <a:rPr sz="1800" dirty="0">
                <a:solidFill>
                  <a:srgbClr val="33373D"/>
                </a:solidFill>
                <a:latin typeface="Arial"/>
              </a:rPr>
              <a:t> de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emitir</a:t>
            </a:r>
            <a:r>
              <a:rPr sz="1800" dirty="0">
                <a:solidFill>
                  <a:srgbClr val="33373D"/>
                </a:solidFill>
                <a:latin typeface="Arial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6794" y="2658758"/>
            <a:ext cx="10424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dirty="0">
                <a:solidFill>
                  <a:srgbClr val="33373D"/>
                </a:solidFill>
                <a:latin typeface="Arial"/>
              </a:rPr>
              <a:t>Que la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empresa</a:t>
            </a:r>
            <a:r>
              <a:rPr sz="180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desconfíe</a:t>
            </a:r>
            <a:r>
              <a:rPr sz="1800" dirty="0">
                <a:solidFill>
                  <a:srgbClr val="33373D"/>
                </a:solidFill>
                <a:latin typeface="Arial"/>
              </a:rPr>
              <a:t> de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delegar</a:t>
            </a:r>
            <a:r>
              <a:rPr sz="180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su</a:t>
            </a:r>
            <a:r>
              <a:rPr sz="180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facturación</a:t>
            </a:r>
            <a:r>
              <a:rPr sz="180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en</a:t>
            </a:r>
            <a:r>
              <a:rPr sz="1800" dirty="0">
                <a:solidFill>
                  <a:srgbClr val="33373D"/>
                </a:solidFill>
                <a:latin typeface="Arial"/>
              </a:rPr>
              <a:t> un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tercero</a:t>
            </a:r>
            <a:r>
              <a:rPr sz="1800" dirty="0">
                <a:solidFill>
                  <a:srgbClr val="33373D"/>
                </a:solidFill>
                <a:latin typeface="Arial"/>
              </a:rPr>
              <a:t>, que es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una</a:t>
            </a:r>
            <a:r>
              <a:rPr sz="180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decisión</a:t>
            </a:r>
            <a:r>
              <a:rPr sz="1800" dirty="0">
                <a:solidFill>
                  <a:srgbClr val="33373D"/>
                </a:solidFill>
                <a:latin typeface="Arial"/>
              </a:rPr>
              <a:t> que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excede</a:t>
            </a:r>
            <a:r>
              <a:rPr sz="1800" dirty="0">
                <a:solidFill>
                  <a:srgbClr val="33373D"/>
                </a:solidFill>
                <a:latin typeface="Arial"/>
              </a:rPr>
              <a:t> lo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técnico</a:t>
            </a:r>
            <a:r>
              <a:rPr sz="1800" dirty="0">
                <a:solidFill>
                  <a:srgbClr val="33373D"/>
                </a:solidFill>
                <a:latin typeface="Arial"/>
              </a:rPr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599" y="3630135"/>
            <a:ext cx="293468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None/>
              <a:defRPr sz="2700">
                <a:solidFill>
                  <a:srgbClr val="003366"/>
                </a:solidFill>
                <a:latin typeface="Plus Jakarta Sans ExtraBold"/>
                <a:cs typeface="Plus Jakarta Sans ExtraBold"/>
              </a:defRPr>
            </a:lvl1pPr>
          </a:lstStyle>
          <a:p>
            <a:r>
              <a:rPr dirty="0" err="1"/>
              <a:t>Restricciones</a:t>
            </a:r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866794" y="4488771"/>
            <a:ext cx="10424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dirty="0">
                <a:solidFill>
                  <a:srgbClr val="33373D"/>
                </a:solidFill>
                <a:latin typeface="Arial"/>
              </a:rPr>
              <a:t>La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habilitación</a:t>
            </a:r>
            <a:r>
              <a:rPr sz="180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como</a:t>
            </a:r>
            <a:r>
              <a:rPr sz="180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proveedor</a:t>
            </a:r>
            <a:r>
              <a:rPr sz="1800" dirty="0">
                <a:solidFill>
                  <a:srgbClr val="33373D"/>
                </a:solidFill>
                <a:latin typeface="Arial"/>
              </a:rPr>
              <a:t> ante la DIAN es un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trámite</a:t>
            </a:r>
            <a:r>
              <a:rPr sz="1800" dirty="0">
                <a:solidFill>
                  <a:srgbClr val="33373D"/>
                </a:solidFill>
                <a:latin typeface="Arial"/>
              </a:rPr>
              <a:t> que no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controla</a:t>
            </a:r>
            <a:r>
              <a:rPr sz="180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el</a:t>
            </a:r>
            <a:r>
              <a:rPr sz="180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equipo</a:t>
            </a:r>
            <a:r>
              <a:rPr sz="1800" dirty="0">
                <a:solidFill>
                  <a:srgbClr val="33373D"/>
                </a:solidFill>
                <a:latin typeface="Arial"/>
              </a:rPr>
              <a:t>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6794" y="5102366"/>
            <a:ext cx="10424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dirty="0" err="1">
                <a:solidFill>
                  <a:srgbClr val="33373D"/>
                </a:solidFill>
                <a:latin typeface="Arial"/>
              </a:rPr>
              <a:t>Cada</a:t>
            </a:r>
            <a:r>
              <a:rPr sz="180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documento</a:t>
            </a:r>
            <a:r>
              <a:rPr sz="180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necesita</a:t>
            </a:r>
            <a:r>
              <a:rPr sz="180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una</a:t>
            </a:r>
            <a:r>
              <a:rPr sz="180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resolución</a:t>
            </a:r>
            <a:r>
              <a:rPr sz="1800" dirty="0">
                <a:solidFill>
                  <a:srgbClr val="33373D"/>
                </a:solidFill>
                <a:latin typeface="Arial"/>
              </a:rPr>
              <a:t> de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facturación</a:t>
            </a:r>
            <a:r>
              <a:rPr sz="180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vigente</a:t>
            </a:r>
            <a:r>
              <a:rPr sz="1800" dirty="0">
                <a:solidFill>
                  <a:srgbClr val="33373D"/>
                </a:solidFill>
                <a:latin typeface="Arial"/>
              </a:rPr>
              <a:t> con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su</a:t>
            </a:r>
            <a:r>
              <a:rPr sz="180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prefijo</a:t>
            </a:r>
            <a:r>
              <a:rPr sz="1800" dirty="0">
                <a:solidFill>
                  <a:srgbClr val="33373D"/>
                </a:solidFill>
                <a:latin typeface="Arial"/>
              </a:rPr>
              <a:t> y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su</a:t>
            </a:r>
            <a:r>
              <a:rPr sz="180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rango</a:t>
            </a:r>
            <a:r>
              <a:rPr sz="180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autorizados</a:t>
            </a:r>
            <a:r>
              <a:rPr sz="1800" dirty="0">
                <a:solidFill>
                  <a:srgbClr val="33373D"/>
                </a:solidFill>
                <a:latin typeface="Arial"/>
              </a:rPr>
              <a:t>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6794" y="5920700"/>
            <a:ext cx="10424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dirty="0">
                <a:solidFill>
                  <a:srgbClr val="33373D"/>
                </a:solidFill>
                <a:latin typeface="Arial"/>
              </a:rPr>
              <a:t>La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operación</a:t>
            </a:r>
            <a:r>
              <a:rPr sz="180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requiere</a:t>
            </a:r>
            <a:r>
              <a:rPr sz="180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conexión</a:t>
            </a:r>
            <a:r>
              <a:rPr sz="1800" dirty="0">
                <a:solidFill>
                  <a:srgbClr val="33373D"/>
                </a:solidFill>
                <a:latin typeface="Arial"/>
              </a:rPr>
              <a:t> a internet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en</a:t>
            </a:r>
            <a:r>
              <a:rPr sz="180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los</a:t>
            </a:r>
            <a:r>
              <a:rPr sz="1800" dirty="0">
                <a:solidFill>
                  <a:srgbClr val="33373D"/>
                </a:solidFill>
                <a:latin typeface="Arial"/>
              </a:rPr>
              <a:t> dos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extremos</a:t>
            </a:r>
            <a:r>
              <a:rPr sz="1800" dirty="0">
                <a:solidFill>
                  <a:srgbClr val="33373D"/>
                </a:solidFill>
                <a:latin typeface="Arial"/>
              </a:rPr>
              <a:t>,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el</a:t>
            </a:r>
            <a:r>
              <a:rPr sz="1800" dirty="0">
                <a:solidFill>
                  <a:srgbClr val="33373D"/>
                </a:solidFill>
                <a:latin typeface="Arial"/>
              </a:rPr>
              <a:t> del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proveedor</a:t>
            </a:r>
            <a:r>
              <a:rPr sz="1800" dirty="0">
                <a:solidFill>
                  <a:srgbClr val="33373D"/>
                </a:solidFill>
                <a:latin typeface="Arial"/>
              </a:rPr>
              <a:t> y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el</a:t>
            </a:r>
            <a:r>
              <a:rPr sz="1800" dirty="0">
                <a:solidFill>
                  <a:srgbClr val="33373D"/>
                </a:solidFill>
                <a:latin typeface="Arial"/>
              </a:rPr>
              <a:t> del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sistema</a:t>
            </a:r>
            <a:r>
              <a:rPr sz="180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integrado</a:t>
            </a:r>
            <a:r>
              <a:rPr sz="1800" dirty="0">
                <a:solidFill>
                  <a:srgbClr val="33373D"/>
                </a:solidFill>
                <a:latin typeface="Arial"/>
              </a:rPr>
              <a:t>.</a:t>
            </a:r>
          </a:p>
        </p:txBody>
      </p:sp>
      <p:sp>
        <p:nvSpPr>
          <p:cNvPr id="3" name="Google Shape;132;p15">
            <a:extLst>
              <a:ext uri="{FF2B5EF4-FFF2-40B4-BE49-F238E27FC236}">
                <a16:creationId xmlns:a16="http://schemas.microsoft.com/office/drawing/2014/main" id="{895647D8-DDEA-64DB-F361-80CB0A5C0069}"/>
              </a:ext>
            </a:extLst>
          </p:cNvPr>
          <p:cNvSpPr/>
          <p:nvPr/>
        </p:nvSpPr>
        <p:spPr>
          <a:xfrm>
            <a:off x="611840" y="405657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50514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496BD96-8A3E-82A4-36C0-B5786AAABE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2813"/>
            <a:ext cx="1042416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 err="1">
                <a:solidFill>
                  <a:srgbClr val="003366"/>
                </a:solidFill>
                <a:latin typeface="Plus Jakarta Sans ExtraBold"/>
                <a:cs typeface="Plus Jakarta Sans ExtraBold"/>
                <a:sym typeface="Plus Jakarta Sans ExtraBold"/>
              </a:rPr>
              <a:t>Cronograma de Actividades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BB79987-214D-2C75-1C6F-01079C1BA8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515" y="1457033"/>
            <a:ext cx="11420967" cy="491815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05453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70;p11">
            <a:extLst>
              <a:ext uri="{FF2B5EF4-FFF2-40B4-BE49-F238E27FC236}">
                <a16:creationId xmlns:a16="http://schemas.microsoft.com/office/drawing/2014/main" id="{22E24F0A-EE5A-6939-818B-24451CD36525}"/>
              </a:ext>
            </a:extLst>
          </p:cNvPr>
          <p:cNvSpPr txBox="1"/>
          <p:nvPr/>
        </p:nvSpPr>
        <p:spPr>
          <a:xfrm>
            <a:off x="2761342" y="2920582"/>
            <a:ext cx="6669315" cy="1016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es-CO" sz="4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II. ANÁLISIS</a:t>
            </a:r>
            <a:endParaRPr sz="1100" dirty="0"/>
          </a:p>
        </p:txBody>
      </p:sp>
      <p:pic>
        <p:nvPicPr>
          <p:cNvPr id="3" name="Google Shape;84;p13" descr="image.png">
            <a:extLst>
              <a:ext uri="{FF2B5EF4-FFF2-40B4-BE49-F238E27FC236}">
                <a16:creationId xmlns:a16="http://schemas.microsoft.com/office/drawing/2014/main" id="{AF178EBC-A15A-FF95-0807-A3E2F4C0FDB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24405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B922EC7-5F81-65CB-56EA-E37EF9E994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2813"/>
            <a:ext cx="1042416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 err="1">
                <a:solidFill>
                  <a:srgbClr val="003366"/>
                </a:solidFill>
                <a:latin typeface="Plus Jakarta Sans ExtraBold"/>
                <a:cs typeface="Plus Jakarta Sans ExtraBold"/>
                <a:sym typeface="Plus Jakarta Sans ExtraBold"/>
              </a:rPr>
              <a:t>Herramientas para la Captura de Requisitos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822960" y="13258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dirty="0" err="1">
                <a:solidFill>
                  <a:srgbClr val="1F3B73"/>
                </a:solidFill>
                <a:latin typeface="Arial"/>
              </a:rPr>
              <a:t>Encuesta</a:t>
            </a:r>
            <a:endParaRPr sz="2200" b="1" dirty="0">
              <a:solidFill>
                <a:srgbClr val="1F3B73"/>
              </a:solidFill>
              <a:latin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2960" y="1783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 err="1">
                <a:solidFill>
                  <a:srgbClr val="33373D"/>
                </a:solidFill>
                <a:latin typeface="Arial"/>
              </a:rPr>
              <a:t>Cuestionario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de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doce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preguntas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cerradas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aplicado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a 45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empresas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de Cúcuta,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agrupadas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en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cuatro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bloques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que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indagaban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su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situación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frente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a la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obligación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, las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herramientas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que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utilizan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, las barreras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percibidas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y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su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disposición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frente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a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una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solución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que se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integre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con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el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software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existente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.</a:t>
            </a:r>
          </a:p>
        </p:txBody>
      </p:sp>
      <p:pic>
        <p:nvPicPr>
          <p:cNvPr id="26" name="Picture 25" descr="FIG-encuesta-contras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2823541"/>
            <a:ext cx="10835640" cy="2582517"/>
          </a:xfrm>
          <a:prstGeom prst="rect">
            <a:avLst/>
          </a:prstGeom>
          <a:ln>
            <a:noFill/>
          </a:ln>
        </p:spPr>
      </p:pic>
      <p:sp>
        <p:nvSpPr>
          <p:cNvPr id="27" name="TextBox 26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dirty="0" err="1">
                <a:solidFill>
                  <a:srgbClr val="1F3B73"/>
                </a:solidFill>
                <a:latin typeface="Arial"/>
              </a:rPr>
              <a:t>Rechazan</a:t>
            </a:r>
            <a:r>
              <a:rPr sz="2200" b="1" dirty="0">
                <a:solidFill>
                  <a:srgbClr val="1F3B73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1F3B73"/>
                </a:solidFill>
                <a:latin typeface="Arial"/>
              </a:rPr>
              <a:t>cambiar</a:t>
            </a:r>
            <a:r>
              <a:rPr sz="2200" b="1" dirty="0">
                <a:solidFill>
                  <a:srgbClr val="1F3B73"/>
                </a:solidFill>
                <a:latin typeface="Arial"/>
              </a:rPr>
              <a:t> de software, no </a:t>
            </a:r>
            <a:r>
              <a:rPr sz="2200" b="1" dirty="0" err="1">
                <a:solidFill>
                  <a:srgbClr val="1F3B73"/>
                </a:solidFill>
                <a:latin typeface="Arial"/>
              </a:rPr>
              <a:t>facturar</a:t>
            </a:r>
            <a:r>
              <a:rPr sz="2200" b="1" dirty="0">
                <a:solidFill>
                  <a:srgbClr val="1F3B73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1F3B73"/>
                </a:solidFill>
                <a:latin typeface="Arial"/>
              </a:rPr>
              <a:t>electrónicamente</a:t>
            </a:r>
            <a:r>
              <a:rPr sz="2200" b="1" dirty="0">
                <a:solidFill>
                  <a:srgbClr val="1F3B73"/>
                </a:solidFill>
                <a:latin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68445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C6FEE11-CC7D-21F9-56AC-C5FE0C4833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2813"/>
            <a:ext cx="1042416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 err="1">
                <a:solidFill>
                  <a:srgbClr val="003366"/>
                </a:solidFill>
                <a:latin typeface="Plus Jakarta Sans ExtraBold"/>
                <a:cs typeface="Plus Jakarta Sans ExtraBold"/>
                <a:sym typeface="Plus Jakarta Sans ExtraBold"/>
              </a:rPr>
              <a:t>Historias de Usuario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822960" y="1380957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B73"/>
                </a:solidFill>
                <a:latin typeface="Arial"/>
              </a:rPr>
              <a:t>Derivadas de la encuesta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2167135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dirty="0">
                <a:solidFill>
                  <a:srgbClr val="33373D"/>
                </a:solidFill>
                <a:latin typeface="Arial"/>
              </a:rPr>
              <a:t>HU-03. Como </a:t>
            </a:r>
            <a:r>
              <a:rPr sz="1900" dirty="0" err="1">
                <a:solidFill>
                  <a:srgbClr val="33373D"/>
                </a:solidFill>
                <a:latin typeface="Arial"/>
              </a:rPr>
              <a:t>sistema</a:t>
            </a:r>
            <a:r>
              <a:rPr sz="1900" dirty="0">
                <a:solidFill>
                  <a:srgbClr val="33373D"/>
                </a:solidFill>
                <a:latin typeface="Arial"/>
              </a:rPr>
              <a:t> </a:t>
            </a:r>
            <a:r>
              <a:rPr sz="1900" dirty="0" err="1">
                <a:solidFill>
                  <a:srgbClr val="33373D"/>
                </a:solidFill>
                <a:latin typeface="Arial"/>
              </a:rPr>
              <a:t>cliente</a:t>
            </a:r>
            <a:r>
              <a:rPr sz="1900" dirty="0">
                <a:solidFill>
                  <a:srgbClr val="33373D"/>
                </a:solidFill>
                <a:latin typeface="Arial"/>
              </a:rPr>
              <a:t>, </a:t>
            </a:r>
            <a:r>
              <a:rPr sz="1900" dirty="0" err="1">
                <a:solidFill>
                  <a:srgbClr val="33373D"/>
                </a:solidFill>
                <a:latin typeface="Arial"/>
              </a:rPr>
              <a:t>quiero</a:t>
            </a:r>
            <a:r>
              <a:rPr sz="1900" dirty="0">
                <a:solidFill>
                  <a:srgbClr val="33373D"/>
                </a:solidFill>
                <a:latin typeface="Arial"/>
              </a:rPr>
              <a:t> </a:t>
            </a:r>
            <a:r>
              <a:rPr sz="1900" dirty="0" err="1">
                <a:solidFill>
                  <a:srgbClr val="33373D"/>
                </a:solidFill>
                <a:latin typeface="Arial"/>
              </a:rPr>
              <a:t>enviar</a:t>
            </a:r>
            <a:r>
              <a:rPr sz="1900" dirty="0">
                <a:solidFill>
                  <a:srgbClr val="33373D"/>
                </a:solidFill>
                <a:latin typeface="Arial"/>
              </a:rPr>
              <a:t> </a:t>
            </a:r>
            <a:r>
              <a:rPr sz="1900" dirty="0" err="1">
                <a:solidFill>
                  <a:srgbClr val="33373D"/>
                </a:solidFill>
                <a:latin typeface="Arial"/>
              </a:rPr>
              <a:t>los</a:t>
            </a:r>
            <a:r>
              <a:rPr sz="1900" dirty="0">
                <a:solidFill>
                  <a:srgbClr val="33373D"/>
                </a:solidFill>
                <a:latin typeface="Arial"/>
              </a:rPr>
              <a:t> </a:t>
            </a:r>
            <a:r>
              <a:rPr sz="1900" dirty="0" err="1">
                <a:solidFill>
                  <a:srgbClr val="33373D"/>
                </a:solidFill>
                <a:latin typeface="Arial"/>
              </a:rPr>
              <a:t>datos</a:t>
            </a:r>
            <a:r>
              <a:rPr sz="1900" dirty="0">
                <a:solidFill>
                  <a:srgbClr val="33373D"/>
                </a:solidFill>
                <a:latin typeface="Arial"/>
              </a:rPr>
              <a:t> de </a:t>
            </a:r>
            <a:r>
              <a:rPr sz="1900" dirty="0" err="1">
                <a:solidFill>
                  <a:srgbClr val="33373D"/>
                </a:solidFill>
                <a:latin typeface="Arial"/>
              </a:rPr>
              <a:t>una</a:t>
            </a:r>
            <a:r>
              <a:rPr sz="1900" dirty="0">
                <a:solidFill>
                  <a:srgbClr val="33373D"/>
                </a:solidFill>
                <a:latin typeface="Arial"/>
              </a:rPr>
              <a:t> </a:t>
            </a:r>
            <a:r>
              <a:rPr sz="1900" dirty="0" err="1">
                <a:solidFill>
                  <a:srgbClr val="33373D"/>
                </a:solidFill>
                <a:latin typeface="Arial"/>
              </a:rPr>
              <a:t>venta</a:t>
            </a:r>
            <a:r>
              <a:rPr sz="1900" dirty="0">
                <a:solidFill>
                  <a:srgbClr val="33373D"/>
                </a:solidFill>
                <a:latin typeface="Arial"/>
              </a:rPr>
              <a:t> y </a:t>
            </a:r>
            <a:r>
              <a:rPr sz="1900" dirty="0" err="1">
                <a:solidFill>
                  <a:srgbClr val="33373D"/>
                </a:solidFill>
                <a:latin typeface="Arial"/>
              </a:rPr>
              <a:t>recibir</a:t>
            </a:r>
            <a:r>
              <a:rPr sz="1900" dirty="0">
                <a:solidFill>
                  <a:srgbClr val="33373D"/>
                </a:solidFill>
                <a:latin typeface="Arial"/>
              </a:rPr>
              <a:t> </a:t>
            </a:r>
            <a:r>
              <a:rPr sz="1900" dirty="0" err="1">
                <a:solidFill>
                  <a:srgbClr val="33373D"/>
                </a:solidFill>
                <a:latin typeface="Arial"/>
              </a:rPr>
              <a:t>el</a:t>
            </a:r>
            <a:r>
              <a:rPr sz="1900" dirty="0">
                <a:solidFill>
                  <a:srgbClr val="33373D"/>
                </a:solidFill>
                <a:latin typeface="Arial"/>
              </a:rPr>
              <a:t> </a:t>
            </a:r>
            <a:r>
              <a:rPr sz="1900" dirty="0" err="1">
                <a:solidFill>
                  <a:srgbClr val="33373D"/>
                </a:solidFill>
                <a:latin typeface="Arial"/>
              </a:rPr>
              <a:t>documento</a:t>
            </a:r>
            <a:r>
              <a:rPr sz="1900" dirty="0">
                <a:solidFill>
                  <a:srgbClr val="33373D"/>
                </a:solidFill>
                <a:latin typeface="Arial"/>
              </a:rPr>
              <a:t> </a:t>
            </a:r>
            <a:r>
              <a:rPr sz="1900" dirty="0" err="1">
                <a:solidFill>
                  <a:srgbClr val="33373D"/>
                </a:solidFill>
                <a:latin typeface="Arial"/>
              </a:rPr>
              <a:t>ya</a:t>
            </a:r>
            <a:r>
              <a:rPr sz="1900" dirty="0">
                <a:solidFill>
                  <a:srgbClr val="33373D"/>
                </a:solidFill>
                <a:latin typeface="Arial"/>
              </a:rPr>
              <a:t> </a:t>
            </a:r>
            <a:r>
              <a:rPr sz="1900" dirty="0" err="1">
                <a:solidFill>
                  <a:srgbClr val="33373D"/>
                </a:solidFill>
                <a:latin typeface="Arial"/>
              </a:rPr>
              <a:t>emitido</a:t>
            </a:r>
            <a:r>
              <a:rPr sz="1900" dirty="0">
                <a:solidFill>
                  <a:srgbClr val="33373D"/>
                </a:solidFill>
                <a:latin typeface="Arial"/>
              </a:rPr>
              <a:t> para </a:t>
            </a:r>
            <a:r>
              <a:rPr sz="1900" dirty="0" err="1">
                <a:solidFill>
                  <a:srgbClr val="33373D"/>
                </a:solidFill>
                <a:latin typeface="Arial"/>
              </a:rPr>
              <a:t>cumplir</a:t>
            </a:r>
            <a:r>
              <a:rPr sz="1900" dirty="0">
                <a:solidFill>
                  <a:srgbClr val="33373D"/>
                </a:solidFill>
                <a:latin typeface="Arial"/>
              </a:rPr>
              <a:t> con la </a:t>
            </a:r>
            <a:r>
              <a:rPr sz="1900" dirty="0" err="1">
                <a:solidFill>
                  <a:srgbClr val="33373D"/>
                </a:solidFill>
                <a:latin typeface="Arial"/>
              </a:rPr>
              <a:t>obligación</a:t>
            </a:r>
            <a:r>
              <a:rPr sz="1900" dirty="0">
                <a:solidFill>
                  <a:srgbClr val="33373D"/>
                </a:solidFill>
                <a:latin typeface="Arial"/>
              </a:rPr>
              <a:t> sin </a:t>
            </a:r>
            <a:r>
              <a:rPr sz="1900" dirty="0" err="1">
                <a:solidFill>
                  <a:srgbClr val="33373D"/>
                </a:solidFill>
                <a:latin typeface="Arial"/>
              </a:rPr>
              <a:t>cambiar</a:t>
            </a:r>
            <a:r>
              <a:rPr sz="1900" dirty="0">
                <a:solidFill>
                  <a:srgbClr val="33373D"/>
                </a:solidFill>
                <a:latin typeface="Arial"/>
              </a:rPr>
              <a:t> </a:t>
            </a:r>
            <a:r>
              <a:rPr sz="1900" dirty="0" err="1">
                <a:solidFill>
                  <a:srgbClr val="33373D"/>
                </a:solidFill>
                <a:latin typeface="Arial"/>
              </a:rPr>
              <a:t>el</a:t>
            </a:r>
            <a:r>
              <a:rPr sz="1900" dirty="0">
                <a:solidFill>
                  <a:srgbClr val="33373D"/>
                </a:solidFill>
                <a:latin typeface="Arial"/>
              </a:rPr>
              <a:t> software con </a:t>
            </a:r>
            <a:r>
              <a:rPr sz="1900" dirty="0" err="1">
                <a:solidFill>
                  <a:srgbClr val="33373D"/>
                </a:solidFill>
                <a:latin typeface="Arial"/>
              </a:rPr>
              <a:t>el</a:t>
            </a:r>
            <a:r>
              <a:rPr sz="1900" dirty="0">
                <a:solidFill>
                  <a:srgbClr val="33373D"/>
                </a:solidFill>
                <a:latin typeface="Arial"/>
              </a:rPr>
              <a:t> que </a:t>
            </a:r>
            <a:r>
              <a:rPr sz="1900" dirty="0" err="1">
                <a:solidFill>
                  <a:srgbClr val="33373D"/>
                </a:solidFill>
                <a:latin typeface="Arial"/>
              </a:rPr>
              <a:t>opero</a:t>
            </a:r>
            <a:r>
              <a:rPr sz="1900" dirty="0">
                <a:solidFill>
                  <a:srgbClr val="33373D"/>
                </a:solidFill>
                <a:latin typeface="Arial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447295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33373D"/>
                </a:solidFill>
                <a:latin typeface="Arial"/>
              </a:rPr>
              <a:t>HU-04. Como sistema cliente, quiero reenviar una emisión con la misma referencia y obtener el documento ya expedido para poder reintentar sin duplicar facturas.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27455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33373D"/>
                </a:solidFill>
                <a:latin typeface="Arial"/>
              </a:rPr>
              <a:t>HU-06. Como comprador, quiero recibir el PDF y el XML en mi correo para contar con el soporte de la compra sin tener que solicitarlo.</a:t>
            </a:r>
          </a:p>
        </p:txBody>
      </p:sp>
    </p:spTree>
    <p:extLst>
      <p:ext uri="{BB962C8B-B14F-4D97-AF65-F5344CB8AC3E}">
        <p14:creationId xmlns:p14="http://schemas.microsoft.com/office/powerpoint/2010/main" val="1290436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281CAFD-4757-AFE4-44EC-53402AD81F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2813"/>
            <a:ext cx="1042416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>
                <a:solidFill>
                  <a:srgbClr val="003366"/>
                </a:solidFill>
                <a:latin typeface="Plus Jakarta Sans ExtraBold"/>
                <a:cs typeface="Plus Jakarta Sans ExtraBold"/>
                <a:sym typeface="Plus Jakarta Sans ExtraBold"/>
              </a:rPr>
              <a:t>Requisitos Funcionales Relacionados</a:t>
            </a:r>
            <a:endParaRPr dirty="0"/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722467"/>
              </p:ext>
            </p:extLst>
          </p:nvPr>
        </p:nvGraphicFramePr>
        <p:xfrm>
          <a:off x="713385" y="2095640"/>
          <a:ext cx="108356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89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700" b="1" dirty="0">
                          <a:solidFill>
                            <a:srgbClr val="FFFFFF"/>
                          </a:solidFill>
                          <a:latin typeface="Arial"/>
                        </a:rPr>
                        <a:t>Código</a:t>
                      </a:r>
                    </a:p>
                  </a:txBody>
                  <a:tcPr marL="73152" marR="73152" marT="27432" marB="27432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Requisito</a:t>
                      </a:r>
                      <a:endParaRPr sz="17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3152" marR="73152" marT="27432" marB="27432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Qué resuelve</a:t>
                      </a:r>
                    </a:p>
                  </a:txBody>
                  <a:tcPr marL="73152" marR="73152" marT="27432" marB="27432">
                    <a:solidFill>
                      <a:srgbClr val="1F3B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3373D"/>
                          </a:solidFill>
                          <a:latin typeface="Arial"/>
                        </a:rPr>
                        <a:t>RF 8.5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3373D"/>
                          </a:solidFill>
                          <a:latin typeface="Arial"/>
                        </a:rPr>
                        <a:t>Emisión por API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dirty="0">
                          <a:solidFill>
                            <a:srgbClr val="33373D"/>
                          </a:solidFill>
                          <a:latin typeface="Arial"/>
                        </a:rPr>
                        <a:t>El </a:t>
                      </a:r>
                      <a:r>
                        <a:rPr sz="17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sistema</a:t>
                      </a:r>
                      <a:r>
                        <a:rPr sz="1700" b="0" dirty="0">
                          <a:solidFill>
                            <a:srgbClr val="33373D"/>
                          </a:solidFill>
                          <a:latin typeface="Arial"/>
                        </a:rPr>
                        <a:t> del </a:t>
                      </a:r>
                      <a:r>
                        <a:rPr sz="17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cliente</a:t>
                      </a:r>
                      <a:r>
                        <a:rPr sz="1700" b="0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7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solicita</a:t>
                      </a:r>
                      <a:r>
                        <a:rPr sz="1700" b="0" dirty="0">
                          <a:solidFill>
                            <a:srgbClr val="33373D"/>
                          </a:solidFill>
                          <a:latin typeface="Arial"/>
                        </a:rPr>
                        <a:t> la </a:t>
                      </a:r>
                      <a:r>
                        <a:rPr sz="17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expedición</a:t>
                      </a:r>
                      <a:r>
                        <a:rPr sz="1700" b="0" dirty="0">
                          <a:solidFill>
                            <a:srgbClr val="33373D"/>
                          </a:solidFill>
                          <a:latin typeface="Arial"/>
                        </a:rPr>
                        <a:t> sin </a:t>
                      </a:r>
                      <a:r>
                        <a:rPr sz="17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cambiar</a:t>
                      </a:r>
                      <a:r>
                        <a:rPr sz="1700" b="0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7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su</a:t>
                      </a:r>
                      <a:r>
                        <a:rPr sz="1700" b="0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7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operación</a:t>
                      </a:r>
                      <a:endParaRPr sz="1700" b="0" dirty="0">
                        <a:solidFill>
                          <a:srgbClr val="33373D"/>
                        </a:solidFill>
                        <a:latin typeface="Arial"/>
                      </a:endParaRP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3373D"/>
                          </a:solidFill>
                          <a:latin typeface="Arial"/>
                        </a:rPr>
                        <a:t>RF 8.6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3373D"/>
                          </a:solidFill>
                          <a:latin typeface="Arial"/>
                        </a:rPr>
                        <a:t>Idempotencia de la emisión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Reenviar</a:t>
                      </a:r>
                      <a:r>
                        <a:rPr sz="1700" b="0" dirty="0">
                          <a:solidFill>
                            <a:srgbClr val="33373D"/>
                          </a:solidFill>
                          <a:latin typeface="Arial"/>
                        </a:rPr>
                        <a:t> la </a:t>
                      </a:r>
                      <a:r>
                        <a:rPr sz="17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misma</a:t>
                      </a:r>
                      <a:r>
                        <a:rPr sz="1700" b="0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7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referencia</a:t>
                      </a:r>
                      <a:r>
                        <a:rPr sz="1700" b="0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7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devuelve</a:t>
                      </a:r>
                      <a:r>
                        <a:rPr sz="1700" b="0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7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el</a:t>
                      </a:r>
                      <a:r>
                        <a:rPr sz="1700" b="0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7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documento</a:t>
                      </a:r>
                      <a:r>
                        <a:rPr sz="1700" b="0" dirty="0">
                          <a:solidFill>
                            <a:srgbClr val="33373D"/>
                          </a:solidFill>
                          <a:latin typeface="Arial"/>
                        </a:rPr>
                        <a:t>, no </a:t>
                      </a:r>
                      <a:r>
                        <a:rPr sz="17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crea</a:t>
                      </a:r>
                      <a:r>
                        <a:rPr sz="1700" b="0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7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otro</a:t>
                      </a:r>
                      <a:endParaRPr sz="1700" b="0" dirty="0">
                        <a:solidFill>
                          <a:srgbClr val="33373D"/>
                        </a:solidFill>
                        <a:latin typeface="Arial"/>
                      </a:endParaRP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3373D"/>
                          </a:solidFill>
                          <a:latin typeface="Arial"/>
                        </a:rPr>
                        <a:t>RF 8.10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3373D"/>
                          </a:solidFill>
                          <a:latin typeface="Arial"/>
                        </a:rPr>
                        <a:t>Documentación automática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dirty="0">
                          <a:solidFill>
                            <a:srgbClr val="33373D"/>
                          </a:solidFill>
                          <a:latin typeface="Arial"/>
                        </a:rPr>
                        <a:t>El </a:t>
                      </a:r>
                      <a:r>
                        <a:rPr sz="17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contrato</a:t>
                      </a:r>
                      <a:r>
                        <a:rPr sz="1700" b="0" dirty="0">
                          <a:solidFill>
                            <a:srgbClr val="33373D"/>
                          </a:solidFill>
                          <a:latin typeface="Arial"/>
                        </a:rPr>
                        <a:t> se publica </a:t>
                      </a:r>
                      <a:r>
                        <a:rPr sz="17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desde</a:t>
                      </a:r>
                      <a:r>
                        <a:rPr sz="1700" b="0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7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el</a:t>
                      </a:r>
                      <a:r>
                        <a:rPr sz="1700" b="0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7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código</a:t>
                      </a:r>
                      <a:r>
                        <a:rPr sz="1700" b="0" dirty="0">
                          <a:solidFill>
                            <a:srgbClr val="33373D"/>
                          </a:solidFill>
                          <a:latin typeface="Arial"/>
                        </a:rPr>
                        <a:t>, para que </a:t>
                      </a:r>
                      <a:r>
                        <a:rPr sz="17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integrarse</a:t>
                      </a:r>
                      <a:r>
                        <a:rPr sz="1700" b="0" dirty="0">
                          <a:solidFill>
                            <a:srgbClr val="33373D"/>
                          </a:solidFill>
                          <a:latin typeface="Arial"/>
                        </a:rPr>
                        <a:t> sea </a:t>
                      </a:r>
                      <a:r>
                        <a:rPr sz="17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barato</a:t>
                      </a:r>
                      <a:endParaRPr sz="1700" b="0" dirty="0">
                        <a:solidFill>
                          <a:srgbClr val="33373D"/>
                        </a:solidFill>
                        <a:latin typeface="Arial"/>
                      </a:endParaRP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3373D"/>
                          </a:solidFill>
                          <a:latin typeface="Arial"/>
                        </a:rPr>
                        <a:t>RF 2.10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Envío</a:t>
                      </a:r>
                      <a:r>
                        <a:rPr sz="1700" b="0" dirty="0">
                          <a:solidFill>
                            <a:srgbClr val="33373D"/>
                          </a:solidFill>
                          <a:latin typeface="Arial"/>
                        </a:rPr>
                        <a:t> del </a:t>
                      </a:r>
                      <a:r>
                        <a:rPr sz="17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documento</a:t>
                      </a:r>
                      <a:r>
                        <a:rPr sz="1700" b="0" dirty="0">
                          <a:solidFill>
                            <a:srgbClr val="33373D"/>
                          </a:solidFill>
                          <a:latin typeface="Arial"/>
                        </a:rPr>
                        <a:t> al comprador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dirty="0">
                          <a:solidFill>
                            <a:srgbClr val="33373D"/>
                          </a:solidFill>
                          <a:latin typeface="Arial"/>
                        </a:rPr>
                        <a:t>El PDF y </a:t>
                      </a:r>
                      <a:r>
                        <a:rPr sz="17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el</a:t>
                      </a:r>
                      <a:r>
                        <a:rPr sz="1700" b="0" dirty="0">
                          <a:solidFill>
                            <a:srgbClr val="33373D"/>
                          </a:solidFill>
                          <a:latin typeface="Arial"/>
                        </a:rPr>
                        <a:t> XML </a:t>
                      </a:r>
                      <a:r>
                        <a:rPr sz="17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llegan</a:t>
                      </a:r>
                      <a:r>
                        <a:rPr sz="1700" b="0" dirty="0">
                          <a:solidFill>
                            <a:srgbClr val="33373D"/>
                          </a:solidFill>
                          <a:latin typeface="Arial"/>
                        </a:rPr>
                        <a:t> al </a:t>
                      </a:r>
                      <a:r>
                        <a:rPr sz="17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correo</a:t>
                      </a:r>
                      <a:r>
                        <a:rPr sz="1700" b="0" dirty="0">
                          <a:solidFill>
                            <a:srgbClr val="33373D"/>
                          </a:solidFill>
                          <a:latin typeface="Arial"/>
                        </a:rPr>
                        <a:t> sin </a:t>
                      </a:r>
                      <a:r>
                        <a:rPr sz="17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demorar</a:t>
                      </a:r>
                      <a:r>
                        <a:rPr sz="1700" b="0" dirty="0">
                          <a:solidFill>
                            <a:srgbClr val="33373D"/>
                          </a:solidFill>
                          <a:latin typeface="Arial"/>
                        </a:rPr>
                        <a:t> la </a:t>
                      </a:r>
                      <a:r>
                        <a:rPr sz="17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respuesta</a:t>
                      </a:r>
                      <a:endParaRPr sz="1700" b="0" dirty="0">
                        <a:solidFill>
                          <a:srgbClr val="33373D"/>
                        </a:solidFill>
                        <a:latin typeface="Arial"/>
                      </a:endParaRP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92149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48A10F1-A0BD-565D-75D1-0D39B3DA34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2813"/>
            <a:ext cx="1042416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 err="1">
                <a:solidFill>
                  <a:srgbClr val="003366"/>
                </a:solidFill>
                <a:latin typeface="Plus Jakarta Sans ExtraBold"/>
                <a:cs typeface="Plus Jakarta Sans ExtraBold"/>
                <a:sym typeface="Plus Jakarta Sans ExtraBold"/>
              </a:rPr>
              <a:t>Matriz de Stakeholders</a:t>
            </a:r>
            <a:endParaRPr dirty="0"/>
          </a:p>
        </p:txBody>
      </p:sp>
      <p:pic>
        <p:nvPicPr>
          <p:cNvPr id="24" name="Picture 23" descr="FIG-stakehold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3196" y="1099713"/>
            <a:ext cx="8305606" cy="5519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6821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E1F0B7E5-E4D2-3B9D-C202-1E966766BD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2813"/>
            <a:ext cx="1042416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>
                <a:solidFill>
                  <a:srgbClr val="003366"/>
                </a:solidFill>
                <a:latin typeface="Plus Jakarta Sans ExtraBold"/>
                <a:cs typeface="Plus Jakarta Sans ExtraBold"/>
                <a:sym typeface="Plus Jakarta Sans ExtraBold"/>
              </a:rPr>
              <a:t>Técnica de Priorización de Requisitos</a:t>
            </a:r>
            <a:endParaRPr dirty="0"/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3666644"/>
              </p:ext>
            </p:extLst>
          </p:nvPr>
        </p:nvGraphicFramePr>
        <p:xfrm>
          <a:off x="678179" y="2285677"/>
          <a:ext cx="108356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Puntaje</a:t>
                      </a:r>
                    </a:p>
                  </a:txBody>
                  <a:tcPr marL="73152" marR="73152" marT="27432" marB="27432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</a:rPr>
                        <a:t>Valor de </a:t>
                      </a:r>
                      <a:r>
                        <a:rPr sz="16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negocio</a:t>
                      </a:r>
                      <a:r>
                        <a:rPr lang="es-CO" sz="1600" b="1" dirty="0">
                          <a:solidFill>
                            <a:srgbClr val="FFFFFF"/>
                          </a:solidFill>
                          <a:latin typeface="Arial"/>
                        </a:rPr>
                        <a:t> (60%)</a:t>
                      </a:r>
                      <a:endParaRPr sz="16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3152" marR="73152" marT="27432" marB="27432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Urgencia</a:t>
                      </a:r>
                      <a:r>
                        <a:rPr lang="es-CO" sz="1600" b="1" dirty="0">
                          <a:solidFill>
                            <a:srgbClr val="FFFFFF"/>
                          </a:solidFill>
                          <a:latin typeface="Arial"/>
                        </a:rPr>
                        <a:t> (40%)</a:t>
                      </a:r>
                      <a:endParaRPr sz="16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3152" marR="73152" marT="27432" marB="27432">
                    <a:solidFill>
                      <a:srgbClr val="1F3B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33373D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Impacto</a:t>
                      </a:r>
                      <a:r>
                        <a:rPr sz="1600" b="0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muy</a:t>
                      </a:r>
                      <a:r>
                        <a:rPr sz="1600" b="0" dirty="0">
                          <a:solidFill>
                            <a:srgbClr val="33373D"/>
                          </a:solidFill>
                          <a:latin typeface="Arial"/>
                        </a:rPr>
                        <a:t> bajo para la </a:t>
                      </a:r>
                      <a:r>
                        <a:rPr sz="16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operación</a:t>
                      </a:r>
                      <a:endParaRPr sz="1600" b="0" dirty="0">
                        <a:solidFill>
                          <a:srgbClr val="33373D"/>
                        </a:solidFill>
                        <a:latin typeface="Arial"/>
                      </a:endParaRP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No es urgente, puede esperar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Impacto bajo, aporta poca funcionalidad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Poco urgente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Impacto medio, mejora procesos importantes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Urgencia moderada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Impacto alto, necesario para operar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Muy urgente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Impacto crítico, indispensable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Debe</a:t>
                      </a:r>
                      <a:r>
                        <a:rPr sz="1600" b="0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implementarse</a:t>
                      </a:r>
                      <a:r>
                        <a:rPr sz="1600" b="0" dirty="0">
                          <a:solidFill>
                            <a:srgbClr val="33373D"/>
                          </a:solidFill>
                          <a:latin typeface="Arial"/>
                        </a:rPr>
                        <a:t> de </a:t>
                      </a:r>
                      <a:r>
                        <a:rPr sz="16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inmediato</a:t>
                      </a:r>
                      <a:endParaRPr sz="1600" b="0" dirty="0">
                        <a:solidFill>
                          <a:srgbClr val="33373D"/>
                        </a:solidFill>
                        <a:latin typeface="Arial"/>
                      </a:endParaRP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20548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79895E9-6FD1-3551-585E-B6BA860281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2813"/>
            <a:ext cx="1042416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700" dirty="0">
                <a:solidFill>
                  <a:srgbClr val="003366"/>
                </a:solidFill>
                <a:latin typeface="Plus Jakarta Sans ExtraBold"/>
                <a:cs typeface="Plus Jakarta Sans ExtraBold"/>
              </a:rPr>
              <a:t>Conclusión General de la Priorización</a:t>
            </a:r>
            <a:endParaRPr sz="2700" dirty="0">
              <a:solidFill>
                <a:srgbClr val="003366"/>
              </a:solidFill>
              <a:latin typeface="Plus Jakarta Sans ExtraBold"/>
              <a:cs typeface="Plus Jakarta Sans ExtraBold"/>
            </a:endParaRP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689765"/>
              </p:ext>
            </p:extLst>
          </p:nvPr>
        </p:nvGraphicFramePr>
        <p:xfrm>
          <a:off x="1463040" y="1554480"/>
          <a:ext cx="92354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Código</a:t>
                      </a:r>
                    </a:p>
                  </a:txBody>
                  <a:tcPr marL="73152" marR="73152" marT="27432" marB="27432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Módulo</a:t>
                      </a:r>
                      <a:endParaRPr sz="16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3152" marR="73152" marT="27432" marB="27432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Puntaje</a:t>
                      </a:r>
                    </a:p>
                  </a:txBody>
                  <a:tcPr marL="73152" marR="73152" marT="27432" marB="27432">
                    <a:solidFill>
                      <a:srgbClr val="1F3B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RF 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Gestión</a:t>
                      </a:r>
                      <a:r>
                        <a:rPr sz="1600" b="0" dirty="0">
                          <a:solidFill>
                            <a:srgbClr val="33373D"/>
                          </a:solidFill>
                          <a:latin typeface="Arial"/>
                        </a:rPr>
                        <a:t> de </a:t>
                      </a:r>
                      <a:r>
                        <a:rPr sz="16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documentos</a:t>
                      </a:r>
                      <a:r>
                        <a:rPr sz="1600" b="0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electrónicos</a:t>
                      </a:r>
                      <a:endParaRPr sz="1600" b="0" dirty="0">
                        <a:solidFill>
                          <a:srgbClr val="33373D"/>
                        </a:solidFill>
                        <a:latin typeface="Arial"/>
                      </a:endParaRP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4.5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RF 1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Gestión de clientes API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4.3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RF 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Gestión de consumo y planes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4.3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RF 8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Integración mediante API REST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4.2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RF 7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Gestión de seguridad y auditoría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4.1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RF 4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Gestión de facturación y cartera propias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4.0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RF 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Gestión de reportes y tablero de control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4.0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RF 6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Gestión de configuración y catálogos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33373D"/>
                          </a:solidFill>
                          <a:latin typeface="Arial"/>
                        </a:rPr>
                        <a:t>3.5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822960" y="53949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 err="1">
                <a:solidFill>
                  <a:srgbClr val="33373D"/>
                </a:solidFill>
                <a:latin typeface="Arial"/>
              </a:rPr>
              <a:t>Encabeza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la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lista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gestión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de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documentos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electrónicos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, del que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depende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que un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documento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salga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correctamente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expedido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, y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cierra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gestión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de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configuración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y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catálogos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, que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agrupa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parámetros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que se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ajustan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de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vez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en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cuando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943184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94D8E1D-6EE8-ABF3-3FB0-CC387045F8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9377"/>
            <a:ext cx="1042416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700" dirty="0">
                <a:solidFill>
                  <a:srgbClr val="003366"/>
                </a:solidFill>
                <a:latin typeface="Plus Jakarta Sans ExtraBold"/>
                <a:cs typeface="Plus Jakarta Sans ExtraBold"/>
              </a:rPr>
              <a:t>Requisitos Funcionales</a:t>
            </a:r>
            <a:endParaRPr sz="2700" dirty="0">
              <a:solidFill>
                <a:srgbClr val="003366"/>
              </a:solidFill>
              <a:latin typeface="Plus Jakarta Sans ExtraBold"/>
              <a:cs typeface="Plus Jakarta Sans ExtraBold"/>
            </a:endParaRP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2066793"/>
              </p:ext>
            </p:extLst>
          </p:nvPr>
        </p:nvGraphicFramePr>
        <p:xfrm>
          <a:off x="1249679" y="1896859"/>
          <a:ext cx="96926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</a:rPr>
                        <a:t>Código</a:t>
                      </a:r>
                    </a:p>
                  </a:txBody>
                  <a:tcPr marL="73152" marR="73152" marT="27432" marB="27432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Módulo</a:t>
                      </a:r>
                    </a:p>
                  </a:txBody>
                  <a:tcPr marL="73152" marR="73152" marT="27432" marB="27432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Requisitos</a:t>
                      </a:r>
                    </a:p>
                  </a:txBody>
                  <a:tcPr marL="73152" marR="73152" marT="27432" marB="27432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Críticos</a:t>
                      </a:r>
                    </a:p>
                  </a:txBody>
                  <a:tcPr marL="73152" marR="73152" marT="27432" marB="27432">
                    <a:solidFill>
                      <a:srgbClr val="1F3B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RF 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Gestión de clientes API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RF 2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Gestión de documentos electrónicos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RF 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Gestión de consumo y planes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RF 4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Gestión de facturación y cartera propias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RF 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Gestión de reportes y tablero de control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RF 6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Gestión de configuración y catálogos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RF 7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Gestión de seguridad y auditoría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RF 8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Integración mediante API REST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ctr"/>
                      <a:endParaRPr b="1"/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33373D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90064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F7C78399-1E29-27CA-5313-4AC6DD3B19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9377"/>
            <a:ext cx="1042416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700" dirty="0">
                <a:solidFill>
                  <a:srgbClr val="003366"/>
                </a:solidFill>
                <a:latin typeface="Plus Jakarta Sans ExtraBold"/>
                <a:cs typeface="Plus Jakarta Sans ExtraBold"/>
              </a:rPr>
              <a:t>Requisitos No Funcionales</a:t>
            </a:r>
            <a:endParaRPr sz="2700" dirty="0">
              <a:solidFill>
                <a:srgbClr val="003366"/>
              </a:solidFill>
              <a:latin typeface="Plus Jakarta Sans ExtraBold"/>
              <a:cs typeface="Plus Jakarta Sans ExtraBold"/>
            </a:endParaRP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064204"/>
              </p:ext>
            </p:extLst>
          </p:nvPr>
        </p:nvGraphicFramePr>
        <p:xfrm>
          <a:off x="685800" y="1417320"/>
          <a:ext cx="108356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8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55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Categoría</a:t>
                      </a:r>
                    </a:p>
                  </a:txBody>
                  <a:tcPr marL="73152" marR="73152" marT="27432" marB="27432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N.º</a:t>
                      </a:r>
                    </a:p>
                  </a:txBody>
                  <a:tcPr marL="73152" marR="73152" marT="27432" marB="27432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Ejemplo</a:t>
                      </a:r>
                      <a:endParaRPr sz="14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3152" marR="73152" marT="27432" marB="27432">
                    <a:solidFill>
                      <a:srgbClr val="1F3B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55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Rendimiento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La emisión responde en menos de tres segundos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55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Seguridad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Del secreto de las llaves solo se conserva su hash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55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Integridad de los datos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Dos documentos del mismo emisor no pueden compartir número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55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Trazabilidad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Toda escritura queda registrada y el rastro no se puede editar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55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Disponibilidad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Un servicio externo caído no impide emitir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55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Usabilidad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Cada destino tiene un solo lugar en la navegación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355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Compatibilidad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Funciona en los navegadores vigentes sin instalación local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355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Cumplimiento normativo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El documento se genera bajo el estándar UBL 2.1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355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Mantenibilidad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La aritmética tributaria está implementada una sola vez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355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Escalabilidad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Admite nuevas empresas emisoras sin cambios en el código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355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Portabilidad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Opera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desde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cualquier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sistema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operativo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con un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navegador</a:t>
                      </a:r>
                      <a:endParaRPr sz="1400" b="1" dirty="0">
                        <a:solidFill>
                          <a:srgbClr val="33373D"/>
                        </a:solidFill>
                        <a:latin typeface="Arial"/>
                      </a:endParaRP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356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b="1" dirty="0"/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39588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2;p23">
            <a:extLst>
              <a:ext uri="{FF2B5EF4-FFF2-40B4-BE49-F238E27FC236}">
                <a16:creationId xmlns:a16="http://schemas.microsoft.com/office/drawing/2014/main" id="{A5A9BDB2-C597-8A4A-8476-8F00C90E6F0D}"/>
              </a:ext>
            </a:extLst>
          </p:cNvPr>
          <p:cNvSpPr txBox="1"/>
          <p:nvPr/>
        </p:nvSpPr>
        <p:spPr>
          <a:xfrm>
            <a:off x="3585431" y="2982671"/>
            <a:ext cx="5021137" cy="892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es-CO" sz="4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III. DISEÑO</a:t>
            </a:r>
            <a:endParaRPr sz="48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84;p13" descr="image.png">
            <a:extLst>
              <a:ext uri="{FF2B5EF4-FFF2-40B4-BE49-F238E27FC236}">
                <a16:creationId xmlns:a16="http://schemas.microsoft.com/office/drawing/2014/main" id="{BBC8D485-FC01-5E30-AE40-B0421AADFC2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182163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69;p17">
            <a:extLst>
              <a:ext uri="{FF2B5EF4-FFF2-40B4-BE49-F238E27FC236}">
                <a16:creationId xmlns:a16="http://schemas.microsoft.com/office/drawing/2014/main" id="{81F0DD6F-780A-27A8-380E-E1A99AFA476A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68;p17">
            <a:extLst>
              <a:ext uri="{FF2B5EF4-FFF2-40B4-BE49-F238E27FC236}">
                <a16:creationId xmlns:a16="http://schemas.microsoft.com/office/drawing/2014/main" id="{16D628CE-8029-6333-6103-2254556DB8BE}"/>
              </a:ext>
            </a:extLst>
          </p:cNvPr>
          <p:cNvSpPr txBox="1"/>
          <p:nvPr/>
        </p:nvSpPr>
        <p:spPr>
          <a:xfrm>
            <a:off x="571500" y="476250"/>
            <a:ext cx="1042416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>
                <a:solidFill>
                  <a:srgbClr val="00336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Mockup del Panel de Control</a:t>
            </a:r>
            <a:endParaRPr dirty="0"/>
          </a:p>
        </p:txBody>
      </p:sp>
      <p:pic>
        <p:nvPicPr>
          <p:cNvPr id="13" name="Picture 12" descr="Mockup panel de contro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5079" y="1126111"/>
            <a:ext cx="9281841" cy="5473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8039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69;p17">
            <a:extLst>
              <a:ext uri="{FF2B5EF4-FFF2-40B4-BE49-F238E27FC236}">
                <a16:creationId xmlns:a16="http://schemas.microsoft.com/office/drawing/2014/main" id="{81F0DD6F-780A-27A8-380E-E1A99AFA476A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68;p17">
            <a:extLst>
              <a:ext uri="{FF2B5EF4-FFF2-40B4-BE49-F238E27FC236}">
                <a16:creationId xmlns:a16="http://schemas.microsoft.com/office/drawing/2014/main" id="{16D628CE-8029-6333-6103-2254556DB8BE}"/>
              </a:ext>
            </a:extLst>
          </p:cNvPr>
          <p:cNvSpPr txBox="1"/>
          <p:nvPr/>
        </p:nvSpPr>
        <p:spPr>
          <a:xfrm>
            <a:off x="571500" y="476250"/>
            <a:ext cx="1042416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>
                <a:solidFill>
                  <a:srgbClr val="00336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Mockup de Crear Nueva Factura</a:t>
            </a:r>
            <a:endParaRPr dirty="0"/>
          </a:p>
        </p:txBody>
      </p:sp>
      <p:pic>
        <p:nvPicPr>
          <p:cNvPr id="13" name="Picture 12" descr="Mockup crear nueva factur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3519" y="1209675"/>
            <a:ext cx="8964961" cy="5306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8772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A326E8D-29DD-38AC-4B96-E1C57C900C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9377"/>
            <a:ext cx="1042416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700" dirty="0">
                <a:solidFill>
                  <a:srgbClr val="003366"/>
                </a:solidFill>
                <a:latin typeface="Plus Jakarta Sans ExtraBold"/>
                <a:cs typeface="Plus Jakarta Sans ExtraBold"/>
              </a:rPr>
              <a:t>Base de Datos</a:t>
            </a:r>
            <a:endParaRPr sz="2700" dirty="0">
              <a:solidFill>
                <a:srgbClr val="003366"/>
              </a:solidFill>
              <a:latin typeface="Plus Jakarta Sans ExtraBold"/>
              <a:cs typeface="Plus Jakarta Sans ExtraBold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72ED12C-0B50-0A52-324E-6BFBAFF572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840" y="914397"/>
            <a:ext cx="10206318" cy="589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7598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A326E8D-29DD-38AC-4B96-E1C57C900C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9377"/>
            <a:ext cx="1042416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700" dirty="0">
                <a:solidFill>
                  <a:srgbClr val="003366"/>
                </a:solidFill>
                <a:latin typeface="Plus Jakarta Sans ExtraBold"/>
                <a:cs typeface="Plus Jakarta Sans ExtraBold"/>
              </a:rPr>
              <a:t>Base de Datos</a:t>
            </a:r>
            <a:endParaRPr sz="2700" dirty="0">
              <a:solidFill>
                <a:srgbClr val="003366"/>
              </a:solidFill>
              <a:latin typeface="Plus Jakarta Sans ExtraBold"/>
              <a:cs typeface="Plus Jakarta Sans ExtraBold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E6C59F0-388E-9C42-1BC6-5E8BC8B70D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5806" y="1556686"/>
            <a:ext cx="5920385" cy="4694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9384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A326E8D-29DD-38AC-4B96-E1C57C900C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9377"/>
            <a:ext cx="1042416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700" dirty="0">
                <a:solidFill>
                  <a:srgbClr val="003366"/>
                </a:solidFill>
                <a:latin typeface="Plus Jakarta Sans ExtraBold"/>
                <a:cs typeface="Plus Jakarta Sans ExtraBold"/>
              </a:rPr>
              <a:t>Diccionario de Datos</a:t>
            </a:r>
            <a:endParaRPr sz="2700" dirty="0">
              <a:solidFill>
                <a:srgbClr val="003366"/>
              </a:solidFill>
              <a:latin typeface="Plus Jakarta Sans ExtraBold"/>
              <a:cs typeface="Plus Jakarta Sans ExtraBold"/>
            </a:endParaRPr>
          </a:p>
        </p:txBody>
      </p: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1243114"/>
              </p:ext>
            </p:extLst>
          </p:nvPr>
        </p:nvGraphicFramePr>
        <p:xfrm>
          <a:off x="678179" y="1817885"/>
          <a:ext cx="10835640" cy="40898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0821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</a:rPr>
                        <a:t>Campo</a:t>
                      </a:r>
                    </a:p>
                  </a:txBody>
                  <a:tcPr marL="73152" marR="73152" marT="27432" marB="27432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Tipo</a:t>
                      </a:r>
                    </a:p>
                  </a:txBody>
                  <a:tcPr marL="73152" marR="73152" marT="27432" marB="27432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Clave</a:t>
                      </a:r>
                    </a:p>
                  </a:txBody>
                  <a:tcPr marL="73152" marR="73152" marT="27432" marB="27432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Descripción</a:t>
                      </a:r>
                    </a:p>
                  </a:txBody>
                  <a:tcPr marL="73152" marR="73152" marT="27432" marB="27432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821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 err="1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cod_cliente_api</a:t>
                      </a: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sz="1400" b="1" i="0" u="none" strike="noStrike" cap="none" dirty="0" err="1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Entero</a:t>
                      </a:r>
                      <a:r>
                        <a:rPr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 (11)</a:t>
                      </a: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sz="1400" b="1" i="0" u="none" strike="noStrike" cap="none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PK</a:t>
                      </a: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Identificador interno del cliente integrado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821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nombre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Texto (150)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No aplica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Nombre del negocio o del sistema que se integra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821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 err="1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cod_cliente</a:t>
                      </a: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Entero (11)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FK</a:t>
                      </a: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Cliente de la zona comercial a quien se le factura el plan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821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 err="1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cod_empresa</a:t>
                      </a: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Entero (11)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FK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Empresa emisora con cuyo NIT y resolución numera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821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 err="1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api_key_prefijo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Texto (20)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sz="1400" b="1" i="0" u="none" strike="noStrike" cap="none" dirty="0" err="1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Única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Parte visible de la llave; ubica la fila sin revelar el secreto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821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 err="1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api_key_hash</a:t>
                      </a: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Texto (255) 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No aplica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Hash del secreto; la llave se muestra una sola vez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0821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plan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Texto (20)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No aplica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Plan contratado, que fija el cupo mensual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0821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 err="1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limite_mensual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Entero (11)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No aplica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Documentos incluidos al mes; vacío significa sin límite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0821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estado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Texto (20)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No aplica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Activo, suspendido o revocado</a:t>
                      </a: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0829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 err="1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creado_en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Fecha y hora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No aplica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Momento del alta del cliente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0829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 err="1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ultimo_uso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Fecha y hora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No aplica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Última vez que la llave se usó contra la API 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6918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07147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7AA0D39-E2EC-02DC-5EF0-8FAFFA955D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9377"/>
            <a:ext cx="1042416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700" dirty="0">
                <a:solidFill>
                  <a:srgbClr val="003366"/>
                </a:solidFill>
                <a:latin typeface="Plus Jakarta Sans ExtraBold"/>
                <a:cs typeface="Plus Jakarta Sans ExtraBold"/>
              </a:rPr>
              <a:t>Casos de Uso</a:t>
            </a:r>
            <a:endParaRPr sz="2700" dirty="0">
              <a:solidFill>
                <a:srgbClr val="003366"/>
              </a:solidFill>
              <a:latin typeface="Plus Jakarta Sans ExtraBold"/>
              <a:cs typeface="Plus Jakarta Sans ExtraBold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77240" y="1280160"/>
            <a:ext cx="106070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>
                <a:solidFill>
                  <a:srgbClr val="33373D"/>
                </a:solidFill>
                <a:latin typeface="Arial"/>
              </a:rPr>
              <a:t>El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análisis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identificó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5</a:t>
            </a:r>
            <a:r>
              <a:rPr lang="es-CO" sz="1800" dirty="0">
                <a:solidFill>
                  <a:srgbClr val="33373D"/>
                </a:solidFill>
              </a:rPr>
              <a:t>6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casos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de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uso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agrupados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en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los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ocho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módulos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del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sistema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, con seis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actores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. Dos de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ellos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no son personas,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ya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que uno es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el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sistema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externo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que consume la API y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el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otro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es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quien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recibe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el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documento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emitido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.</a:t>
            </a:r>
          </a:p>
        </p:txBody>
      </p:sp>
      <p:pic>
        <p:nvPicPr>
          <p:cNvPr id="25" name="Picture 24" descr="DCU-00 general.png"/>
          <p:cNvPicPr>
            <a:picLocks noChangeAspect="1"/>
          </p:cNvPicPr>
          <p:nvPr/>
        </p:nvPicPr>
        <p:blipFill>
          <a:blip r:embed="rId6"/>
          <a:srcRect t="1665"/>
          <a:stretch/>
        </p:blipFill>
        <p:spPr>
          <a:xfrm>
            <a:off x="3573763" y="2103119"/>
            <a:ext cx="5013994" cy="4571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9313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A326E8D-29DD-38AC-4B96-E1C57C900C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9377"/>
            <a:ext cx="1042416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700" dirty="0">
                <a:solidFill>
                  <a:srgbClr val="003366"/>
                </a:solidFill>
                <a:latin typeface="Plus Jakarta Sans ExtraBold"/>
                <a:cs typeface="Plus Jakarta Sans ExtraBold"/>
              </a:rPr>
              <a:t>Documentación de Casos de Uso</a:t>
            </a:r>
            <a:endParaRPr sz="2700" dirty="0">
              <a:solidFill>
                <a:srgbClr val="003366"/>
              </a:solidFill>
              <a:latin typeface="Plus Jakarta Sans ExtraBold"/>
              <a:cs typeface="Plus Jakarta Sans ExtraBold"/>
            </a:endParaRP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8978875"/>
              </p:ext>
            </p:extLst>
          </p:nvPr>
        </p:nvGraphicFramePr>
        <p:xfrm>
          <a:off x="678179" y="1896859"/>
          <a:ext cx="108356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49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CU-08</a:t>
                      </a:r>
                    </a:p>
                  </a:txBody>
                  <a:tcPr marL="73152" marR="73152" marT="27432" marB="27432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Emitir factura de venta</a:t>
                      </a:r>
                    </a:p>
                  </a:txBody>
                  <a:tcPr marL="73152" marR="73152" marT="27432" marB="27432">
                    <a:solidFill>
                      <a:srgbClr val="1F3B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Actores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Sistema cliente, Cajero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Precondición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El cliente tiene llave válida, resolución vigente y cupo disponible en el mes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Pasos 1 a 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Recibe los datos, valida la petición, comprueba el cupo y reserva el consecutivo autorizado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Pasos 5 a 8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Calcula los totales, guarda el documento, genera el CUFE, el PDF y el XML, y responde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Paso 9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Agenda el envío al comprador, ya fuera de la transacción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Postcondición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Existe un documento con número único y CUFE, y el consumo del mes aumentó en uno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Excepción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33373D"/>
                          </a:solidFill>
                          <a:latin typeface="Arial"/>
                        </a:rPr>
                        <a:t>Si </a:t>
                      </a:r>
                      <a:r>
                        <a:rPr sz="16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el</a:t>
                      </a:r>
                      <a:r>
                        <a:rPr sz="1600" b="0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cupo</a:t>
                      </a:r>
                      <a:r>
                        <a:rPr sz="1600" b="0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está</a:t>
                      </a:r>
                      <a:r>
                        <a:rPr sz="1600" b="0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agotado</a:t>
                      </a:r>
                      <a:r>
                        <a:rPr sz="1600" b="0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responde</a:t>
                      </a:r>
                      <a:r>
                        <a:rPr sz="1600" b="0" dirty="0">
                          <a:solidFill>
                            <a:srgbClr val="33373D"/>
                          </a:solidFill>
                          <a:latin typeface="Arial"/>
                        </a:rPr>
                        <a:t> 403 antes de </a:t>
                      </a:r>
                      <a:r>
                        <a:rPr sz="16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reservar</a:t>
                      </a:r>
                      <a:r>
                        <a:rPr sz="1600" b="0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el</a:t>
                      </a:r>
                      <a:r>
                        <a:rPr sz="1600" b="0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consecutivo</a:t>
                      </a:r>
                      <a:endParaRPr sz="1600" b="0" dirty="0">
                        <a:solidFill>
                          <a:srgbClr val="33373D"/>
                        </a:solidFill>
                        <a:latin typeface="Arial"/>
                      </a:endParaRP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79158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A5E5D415-B509-BDF6-3699-3CAA5A9D86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69;p17">
            <a:extLst>
              <a:ext uri="{FF2B5EF4-FFF2-40B4-BE49-F238E27FC236}">
                <a16:creationId xmlns:a16="http://schemas.microsoft.com/office/drawing/2014/main" id="{81F0DD6F-780A-27A8-380E-E1A99AFA476A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68;p17">
            <a:extLst>
              <a:ext uri="{FF2B5EF4-FFF2-40B4-BE49-F238E27FC236}">
                <a16:creationId xmlns:a16="http://schemas.microsoft.com/office/drawing/2014/main" id="{16D628CE-8029-6333-6103-2254556DB8BE}"/>
              </a:ext>
            </a:extLst>
          </p:cNvPr>
          <p:cNvSpPr txBox="1"/>
          <p:nvPr/>
        </p:nvSpPr>
        <p:spPr>
          <a:xfrm>
            <a:off x="571500" y="476250"/>
            <a:ext cx="1042416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 err="1">
                <a:solidFill>
                  <a:srgbClr val="00336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Metodología de Desarrollo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777240" y="128016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73D"/>
                </a:solidFill>
                <a:latin typeface="Arial"/>
              </a:rPr>
              <a:t>Scrum, con ocho sprints de dos semanas entre noviembre de 2025 y marzo de 2026. Cada sprint cerró con un módulo utilizable y no con una parte de varios.</a:t>
            </a:r>
          </a:p>
        </p:txBody>
      </p:sp>
      <p:pic>
        <p:nvPicPr>
          <p:cNvPr id="15" name="Picture 14" descr="FIG-scru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7166" y="1978921"/>
            <a:ext cx="8517667" cy="4402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1547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63;p33">
            <a:extLst>
              <a:ext uri="{FF2B5EF4-FFF2-40B4-BE49-F238E27FC236}">
                <a16:creationId xmlns:a16="http://schemas.microsoft.com/office/drawing/2014/main" id="{138F84EF-3724-48DD-F366-6C02647240C4}"/>
              </a:ext>
            </a:extLst>
          </p:cNvPr>
          <p:cNvSpPr txBox="1"/>
          <p:nvPr/>
        </p:nvSpPr>
        <p:spPr>
          <a:xfrm>
            <a:off x="2733120" y="3034882"/>
            <a:ext cx="6725759" cy="788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es-CO" sz="48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IV. DESARROLLO</a:t>
            </a:r>
            <a:endParaRPr sz="48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84;p13" descr="image.png">
            <a:extLst>
              <a:ext uri="{FF2B5EF4-FFF2-40B4-BE49-F238E27FC236}">
                <a16:creationId xmlns:a16="http://schemas.microsoft.com/office/drawing/2014/main" id="{F351DA7C-7126-24E6-81C6-B3EC476DDC5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434112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213;p19">
            <a:extLst>
              <a:ext uri="{FF2B5EF4-FFF2-40B4-BE49-F238E27FC236}">
                <a16:creationId xmlns:a16="http://schemas.microsoft.com/office/drawing/2014/main" id="{674911B7-95B5-712F-35A8-57FEC42F3B04}"/>
              </a:ext>
            </a:extLst>
          </p:cNvPr>
          <p:cNvSpPr/>
          <p:nvPr/>
        </p:nvSpPr>
        <p:spPr>
          <a:xfrm>
            <a:off x="416066" y="846872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" name="Google Shape;369;p34">
            <a:extLst>
              <a:ext uri="{FF2B5EF4-FFF2-40B4-BE49-F238E27FC236}">
                <a16:creationId xmlns:a16="http://schemas.microsoft.com/office/drawing/2014/main" id="{03B7E3F0-3B02-36F5-11B8-4870F2E887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4801657"/>
              </p:ext>
            </p:extLst>
          </p:nvPr>
        </p:nvGraphicFramePr>
        <p:xfrm>
          <a:off x="672362" y="1209675"/>
          <a:ext cx="10847275" cy="53855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479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3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350" b="1" i="0" u="none" strike="noStrike" cap="none" dirty="0">
                          <a:solidFill>
                            <a:srgbClr val="003366"/>
                          </a:solidFill>
                          <a:latin typeface="Plus Jakarta Sans"/>
                          <a:ea typeface="Arial"/>
                          <a:cs typeface="Plus Jakarta Sans"/>
                          <a:sym typeface="Arial"/>
                        </a:rPr>
                        <a:t>NOMBRE</a:t>
                      </a:r>
                      <a:endParaRPr sz="1350" b="1" i="0" u="none" strike="noStrike" cap="none" dirty="0">
                        <a:solidFill>
                          <a:srgbClr val="003366"/>
                        </a:solidFill>
                        <a:latin typeface="Plus Jakarta Sans"/>
                        <a:ea typeface="Arial"/>
                        <a:cs typeface="Plus Jakarta Sans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350" b="1" i="0" u="none" strike="noStrike" cap="none" dirty="0">
                          <a:solidFill>
                            <a:srgbClr val="003366"/>
                          </a:solidFill>
                          <a:latin typeface="Plus Jakarta Sans"/>
                          <a:ea typeface="Arial"/>
                          <a:cs typeface="Plus Jakarta Sans"/>
                          <a:sym typeface="Arial"/>
                        </a:rPr>
                        <a:t>LOGO</a:t>
                      </a:r>
                      <a:endParaRPr sz="1350" b="1" i="0" u="none" strike="noStrike" cap="none" dirty="0">
                        <a:solidFill>
                          <a:srgbClr val="003366"/>
                        </a:solidFill>
                        <a:latin typeface="Plus Jakarta Sans"/>
                        <a:ea typeface="Arial"/>
                        <a:cs typeface="Plus Jakarta Sans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350" b="1" i="0" u="none" strike="noStrike" cap="none" dirty="0">
                          <a:solidFill>
                            <a:srgbClr val="003366"/>
                          </a:solidFill>
                          <a:latin typeface="Plus Jakarta Sans"/>
                          <a:ea typeface="Arial"/>
                          <a:cs typeface="Plus Jakarta Sans"/>
                          <a:sym typeface="Arial"/>
                        </a:rPr>
                        <a:t>DESCRIPCION</a:t>
                      </a:r>
                      <a:endParaRPr sz="1350" b="1" i="0" u="none" strike="noStrike" cap="none" dirty="0">
                        <a:solidFill>
                          <a:srgbClr val="003366"/>
                        </a:solidFill>
                        <a:latin typeface="Plus Jakarta Sans"/>
                        <a:ea typeface="Arial"/>
                        <a:cs typeface="Plus Jakarta Sans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3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highlight>
                          <a:srgbClr val="C0C0C0"/>
                        </a:highlight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2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 dirty="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46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highlight>
                          <a:srgbClr val="C0C0C0"/>
                        </a:highlight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74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Google Shape;192;p18">
            <a:extLst>
              <a:ext uri="{FF2B5EF4-FFF2-40B4-BE49-F238E27FC236}">
                <a16:creationId xmlns:a16="http://schemas.microsoft.com/office/drawing/2014/main" id="{D93CB84A-018B-D336-DE20-54CF3DE4976B}"/>
              </a:ext>
            </a:extLst>
          </p:cNvPr>
          <p:cNvSpPr txBox="1"/>
          <p:nvPr/>
        </p:nvSpPr>
        <p:spPr>
          <a:xfrm>
            <a:off x="375882" y="418247"/>
            <a:ext cx="1042416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 err="1">
                <a:solidFill>
                  <a:srgbClr val="00336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Herramientas de Backend, Base de Datos y Web</a:t>
            </a:r>
            <a:endParaRPr dirty="0"/>
          </a:p>
        </p:txBody>
      </p:sp>
      <p:pic>
        <p:nvPicPr>
          <p:cNvPr id="4" name="Google Shape;187;p18" descr="image.png">
            <a:extLst>
              <a:ext uri="{FF2B5EF4-FFF2-40B4-BE49-F238E27FC236}">
                <a16:creationId xmlns:a16="http://schemas.microsoft.com/office/drawing/2014/main" id="{814C9B0C-1481-6A4D-7AE4-5A43EAC3245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5851" y="1735462"/>
            <a:ext cx="85725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B4794E1-CF16-E507-6236-947F0502DFC1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6882" y="3001135"/>
            <a:ext cx="836219" cy="855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89;p18" descr="image.png">
            <a:extLst>
              <a:ext uri="{FF2B5EF4-FFF2-40B4-BE49-F238E27FC236}">
                <a16:creationId xmlns:a16="http://schemas.microsoft.com/office/drawing/2014/main" id="{4FEBBEC8-0141-3C90-2E15-08B2F7C13AD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4876" y="4513521"/>
            <a:ext cx="3619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90;p18" descr="image.png">
            <a:extLst>
              <a:ext uri="{FF2B5EF4-FFF2-40B4-BE49-F238E27FC236}">
                <a16:creationId xmlns:a16="http://schemas.microsoft.com/office/drawing/2014/main" id="{CB7BA741-7142-72B7-51B6-CFA76538A06A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203501" y="4513521"/>
            <a:ext cx="3619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91;p18" descr="image.png">
            <a:extLst>
              <a:ext uri="{FF2B5EF4-FFF2-40B4-BE49-F238E27FC236}">
                <a16:creationId xmlns:a16="http://schemas.microsoft.com/office/drawing/2014/main" id="{18D8E3B5-0E01-F98D-D66D-0E43963D8938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614806" y="4513521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94;p18">
            <a:extLst>
              <a:ext uri="{FF2B5EF4-FFF2-40B4-BE49-F238E27FC236}">
                <a16:creationId xmlns:a16="http://schemas.microsoft.com/office/drawing/2014/main" id="{7D86662D-56E2-D9D7-D15B-060FFB696D65}"/>
              </a:ext>
            </a:extLst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28416" y="5544320"/>
            <a:ext cx="933149" cy="93314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79;p18">
            <a:extLst>
              <a:ext uri="{FF2B5EF4-FFF2-40B4-BE49-F238E27FC236}">
                <a16:creationId xmlns:a16="http://schemas.microsoft.com/office/drawing/2014/main" id="{7FA6E4FA-849F-7242-4DD4-B79BC9680F1C}"/>
              </a:ext>
            </a:extLst>
          </p:cNvPr>
          <p:cNvSpPr txBox="1"/>
          <p:nvPr/>
        </p:nvSpPr>
        <p:spPr>
          <a:xfrm>
            <a:off x="2411122" y="2063799"/>
            <a:ext cx="187523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1F3B73"/>
                </a:solidFill>
                <a:ea typeface="+mn-ea"/>
                <a:cs typeface="+mn-cs"/>
                <a:sym typeface="Plus Jakarta Sans"/>
              </a:rPr>
              <a:t>Python con </a:t>
            </a:r>
            <a:r>
              <a:rPr lang="en-US" sz="1500" b="1" dirty="0" err="1">
                <a:solidFill>
                  <a:srgbClr val="1F3B73"/>
                </a:solidFill>
                <a:ea typeface="+mn-ea"/>
                <a:cs typeface="+mn-cs"/>
                <a:sym typeface="Plus Jakarta Sans"/>
              </a:rPr>
              <a:t>FastAPI</a:t>
            </a:r>
            <a:endParaRPr sz="1500" b="1" dirty="0">
              <a:solidFill>
                <a:srgbClr val="1F3B73"/>
              </a:solidFill>
              <a:ea typeface="+mn-ea"/>
              <a:cs typeface="+mn-cs"/>
            </a:endParaRPr>
          </a:p>
        </p:txBody>
      </p:sp>
      <p:sp>
        <p:nvSpPr>
          <p:cNvPr id="11" name="Google Shape;181;p18">
            <a:extLst>
              <a:ext uri="{FF2B5EF4-FFF2-40B4-BE49-F238E27FC236}">
                <a16:creationId xmlns:a16="http://schemas.microsoft.com/office/drawing/2014/main" id="{D6966D3D-7FE9-763C-8FB5-72EA12BC27A2}"/>
              </a:ext>
            </a:extLst>
          </p:cNvPr>
          <p:cNvSpPr txBox="1"/>
          <p:nvPr/>
        </p:nvSpPr>
        <p:spPr>
          <a:xfrm>
            <a:off x="2808674" y="3325125"/>
            <a:ext cx="1080135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0336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MySQL</a:t>
            </a:r>
            <a:endParaRPr dirty="0"/>
          </a:p>
        </p:txBody>
      </p:sp>
      <p:sp>
        <p:nvSpPr>
          <p:cNvPr id="12" name="Google Shape;183;p18">
            <a:extLst>
              <a:ext uri="{FF2B5EF4-FFF2-40B4-BE49-F238E27FC236}">
                <a16:creationId xmlns:a16="http://schemas.microsoft.com/office/drawing/2014/main" id="{AE8E8D92-0E30-06D2-639B-4BEC87153D25}"/>
              </a:ext>
            </a:extLst>
          </p:cNvPr>
          <p:cNvSpPr txBox="1"/>
          <p:nvPr/>
        </p:nvSpPr>
        <p:spPr>
          <a:xfrm>
            <a:off x="2328613" y="4642108"/>
            <a:ext cx="204025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0336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HTML, CSS y JavaScript</a:t>
            </a:r>
            <a:endParaRPr dirty="0"/>
          </a:p>
        </p:txBody>
      </p:sp>
      <p:sp>
        <p:nvSpPr>
          <p:cNvPr id="13" name="Google Shape;185;p18">
            <a:extLst>
              <a:ext uri="{FF2B5EF4-FFF2-40B4-BE49-F238E27FC236}">
                <a16:creationId xmlns:a16="http://schemas.microsoft.com/office/drawing/2014/main" id="{49BF5F14-A201-FA4C-9BEA-C612C4078AF5}"/>
              </a:ext>
            </a:extLst>
          </p:cNvPr>
          <p:cNvSpPr txBox="1"/>
          <p:nvPr/>
        </p:nvSpPr>
        <p:spPr>
          <a:xfrm>
            <a:off x="2938689" y="5901358"/>
            <a:ext cx="82010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0336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PyCharm</a:t>
            </a:r>
            <a:endParaRPr dirty="0"/>
          </a:p>
        </p:txBody>
      </p:sp>
      <p:sp>
        <p:nvSpPr>
          <p:cNvPr id="14" name="Google Shape;180;p18">
            <a:extLst>
              <a:ext uri="{FF2B5EF4-FFF2-40B4-BE49-F238E27FC236}">
                <a16:creationId xmlns:a16="http://schemas.microsoft.com/office/drawing/2014/main" id="{B06F346E-BCBE-44F9-D1D7-C4A1D8FBBB80}"/>
              </a:ext>
            </a:extLst>
          </p:cNvPr>
          <p:cNvSpPr txBox="1"/>
          <p:nvPr/>
        </p:nvSpPr>
        <p:spPr>
          <a:xfrm>
            <a:off x="5185480" y="1937869"/>
            <a:ext cx="578731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sz="1500">
                <a:solidFill>
                  <a:srgbClr val="33373D"/>
                </a:solidFill>
                <a:latin typeface="Arial"/>
              </a:rPr>
              <a:t>Lenguaje y framework del servidor. Valida los datos de entrada desde los tipos declarados y publica el contrato de la API automáticamente.</a:t>
            </a:r>
            <a:endParaRPr sz="1350" b="1" dirty="0">
              <a:solidFill>
                <a:srgbClr val="003366"/>
              </a:solidFill>
              <a:latin typeface="Plus Jakarta Sans"/>
              <a:cs typeface="Plus Jakarta Sans"/>
            </a:endParaRPr>
          </a:p>
        </p:txBody>
      </p:sp>
      <p:sp>
        <p:nvSpPr>
          <p:cNvPr id="16" name="Google Shape;182;p18">
            <a:extLst>
              <a:ext uri="{FF2B5EF4-FFF2-40B4-BE49-F238E27FC236}">
                <a16:creationId xmlns:a16="http://schemas.microsoft.com/office/drawing/2014/main" id="{E5F35F2E-E15D-32B4-EFE9-854E706A4D7C}"/>
              </a:ext>
            </a:extLst>
          </p:cNvPr>
          <p:cNvSpPr txBox="1"/>
          <p:nvPr/>
        </p:nvSpPr>
        <p:spPr>
          <a:xfrm>
            <a:off x="5264501" y="3214070"/>
            <a:ext cx="578731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sz="1500">
                <a:solidFill>
                  <a:srgbClr val="33373D"/>
                </a:solidFill>
                <a:latin typeface="Arial"/>
              </a:rPr>
              <a:t>Gestor relacional con veintisiete tablas en dos zonas, con acceso mediante consultas SQL explícitas.</a:t>
            </a:r>
            <a:endParaRPr sz="1350" b="1" dirty="0">
              <a:solidFill>
                <a:srgbClr val="003366"/>
              </a:solidFill>
              <a:latin typeface="Plus Jakarta Sans"/>
              <a:cs typeface="Plus Jakarta Sans"/>
            </a:endParaRPr>
          </a:p>
        </p:txBody>
      </p:sp>
      <p:sp>
        <p:nvSpPr>
          <p:cNvPr id="19" name="Google Shape;184;p18">
            <a:extLst>
              <a:ext uri="{FF2B5EF4-FFF2-40B4-BE49-F238E27FC236}">
                <a16:creationId xmlns:a16="http://schemas.microsoft.com/office/drawing/2014/main" id="{A0DC273B-02A0-08EC-448F-6B6D27AB28B5}"/>
              </a:ext>
            </a:extLst>
          </p:cNvPr>
          <p:cNvSpPr txBox="1"/>
          <p:nvPr/>
        </p:nvSpPr>
        <p:spPr>
          <a:xfrm>
            <a:off x="5724878" y="4490271"/>
            <a:ext cx="4708524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sz="1500">
                <a:solidFill>
                  <a:srgbClr val="33373D"/>
                </a:solidFill>
                <a:latin typeface="Arial"/>
              </a:rPr>
              <a:t>Plantillas Jinja2 con Bootstrap y Chart.js para el panel y sus gráficas.</a:t>
            </a:r>
            <a:endParaRPr sz="1350" b="1" dirty="0">
              <a:solidFill>
                <a:srgbClr val="003366"/>
              </a:solidFill>
              <a:latin typeface="Plus Jakarta Sans"/>
              <a:cs typeface="Plus Jakarta Sans"/>
            </a:endParaRPr>
          </a:p>
        </p:txBody>
      </p:sp>
      <p:sp>
        <p:nvSpPr>
          <p:cNvPr id="20" name="Google Shape;186;p18">
            <a:extLst>
              <a:ext uri="{FF2B5EF4-FFF2-40B4-BE49-F238E27FC236}">
                <a16:creationId xmlns:a16="http://schemas.microsoft.com/office/drawing/2014/main" id="{AF261DFC-D721-ED25-DE9B-C426812B8699}"/>
              </a:ext>
            </a:extLst>
          </p:cNvPr>
          <p:cNvSpPr txBox="1"/>
          <p:nvPr/>
        </p:nvSpPr>
        <p:spPr>
          <a:xfrm>
            <a:off x="5751496" y="5699271"/>
            <a:ext cx="4813331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sz="1500">
                <a:solidFill>
                  <a:srgbClr val="33373D"/>
                </a:solidFill>
                <a:latin typeface="Arial"/>
              </a:rPr>
              <a:t>Entorno de desarrollo usado para escribir, depurar y mantener el código.</a:t>
            </a:r>
            <a:endParaRPr sz="1350" b="1" dirty="0">
              <a:solidFill>
                <a:srgbClr val="003366"/>
              </a:solidFill>
              <a:latin typeface="Plus Jakarta Sans"/>
              <a:cs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27865072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213;p19">
            <a:extLst>
              <a:ext uri="{FF2B5EF4-FFF2-40B4-BE49-F238E27FC236}">
                <a16:creationId xmlns:a16="http://schemas.microsoft.com/office/drawing/2014/main" id="{674911B7-95B5-712F-35A8-57FEC42F3B04}"/>
              </a:ext>
            </a:extLst>
          </p:cNvPr>
          <p:cNvSpPr/>
          <p:nvPr/>
        </p:nvSpPr>
        <p:spPr>
          <a:xfrm>
            <a:off x="481189" y="83693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212;p19">
            <a:extLst>
              <a:ext uri="{FF2B5EF4-FFF2-40B4-BE49-F238E27FC236}">
                <a16:creationId xmlns:a16="http://schemas.microsoft.com/office/drawing/2014/main" id="{DA5B7F3C-C4E1-2C3C-A80A-D53E220848D0}"/>
              </a:ext>
            </a:extLst>
          </p:cNvPr>
          <p:cNvSpPr txBox="1"/>
          <p:nvPr/>
        </p:nvSpPr>
        <p:spPr>
          <a:xfrm>
            <a:off x="481189" y="408305"/>
            <a:ext cx="1042416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 err="1">
                <a:solidFill>
                  <a:srgbClr val="00336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Herramientas de Apoyo, Pruebas y Control de Versiones</a:t>
            </a:r>
            <a:endParaRPr dirty="0"/>
          </a:p>
        </p:txBody>
      </p:sp>
      <p:graphicFrame>
        <p:nvGraphicFramePr>
          <p:cNvPr id="18" name="Google Shape;369;p34">
            <a:extLst>
              <a:ext uri="{FF2B5EF4-FFF2-40B4-BE49-F238E27FC236}">
                <a16:creationId xmlns:a16="http://schemas.microsoft.com/office/drawing/2014/main" id="{03B7E3F0-3B02-36F5-11B8-4870F2E887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3232546"/>
              </p:ext>
            </p:extLst>
          </p:nvPr>
        </p:nvGraphicFramePr>
        <p:xfrm>
          <a:off x="672362" y="1209675"/>
          <a:ext cx="10847275" cy="53855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479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3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350" b="1" i="0" u="none" strike="noStrike" cap="none" dirty="0">
                          <a:solidFill>
                            <a:srgbClr val="003366"/>
                          </a:solidFill>
                          <a:latin typeface="Plus Jakarta Sans"/>
                          <a:ea typeface="Arial"/>
                          <a:cs typeface="Plus Jakarta Sans"/>
                          <a:sym typeface="Arial"/>
                        </a:rPr>
                        <a:t>NOMBRE</a:t>
                      </a:r>
                      <a:endParaRPr sz="1350" b="1" i="0" u="none" strike="noStrike" cap="none" dirty="0">
                        <a:solidFill>
                          <a:srgbClr val="003366"/>
                        </a:solidFill>
                        <a:latin typeface="Plus Jakarta Sans"/>
                        <a:ea typeface="Arial"/>
                        <a:cs typeface="Plus Jakarta Sans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350" b="1" i="0" u="none" strike="noStrike" cap="none" dirty="0">
                          <a:solidFill>
                            <a:srgbClr val="003366"/>
                          </a:solidFill>
                          <a:latin typeface="Plus Jakarta Sans"/>
                          <a:ea typeface="Arial"/>
                          <a:cs typeface="Plus Jakarta Sans"/>
                          <a:sym typeface="Arial"/>
                        </a:rPr>
                        <a:t>LOGO</a:t>
                      </a:r>
                      <a:endParaRPr sz="1350" b="1" i="0" u="none" strike="noStrike" cap="none" dirty="0">
                        <a:solidFill>
                          <a:srgbClr val="003366"/>
                        </a:solidFill>
                        <a:latin typeface="Plus Jakarta Sans"/>
                        <a:ea typeface="Arial"/>
                        <a:cs typeface="Plus Jakarta Sans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350" b="1" i="0" u="none" strike="noStrike" cap="none" dirty="0">
                          <a:solidFill>
                            <a:srgbClr val="003366"/>
                          </a:solidFill>
                          <a:latin typeface="Plus Jakarta Sans"/>
                          <a:ea typeface="Arial"/>
                          <a:cs typeface="Plus Jakarta Sans"/>
                          <a:sym typeface="Arial"/>
                        </a:rPr>
                        <a:t>DESCRIPCION</a:t>
                      </a:r>
                      <a:endParaRPr sz="1350" b="1" i="0" u="none" strike="noStrike" cap="none" dirty="0">
                        <a:solidFill>
                          <a:srgbClr val="003366"/>
                        </a:solidFill>
                        <a:latin typeface="Plus Jakarta Sans"/>
                        <a:ea typeface="Arial"/>
                        <a:cs typeface="Plus Jakarta Sans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3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highlight>
                          <a:srgbClr val="C0C0C0"/>
                        </a:highlight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CO" sz="1500" b="1" dirty="0">
                        <a:solidFill>
                          <a:srgbClr val="1F3B73"/>
                        </a:solidFill>
                        <a:latin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CO" sz="1500" b="1" dirty="0">
                        <a:solidFill>
                          <a:srgbClr val="1F3B73"/>
                        </a:solidFill>
                        <a:latin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dirty="0">
                          <a:solidFill>
                            <a:srgbClr val="1F3B73"/>
                          </a:solidFill>
                          <a:latin typeface="Arial"/>
                        </a:rPr>
                        <a:t>Claude AI</a:t>
                      </a:r>
                      <a:endParaRPr sz="1800" dirty="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CO" sz="1500" b="0" dirty="0">
                        <a:solidFill>
                          <a:srgbClr val="33373D"/>
                        </a:solidFill>
                        <a:latin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Asistente</a:t>
                      </a:r>
                      <a:r>
                        <a:rPr sz="1500" b="0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empleado</a:t>
                      </a:r>
                      <a:r>
                        <a:rPr sz="1500" b="0" dirty="0">
                          <a:solidFill>
                            <a:srgbClr val="33373D"/>
                          </a:solidFill>
                          <a:latin typeface="Arial"/>
                        </a:rPr>
                        <a:t> para </a:t>
                      </a:r>
                      <a:r>
                        <a:rPr sz="15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revisar</a:t>
                      </a:r>
                      <a:r>
                        <a:rPr sz="1500" b="0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código</a:t>
                      </a:r>
                      <a:r>
                        <a:rPr sz="1500" b="0" dirty="0">
                          <a:solidFill>
                            <a:srgbClr val="33373D"/>
                          </a:solidFill>
                          <a:latin typeface="Arial"/>
                        </a:rPr>
                        <a:t>, </a:t>
                      </a:r>
                      <a:r>
                        <a:rPr sz="15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contrastar</a:t>
                      </a:r>
                      <a:r>
                        <a:rPr sz="1500" b="0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decisiones</a:t>
                      </a:r>
                      <a:r>
                        <a:rPr sz="1500" b="0" dirty="0">
                          <a:solidFill>
                            <a:srgbClr val="33373D"/>
                          </a:solidFill>
                          <a:latin typeface="Arial"/>
                        </a:rPr>
                        <a:t> de </a:t>
                      </a:r>
                      <a:r>
                        <a:rPr sz="15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diseño</a:t>
                      </a:r>
                      <a:r>
                        <a:rPr sz="1500" b="0" dirty="0">
                          <a:solidFill>
                            <a:srgbClr val="33373D"/>
                          </a:solidFill>
                          <a:latin typeface="Arial"/>
                        </a:rPr>
                        <a:t> y </a:t>
                      </a:r>
                      <a:r>
                        <a:rPr sz="15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redactar</a:t>
                      </a:r>
                      <a:r>
                        <a:rPr sz="1500" b="0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documentación</a:t>
                      </a:r>
                      <a:r>
                        <a:rPr sz="1500" b="0" dirty="0">
                          <a:solidFill>
                            <a:srgbClr val="33373D"/>
                          </a:solidFill>
                          <a:latin typeface="Arial"/>
                        </a:rPr>
                        <a:t>.</a:t>
                      </a:r>
                      <a:endParaRPr sz="1800" dirty="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2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400" b="0" i="0" u="none" strike="noStrike" cap="none" dirty="0">
                        <a:solidFill>
                          <a:schemeClr val="tx1"/>
                        </a:solidFill>
                        <a:highlight>
                          <a:srgbClr val="C0C0C0"/>
                        </a:highlight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s-CO" sz="1500" b="1" dirty="0">
                        <a:solidFill>
                          <a:srgbClr val="1F3B73"/>
                        </a:solidFill>
                        <a:latin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s-CO" sz="1500" b="1" dirty="0">
                        <a:solidFill>
                          <a:srgbClr val="1F3B73"/>
                        </a:solidFill>
                        <a:latin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sz="1500" b="1" dirty="0">
                          <a:solidFill>
                            <a:srgbClr val="1F3B73"/>
                          </a:solidFill>
                          <a:latin typeface="Arial"/>
                        </a:rPr>
                        <a:t>Postman</a:t>
                      </a:r>
                      <a:endParaRPr sz="1400" b="0" i="0" u="none" strike="noStrike" cap="none" dirty="0">
                        <a:solidFill>
                          <a:schemeClr val="tx1"/>
                        </a:solidFill>
                        <a:highlight>
                          <a:srgbClr val="C0C0C0"/>
                        </a:highlight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s-CO" sz="1500" b="0" dirty="0">
                        <a:solidFill>
                          <a:srgbClr val="33373D"/>
                        </a:solidFill>
                        <a:latin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sz="15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Cliente</a:t>
                      </a:r>
                      <a:r>
                        <a:rPr sz="1500" b="0" dirty="0">
                          <a:solidFill>
                            <a:srgbClr val="33373D"/>
                          </a:solidFill>
                          <a:latin typeface="Arial"/>
                        </a:rPr>
                        <a:t> con </a:t>
                      </a:r>
                      <a:r>
                        <a:rPr sz="15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el</a:t>
                      </a:r>
                      <a:r>
                        <a:rPr sz="1500" b="0" dirty="0">
                          <a:solidFill>
                            <a:srgbClr val="33373D"/>
                          </a:solidFill>
                          <a:latin typeface="Arial"/>
                        </a:rPr>
                        <a:t> que se </a:t>
                      </a:r>
                      <a:r>
                        <a:rPr sz="15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probaron</a:t>
                      </a:r>
                      <a:r>
                        <a:rPr sz="1500" b="0" dirty="0">
                          <a:solidFill>
                            <a:srgbClr val="33373D"/>
                          </a:solidFill>
                          <a:latin typeface="Arial"/>
                        </a:rPr>
                        <a:t> las </a:t>
                      </a:r>
                      <a:r>
                        <a:rPr sz="15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nueve</a:t>
                      </a:r>
                      <a:r>
                        <a:rPr sz="1500" b="0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operaciones</a:t>
                      </a:r>
                      <a:r>
                        <a:rPr sz="1500" b="0" dirty="0">
                          <a:solidFill>
                            <a:srgbClr val="33373D"/>
                          </a:solidFill>
                          <a:latin typeface="Arial"/>
                        </a:rPr>
                        <a:t> de la API antes de </a:t>
                      </a:r>
                      <a:r>
                        <a:rPr sz="15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integrarlas</a:t>
                      </a:r>
                      <a:r>
                        <a:rPr sz="1500" b="0" dirty="0">
                          <a:solidFill>
                            <a:srgbClr val="33373D"/>
                          </a:solidFill>
                          <a:latin typeface="Arial"/>
                        </a:rPr>
                        <a:t>.</a:t>
                      </a:r>
                      <a:endParaRPr sz="1400" b="0" i="0" u="none" strike="noStrike" cap="none" dirty="0">
                        <a:solidFill>
                          <a:schemeClr val="tx1"/>
                        </a:solidFill>
                        <a:highlight>
                          <a:srgbClr val="C0C0C0"/>
                        </a:highlight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46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CO" sz="1500" b="1" dirty="0">
                        <a:solidFill>
                          <a:srgbClr val="1F3B73"/>
                        </a:solidFill>
                        <a:latin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CO" sz="1500" b="1" dirty="0">
                        <a:solidFill>
                          <a:srgbClr val="1F3B73"/>
                        </a:solidFill>
                        <a:latin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dirty="0">
                          <a:solidFill>
                            <a:srgbClr val="1F3B73"/>
                          </a:solidFill>
                          <a:latin typeface="Arial"/>
                        </a:rPr>
                        <a:t>Git y GitHub</a:t>
                      </a:r>
                      <a:endParaRPr sz="1800" dirty="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CO" sz="1500" b="0" dirty="0">
                        <a:solidFill>
                          <a:srgbClr val="33373D"/>
                        </a:solidFill>
                        <a:latin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dirty="0">
                          <a:solidFill>
                            <a:srgbClr val="33373D"/>
                          </a:solidFill>
                          <a:latin typeface="Arial"/>
                        </a:rPr>
                        <a:t>Control de </a:t>
                      </a:r>
                      <a:r>
                        <a:rPr sz="15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versiones</a:t>
                      </a:r>
                      <a:r>
                        <a:rPr sz="1500" b="0" dirty="0">
                          <a:solidFill>
                            <a:srgbClr val="33373D"/>
                          </a:solidFill>
                          <a:latin typeface="Arial"/>
                        </a:rPr>
                        <a:t> y </a:t>
                      </a:r>
                      <a:r>
                        <a:rPr sz="15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alojamiento</a:t>
                      </a:r>
                      <a:r>
                        <a:rPr sz="1500" b="0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remoto</a:t>
                      </a:r>
                      <a:r>
                        <a:rPr sz="1500" b="0" dirty="0">
                          <a:solidFill>
                            <a:srgbClr val="33373D"/>
                          </a:solidFill>
                          <a:latin typeface="Arial"/>
                        </a:rPr>
                        <a:t> para </a:t>
                      </a:r>
                      <a:r>
                        <a:rPr sz="15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el</a:t>
                      </a:r>
                      <a:r>
                        <a:rPr sz="1500" b="0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trabajo</a:t>
                      </a:r>
                      <a:r>
                        <a:rPr sz="1500" b="0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colaborativo</a:t>
                      </a:r>
                      <a:r>
                        <a:rPr sz="1500" b="0" dirty="0">
                          <a:solidFill>
                            <a:srgbClr val="33373D"/>
                          </a:solidFill>
                          <a:latin typeface="Arial"/>
                        </a:rPr>
                        <a:t> del </a:t>
                      </a:r>
                      <a:r>
                        <a:rPr sz="15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equipo</a:t>
                      </a:r>
                      <a:r>
                        <a:rPr sz="1500" b="0" dirty="0">
                          <a:solidFill>
                            <a:srgbClr val="33373D"/>
                          </a:solidFill>
                          <a:latin typeface="Arial"/>
                        </a:rPr>
                        <a:t>.</a:t>
                      </a:r>
                      <a:endParaRPr sz="1800" dirty="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74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CO" sz="1500" b="1" dirty="0">
                        <a:solidFill>
                          <a:srgbClr val="1F3B73"/>
                        </a:solidFill>
                        <a:latin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CO" sz="1500" b="1">
                        <a:solidFill>
                          <a:srgbClr val="1F3B73"/>
                        </a:solidFill>
                        <a:latin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F3B73"/>
                          </a:solidFill>
                          <a:latin typeface="Arial"/>
                        </a:rPr>
                        <a:t>pytest</a:t>
                      </a:r>
                      <a:endParaRPr sz="1800" dirty="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CO" sz="1500" b="0" dirty="0">
                        <a:solidFill>
                          <a:srgbClr val="33373D"/>
                        </a:solidFill>
                        <a:latin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Ejecuta</a:t>
                      </a:r>
                      <a:r>
                        <a:rPr sz="1500" b="0" dirty="0">
                          <a:solidFill>
                            <a:srgbClr val="33373D"/>
                          </a:solidFill>
                          <a:latin typeface="Arial"/>
                        </a:rPr>
                        <a:t> las 190 </a:t>
                      </a:r>
                      <a:r>
                        <a:rPr sz="15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pruebas</a:t>
                      </a:r>
                      <a:r>
                        <a:rPr sz="1500" b="0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automatizadas</a:t>
                      </a:r>
                      <a:r>
                        <a:rPr sz="1500" b="0" dirty="0">
                          <a:solidFill>
                            <a:srgbClr val="33373D"/>
                          </a:solidFill>
                          <a:latin typeface="Arial"/>
                        </a:rPr>
                        <a:t> del </a:t>
                      </a:r>
                      <a:r>
                        <a:rPr sz="15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proyecto</a:t>
                      </a:r>
                      <a:r>
                        <a:rPr sz="1500" b="0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en</a:t>
                      </a:r>
                      <a:r>
                        <a:rPr sz="1500" b="0" dirty="0">
                          <a:solidFill>
                            <a:srgbClr val="33373D"/>
                          </a:solidFill>
                          <a:latin typeface="Arial"/>
                        </a:rPr>
                        <a:t> 3,3 </a:t>
                      </a:r>
                      <a:r>
                        <a:rPr sz="15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segundos</a:t>
                      </a:r>
                      <a:r>
                        <a:rPr sz="1500" b="0" dirty="0">
                          <a:solidFill>
                            <a:srgbClr val="33373D"/>
                          </a:solidFill>
                          <a:latin typeface="Arial"/>
                        </a:rPr>
                        <a:t>.</a:t>
                      </a:r>
                      <a:endParaRPr sz="1800" dirty="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9" name="Google Shape;214;p19">
            <a:extLst>
              <a:ext uri="{FF2B5EF4-FFF2-40B4-BE49-F238E27FC236}">
                <a16:creationId xmlns:a16="http://schemas.microsoft.com/office/drawing/2014/main" id="{BB405D65-7548-5574-5245-4B8612EEC6C1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2719" y="1674675"/>
            <a:ext cx="966387" cy="966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9;p19" descr="image.png">
            <a:extLst>
              <a:ext uri="{FF2B5EF4-FFF2-40B4-BE49-F238E27FC236}">
                <a16:creationId xmlns:a16="http://schemas.microsoft.com/office/drawing/2014/main" id="{959B4F65-47E5-59BA-5C6E-F8E60E028A7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37287" y="3048760"/>
            <a:ext cx="85725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0;p19" descr="image.png">
            <a:extLst>
              <a:ext uri="{FF2B5EF4-FFF2-40B4-BE49-F238E27FC236}">
                <a16:creationId xmlns:a16="http://schemas.microsoft.com/office/drawing/2014/main" id="{F5A32B8F-B913-5C82-028A-AF747D09BF8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82719" y="456837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11;p19" descr="image.png">
            <a:extLst>
              <a:ext uri="{FF2B5EF4-FFF2-40B4-BE49-F238E27FC236}">
                <a16:creationId xmlns:a16="http://schemas.microsoft.com/office/drawing/2014/main" id="{85243684-8CB1-3508-B1BA-C5247D4660EB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92319" y="456837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Pytest IntelliSense - Visual Studio Marketplace">
            <a:extLst>
              <a:ext uri="{FF2B5EF4-FFF2-40B4-BE49-F238E27FC236}">
                <a16:creationId xmlns:a16="http://schemas.microsoft.com/office/drawing/2014/main" id="{A7E67D01-D353-132A-38B7-B5E0779F3C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053" y="5618763"/>
            <a:ext cx="857251" cy="857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07614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90;p36">
            <a:extLst>
              <a:ext uri="{FF2B5EF4-FFF2-40B4-BE49-F238E27FC236}">
                <a16:creationId xmlns:a16="http://schemas.microsoft.com/office/drawing/2014/main" id="{71AE5CF3-DBC4-BAE8-C6EE-F8876AFE298A}"/>
              </a:ext>
            </a:extLst>
          </p:cNvPr>
          <p:cNvSpPr txBox="1"/>
          <p:nvPr/>
        </p:nvSpPr>
        <p:spPr>
          <a:xfrm>
            <a:off x="1914676" y="3034882"/>
            <a:ext cx="8362648" cy="788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es-CO" sz="48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V. IMPLEMENTACIÓN</a:t>
            </a:r>
            <a:endParaRPr sz="48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9E110A48-56E6-3553-9070-E94091458B6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65886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6CCC5A5-4DB2-FC14-B379-DB735B3B5E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9377"/>
            <a:ext cx="1042416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700" dirty="0">
                <a:solidFill>
                  <a:srgbClr val="003366"/>
                </a:solidFill>
                <a:latin typeface="Plus Jakarta Sans ExtraBold"/>
                <a:cs typeface="Plus Jakarta Sans ExtraBold"/>
              </a:rPr>
              <a:t>Pruebas del Sistema</a:t>
            </a:r>
            <a:endParaRPr sz="2700" dirty="0">
              <a:solidFill>
                <a:srgbClr val="003366"/>
              </a:solidFill>
              <a:latin typeface="Plus Jakarta Sans ExtraBold"/>
              <a:cs typeface="Plus Jakarta Sans ExtraBold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92480" y="1631683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B73"/>
                </a:solidFill>
                <a:latin typeface="Arial"/>
              </a:rPr>
              <a:t>190 pruebas automatizadas en 3,3 segundos, más pruebas funcionales sobre la interfaz.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2546083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B73"/>
                </a:solidFill>
                <a:latin typeface="Arial"/>
              </a:rPr>
              <a:t>Qué se comprueba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3094723"/>
            <a:ext cx="4937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3373D"/>
                </a:solidFill>
                <a:latin typeface="Arial"/>
              </a:rPr>
              <a:t>Que la aritmética tributaria arroje los mismos valores en la web y en la API.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3844531"/>
            <a:ext cx="4937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3373D"/>
                </a:solidFill>
                <a:latin typeface="Arial"/>
              </a:rPr>
              <a:t>Que un fallo a mitad de una emisión no deje rastro ni gaste un consecutivo.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4594339"/>
            <a:ext cx="4937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3373D"/>
                </a:solidFill>
                <a:latin typeface="Arial"/>
              </a:rPr>
              <a:t>Que los documentos lleven la identidad de la empresa emisora.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5344147"/>
            <a:ext cx="4937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3373D"/>
                </a:solidFill>
                <a:latin typeface="Arial"/>
              </a:rPr>
              <a:t>Que el control de acceso impida a cada rol lo que no le corresponde.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4600" y="2546083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B73"/>
                </a:solidFill>
                <a:latin typeface="Arial"/>
              </a:rPr>
              <a:t>Qué quedó fuera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4600" y="3094723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3373D"/>
                </a:solidFill>
                <a:latin typeface="Arial"/>
              </a:rPr>
              <a:t>La carga sostenida, que exige una infraestructura de producción.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4600" y="4283443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3373D"/>
                </a:solidFill>
                <a:latin typeface="Arial"/>
              </a:rPr>
              <a:t>La validación contra los servicios en producción de la DIAN, que depende de la habilitación del proveedor.</a:t>
            </a:r>
          </a:p>
        </p:txBody>
      </p:sp>
    </p:spTree>
    <p:extLst>
      <p:ext uri="{BB962C8B-B14F-4D97-AF65-F5344CB8AC3E}">
        <p14:creationId xmlns:p14="http://schemas.microsoft.com/office/powerpoint/2010/main" val="20496877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2C5FE9B-108E-14D0-F5FE-5D0F8BF3B5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9377"/>
            <a:ext cx="1042416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700" dirty="0">
                <a:solidFill>
                  <a:srgbClr val="003366"/>
                </a:solidFill>
                <a:latin typeface="Plus Jakarta Sans ExtraBold"/>
                <a:cs typeface="Plus Jakarta Sans ExtraBold"/>
              </a:rPr>
              <a:t>Evidencia de Pruebas</a:t>
            </a:r>
            <a:endParaRPr sz="2700" dirty="0">
              <a:solidFill>
                <a:srgbClr val="003366"/>
              </a:solidFill>
              <a:latin typeface="Plus Jakarta Sans ExtraBold"/>
              <a:cs typeface="Plus Jakarta Sans ExtraBold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77240" y="12344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F3B73"/>
                </a:solidFill>
                <a:latin typeface="Arial"/>
              </a:rPr>
              <a:t>RF 4.2. Registro de un cliente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186736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Arial"/>
              </a:rPr>
              <a:t>Formulario diligenciado</a:t>
            </a:r>
          </a:p>
        </p:txBody>
      </p:sp>
      <p:pic>
        <p:nvPicPr>
          <p:cNvPr id="26" name="Picture 25" descr="registro de nuevo clien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2452714"/>
            <a:ext cx="5029200" cy="2486909"/>
          </a:xfrm>
          <a:prstGeom prst="rect">
            <a:avLst/>
          </a:prstGeom>
          <a:ln>
            <a:noFill/>
          </a:ln>
        </p:spPr>
      </p:pic>
      <p:sp>
        <p:nvSpPr>
          <p:cNvPr id="27" name="TextBox 26"/>
          <p:cNvSpPr txBox="1"/>
          <p:nvPr/>
        </p:nvSpPr>
        <p:spPr>
          <a:xfrm>
            <a:off x="6309360" y="186736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Arial"/>
              </a:rPr>
              <a:t>Resultado obtenido</a:t>
            </a:r>
          </a:p>
        </p:txBody>
      </p:sp>
      <p:pic>
        <p:nvPicPr>
          <p:cNvPr id="28" name="Picture 27" descr="registro de nuevo cliente emitid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2460000"/>
            <a:ext cx="5029200" cy="2472338"/>
          </a:xfrm>
          <a:prstGeom prst="rect">
            <a:avLst/>
          </a:prstGeom>
          <a:ln>
            <a:noFill/>
          </a:ln>
        </p:spPr>
      </p:pic>
      <p:sp>
        <p:nvSpPr>
          <p:cNvPr id="29" name="TextBox 28"/>
          <p:cNvSpPr txBox="1"/>
          <p:nvPr/>
        </p:nvSpPr>
        <p:spPr>
          <a:xfrm>
            <a:off x="777240" y="5479249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73D"/>
                </a:solidFill>
                <a:latin typeface="Arial"/>
              </a:rPr>
              <a:t>El cliente quedó registrado y disponible para facturarle, y la operación quedó anotada en el registro de auditoría.</a:t>
            </a:r>
          </a:p>
        </p:txBody>
      </p:sp>
    </p:spTree>
    <p:extLst>
      <p:ext uri="{BB962C8B-B14F-4D97-AF65-F5344CB8AC3E}">
        <p14:creationId xmlns:p14="http://schemas.microsoft.com/office/powerpoint/2010/main" val="6497439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2C5FE9B-108E-14D0-F5FE-5D0F8BF3B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9377"/>
            <a:ext cx="1042416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700" dirty="0">
                <a:solidFill>
                  <a:srgbClr val="003366"/>
                </a:solidFill>
                <a:latin typeface="Plus Jakarta Sans ExtraBold"/>
                <a:cs typeface="Plus Jakarta Sans ExtraBold"/>
              </a:rPr>
              <a:t>Evidencia de Pruebas</a:t>
            </a:r>
            <a:endParaRPr sz="2700" dirty="0">
              <a:solidFill>
                <a:srgbClr val="003366"/>
              </a:solidFill>
              <a:latin typeface="Plus Jakarta Sans ExtraBold"/>
              <a:cs typeface="Plus Jakarta Sans ExtraBold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77240" y="12344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F3B73"/>
                </a:solidFill>
                <a:latin typeface="Arial"/>
              </a:rPr>
              <a:t>RF 4.1. Emisión de una factura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186736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Arial"/>
              </a:rPr>
              <a:t>Formulario diligenciado</a:t>
            </a:r>
          </a:p>
        </p:txBody>
      </p:sp>
      <p:pic>
        <p:nvPicPr>
          <p:cNvPr id="26" name="Picture 25" descr="registro de nueva fac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442196"/>
            <a:ext cx="5029200" cy="2507944"/>
          </a:xfrm>
          <a:prstGeom prst="rect">
            <a:avLst/>
          </a:prstGeom>
          <a:ln>
            <a:noFill/>
          </a:ln>
        </p:spPr>
      </p:pic>
      <p:sp>
        <p:nvSpPr>
          <p:cNvPr id="27" name="TextBox 26"/>
          <p:cNvSpPr txBox="1"/>
          <p:nvPr/>
        </p:nvSpPr>
        <p:spPr>
          <a:xfrm>
            <a:off x="6309360" y="186736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Arial"/>
              </a:rPr>
              <a:t>Resultado obtenido</a:t>
            </a:r>
          </a:p>
        </p:txBody>
      </p:sp>
      <p:pic>
        <p:nvPicPr>
          <p:cNvPr id="28" name="Picture 27" descr="registro de nueva factura emitid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7241" y="2187409"/>
            <a:ext cx="4633436" cy="3017520"/>
          </a:xfrm>
          <a:prstGeom prst="rect">
            <a:avLst/>
          </a:prstGeom>
          <a:ln>
            <a:noFill/>
          </a:ln>
        </p:spPr>
      </p:pic>
      <p:sp>
        <p:nvSpPr>
          <p:cNvPr id="29" name="TextBox 28"/>
          <p:cNvSpPr txBox="1"/>
          <p:nvPr/>
        </p:nvSpPr>
        <p:spPr>
          <a:xfrm>
            <a:off x="777240" y="5479249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73D"/>
                </a:solidFill>
                <a:latin typeface="Arial"/>
              </a:rPr>
              <a:t>La factura quedó emitida con su número consecutivo, su código único y sus totales calculados.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2C5FE9B-108E-14D0-F5FE-5D0F8BF3B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9377"/>
            <a:ext cx="1042416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700" dirty="0">
                <a:solidFill>
                  <a:srgbClr val="003366"/>
                </a:solidFill>
                <a:latin typeface="Plus Jakarta Sans ExtraBold"/>
                <a:cs typeface="Plus Jakarta Sans ExtraBold"/>
              </a:rPr>
              <a:t>Resultado Obtenido de la Emisión</a:t>
            </a:r>
            <a:endParaRPr sz="2700" dirty="0">
              <a:solidFill>
                <a:srgbClr val="003366"/>
              </a:solidFill>
              <a:latin typeface="Plus Jakarta Sans ExtraBold"/>
              <a:cs typeface="Plus Jakarta Sans ExtraBold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77240" y="1352879"/>
            <a:ext cx="106070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dirty="0">
                <a:solidFill>
                  <a:srgbClr val="1F3B73"/>
                </a:solidFill>
                <a:latin typeface="Arial"/>
              </a:rPr>
              <a:t>La </a:t>
            </a:r>
            <a:r>
              <a:rPr sz="2100" b="1" dirty="0" err="1">
                <a:solidFill>
                  <a:srgbClr val="1F3B73"/>
                </a:solidFill>
                <a:latin typeface="Arial"/>
              </a:rPr>
              <a:t>prueba</a:t>
            </a:r>
            <a:r>
              <a:rPr sz="2100" b="1" dirty="0">
                <a:solidFill>
                  <a:srgbClr val="1F3B73"/>
                </a:solidFill>
                <a:latin typeface="Arial"/>
              </a:rPr>
              <a:t> </a:t>
            </a:r>
            <a:r>
              <a:rPr sz="2100" b="1" dirty="0" err="1">
                <a:solidFill>
                  <a:srgbClr val="1F3B73"/>
                </a:solidFill>
                <a:latin typeface="Arial"/>
              </a:rPr>
              <a:t>fue</a:t>
            </a:r>
            <a:r>
              <a:rPr sz="2100" b="1" dirty="0">
                <a:solidFill>
                  <a:srgbClr val="1F3B73"/>
                </a:solidFill>
                <a:latin typeface="Arial"/>
              </a:rPr>
              <a:t> </a:t>
            </a:r>
            <a:r>
              <a:rPr sz="2100" b="1" dirty="0" err="1">
                <a:solidFill>
                  <a:srgbClr val="1F3B73"/>
                </a:solidFill>
                <a:latin typeface="Arial"/>
              </a:rPr>
              <a:t>satisfactoria</a:t>
            </a:r>
            <a:r>
              <a:rPr lang="es-CO" sz="2100" b="1" dirty="0">
                <a:solidFill>
                  <a:srgbClr val="1F3B73"/>
                </a:solidFill>
              </a:rPr>
              <a:t>, l</a:t>
            </a:r>
            <a:r>
              <a:rPr sz="2100" b="1" dirty="0">
                <a:solidFill>
                  <a:srgbClr val="1F3B73"/>
                </a:solidFill>
                <a:latin typeface="Arial"/>
              </a:rPr>
              <a:t>a factura </a:t>
            </a:r>
            <a:r>
              <a:rPr sz="2100" b="1" dirty="0" err="1">
                <a:solidFill>
                  <a:srgbClr val="1F3B73"/>
                </a:solidFill>
                <a:latin typeface="Arial"/>
              </a:rPr>
              <a:t>quedó</a:t>
            </a:r>
            <a:r>
              <a:rPr sz="2100" b="1" dirty="0">
                <a:solidFill>
                  <a:srgbClr val="1F3B73"/>
                </a:solidFill>
                <a:latin typeface="Arial"/>
              </a:rPr>
              <a:t> </a:t>
            </a:r>
            <a:r>
              <a:rPr sz="2100" b="1" dirty="0" err="1">
                <a:solidFill>
                  <a:srgbClr val="1F3B73"/>
                </a:solidFill>
                <a:latin typeface="Arial"/>
              </a:rPr>
              <a:t>emitida</a:t>
            </a:r>
            <a:r>
              <a:rPr sz="2100" b="1" dirty="0">
                <a:solidFill>
                  <a:srgbClr val="1F3B73"/>
                </a:solidFill>
                <a:latin typeface="Arial"/>
              </a:rPr>
              <a:t> y disponible para </a:t>
            </a:r>
            <a:r>
              <a:rPr sz="2100" b="1" dirty="0" err="1">
                <a:solidFill>
                  <a:srgbClr val="1F3B73"/>
                </a:solidFill>
                <a:latin typeface="Arial"/>
              </a:rPr>
              <a:t>su</a:t>
            </a:r>
            <a:r>
              <a:rPr sz="2100" b="1" dirty="0">
                <a:solidFill>
                  <a:srgbClr val="1F3B73"/>
                </a:solidFill>
                <a:latin typeface="Arial"/>
              </a:rPr>
              <a:t> </a:t>
            </a:r>
            <a:r>
              <a:rPr sz="2100" b="1" dirty="0" err="1">
                <a:solidFill>
                  <a:srgbClr val="1F3B73"/>
                </a:solidFill>
                <a:latin typeface="Arial"/>
              </a:rPr>
              <a:t>descarga</a:t>
            </a:r>
            <a:r>
              <a:rPr sz="2100" b="1" dirty="0">
                <a:solidFill>
                  <a:srgbClr val="1F3B73"/>
                </a:solidFill>
                <a:latin typeface="Arial"/>
              </a:rPr>
              <a:t>.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7762884"/>
              </p:ext>
            </p:extLst>
          </p:nvPr>
        </p:nvGraphicFramePr>
        <p:xfrm>
          <a:off x="822960" y="2589693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</a:rPr>
                        <a:t>Lo que se </a:t>
                      </a:r>
                      <a:r>
                        <a:rPr sz="14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comprobó</a:t>
                      </a:r>
                      <a:endParaRPr sz="14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3152" marR="73152" marT="27432" marB="27432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Resultado</a:t>
                      </a:r>
                      <a:endParaRPr sz="14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3152" marR="73152" marT="27432" marB="27432">
                    <a:solidFill>
                      <a:srgbClr val="1F3B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Numeración</a:t>
                      </a:r>
                      <a:endParaRPr sz="1400" b="1" dirty="0">
                        <a:solidFill>
                          <a:srgbClr val="33373D"/>
                        </a:solidFill>
                        <a:latin typeface="Arial"/>
                      </a:endParaRP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El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documento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tomó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el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siguiente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consecutivo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autorizado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de la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resolución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del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emisor</a:t>
                      </a:r>
                      <a:endParaRPr sz="1400" b="1" dirty="0">
                        <a:solidFill>
                          <a:srgbClr val="33373D"/>
                        </a:solidFill>
                        <a:latin typeface="Arial"/>
                      </a:endParaRP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Cálculo</a:t>
                      </a:r>
                      <a:endParaRPr sz="1400" b="1" dirty="0">
                        <a:solidFill>
                          <a:srgbClr val="33373D"/>
                        </a:solidFill>
                        <a:latin typeface="Arial"/>
                      </a:endParaRP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Las bases,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los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descuentos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y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los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impuestos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coinciden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con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los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valores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esperados</a:t>
                      </a:r>
                      <a:endParaRPr sz="1400" b="1" dirty="0">
                        <a:solidFill>
                          <a:srgbClr val="33373D"/>
                        </a:solidFill>
                        <a:latin typeface="Arial"/>
                      </a:endParaRP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Código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único</a:t>
                      </a:r>
                      <a:endParaRPr sz="1400" b="1" dirty="0">
                        <a:solidFill>
                          <a:srgbClr val="33373D"/>
                        </a:solidFill>
                        <a:latin typeface="Arial"/>
                      </a:endParaRP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Se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generó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el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CUFE y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quedó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asociado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al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documento</a:t>
                      </a:r>
                      <a:endParaRPr sz="1400" b="1" dirty="0">
                        <a:solidFill>
                          <a:srgbClr val="33373D"/>
                        </a:solidFill>
                        <a:latin typeface="Arial"/>
                      </a:endParaRP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Archivos</a:t>
                      </a:r>
                      <a:endParaRPr sz="1400" b="1" dirty="0">
                        <a:solidFill>
                          <a:srgbClr val="33373D"/>
                        </a:solidFill>
                        <a:latin typeface="Arial"/>
                      </a:endParaRP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La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representación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gráfica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y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el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archivo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XML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quedaron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disponibles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para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descarga</a:t>
                      </a:r>
                      <a:endParaRPr sz="1400" b="1" dirty="0">
                        <a:solidFill>
                          <a:srgbClr val="33373D"/>
                        </a:solidFill>
                        <a:latin typeface="Arial"/>
                      </a:endParaRP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Registro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La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operación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quedó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anotada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en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el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rastro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de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auditoría</a:t>
                      </a:r>
                      <a:endParaRPr sz="1400" b="1" dirty="0">
                        <a:solidFill>
                          <a:srgbClr val="33373D"/>
                        </a:solidFill>
                        <a:latin typeface="Arial"/>
                      </a:endParaRP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2C5FE9B-108E-14D0-F5FE-5D0F8BF3B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9377"/>
            <a:ext cx="1042416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700" dirty="0">
                <a:solidFill>
                  <a:srgbClr val="003366"/>
                </a:solidFill>
                <a:latin typeface="Plus Jakarta Sans ExtraBold"/>
                <a:cs typeface="Plus Jakarta Sans ExtraBold"/>
              </a:rPr>
              <a:t>Resultados Obtenidos</a:t>
            </a:r>
            <a:endParaRPr sz="2700" dirty="0">
              <a:solidFill>
                <a:srgbClr val="003366"/>
              </a:solidFill>
              <a:latin typeface="Plus Jakarta Sans ExtraBold"/>
              <a:cs typeface="Plus Jakarta Sans ExtraBold"/>
            </a:endParaRP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0680681"/>
              </p:ext>
            </p:extLst>
          </p:nvPr>
        </p:nvGraphicFramePr>
        <p:xfrm>
          <a:off x="678179" y="1831275"/>
          <a:ext cx="108356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Objetivo</a:t>
                      </a:r>
                      <a:endParaRPr sz="13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3152" marR="73152" marT="27432" marB="27432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Resultado</a:t>
                      </a:r>
                      <a:endParaRPr sz="13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3152" marR="73152" marT="27432" marB="27432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Estado</a:t>
                      </a:r>
                    </a:p>
                  </a:txBody>
                  <a:tcPr marL="73152" marR="73152" marT="27432" marB="27432">
                    <a:solidFill>
                      <a:srgbClr val="1F3B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3373D"/>
                          </a:solidFill>
                          <a:latin typeface="Arial"/>
                        </a:rPr>
                        <a:t>Emisión de documentos electrónicos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Facturas de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venta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,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notas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crédito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y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notas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débito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con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consecutivo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autorizado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,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código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único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,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representación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gráfica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y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archivo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XML bajo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el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estándar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UBL 2.1.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3373D"/>
                          </a:solidFill>
                          <a:latin typeface="Arial"/>
                        </a:rPr>
                        <a:t>Cumplido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3373D"/>
                          </a:solidFill>
                          <a:latin typeface="Arial"/>
                        </a:rPr>
                        <a:t>Interfaz de integración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Nueve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operaciones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disponibles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,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autenticadas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por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llave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individual, con forma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única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de error y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contrato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publicado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de forma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automática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.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3373D"/>
                          </a:solidFill>
                          <a:latin typeface="Arial"/>
                        </a:rPr>
                        <a:t>Cumplido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3373D"/>
                          </a:solidFill>
                          <a:latin typeface="Arial"/>
                        </a:rPr>
                        <a:t>Control de cupo y suscripción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Consumo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calculado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sobre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los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documentos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emitidos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,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bloqueo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por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cupo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agotado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y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facturación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de la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mensualidad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con sus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excedentes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.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3373D"/>
                          </a:solidFill>
                          <a:latin typeface="Arial"/>
                        </a:rPr>
                        <a:t>Cumplido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3373D"/>
                          </a:solidFill>
                          <a:latin typeface="Arial"/>
                        </a:rPr>
                        <a:t>Tablero de control y reportes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Indicadores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del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servicio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y de la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venta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con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filtro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de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periodo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, y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siete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reportes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exportables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a CSV y a PDF.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3373D"/>
                          </a:solidFill>
                          <a:latin typeface="Arial"/>
                        </a:rPr>
                        <a:t>Cumplido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3373D"/>
                          </a:solidFill>
                          <a:latin typeface="Arial"/>
                        </a:rPr>
                        <a:t>Seguridad y auditoría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Autenticación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con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contraseñas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cifradas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, cuatro roles con control de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acceso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por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ruta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,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cierre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de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sesión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por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inactividad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y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registro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de las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operaciones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de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escritura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.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Cumplido</a:t>
                      </a:r>
                      <a:endParaRPr sz="1300" b="1" dirty="0">
                        <a:solidFill>
                          <a:srgbClr val="33373D"/>
                        </a:solidFill>
                        <a:latin typeface="Arial"/>
                      </a:endParaRP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477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3373D"/>
                          </a:solidFill>
                          <a:latin typeface="Arial"/>
                        </a:rPr>
                        <a:t>Transmisión en producción ante la DIAN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El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código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único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se genera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en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modalidad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de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pruebas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, a la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espera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de la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habilitación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del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proveedor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.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Parcial</a:t>
                      </a:r>
                      <a:endParaRPr sz="1300" b="1" dirty="0">
                        <a:solidFill>
                          <a:srgbClr val="33373D"/>
                        </a:solidFill>
                        <a:latin typeface="Arial"/>
                      </a:endParaRP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AutoShape 4" descr="Correo y sitio web en línea">
            <a:extLst>
              <a:ext uri="{FF2B5EF4-FFF2-40B4-BE49-F238E27FC236}">
                <a16:creationId xmlns:a16="http://schemas.microsoft.com/office/drawing/2014/main" id="{EAD54A52-3378-3CC3-29EF-E9E8EE665D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5F281F11-A0F4-A0C6-E778-619B5F7C80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2469" b="47778"/>
          <a:stretch/>
        </p:blipFill>
        <p:spPr>
          <a:xfrm>
            <a:off x="3349096" y="4392992"/>
            <a:ext cx="5189008" cy="380394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FBE692BC-B46C-755F-B649-B15BA25BC35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2013 - Tema de 2022">
  <a:themeElements>
    <a:clrScheme name="Personalizado 1">
      <a:dk1>
        <a:srgbClr val="39A900"/>
      </a:dk1>
      <a:lt1>
        <a:srgbClr val="FFFFFF"/>
      </a:lt1>
      <a:dk2>
        <a:srgbClr val="00304D"/>
      </a:dk2>
      <a:lt2>
        <a:srgbClr val="F6F6F6"/>
      </a:lt2>
      <a:accent1>
        <a:srgbClr val="007832"/>
      </a:accent1>
      <a:accent2>
        <a:srgbClr val="71127A"/>
      </a:accent2>
      <a:accent3>
        <a:srgbClr val="50E5F9"/>
      </a:accent3>
      <a:accent4>
        <a:srgbClr val="FDC300"/>
      </a:accent4>
      <a:accent5>
        <a:srgbClr val="000000"/>
      </a:accent5>
      <a:accent6>
        <a:srgbClr val="70AD47"/>
      </a:accent6>
      <a:hlink>
        <a:srgbClr val="0563C1"/>
      </a:hlink>
      <a:folHlink>
        <a:srgbClr val="71127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3411</TotalTime>
  <Words>2301</Words>
  <Application>Microsoft Office PowerPoint</Application>
  <PresentationFormat>Widescreen</PresentationFormat>
  <Paragraphs>379</Paragraphs>
  <Slides>38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Plus Jakarta Sans</vt:lpstr>
      <vt:lpstr>Arial</vt:lpstr>
      <vt:lpstr>Inter</vt:lpstr>
      <vt:lpstr>Calibri</vt:lpstr>
      <vt:lpstr>Plus Jakarta Sans ExtraBold</vt:lpstr>
      <vt:lpstr>Office 2013 - Tema de 2022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Jorge Enrique Pedraza Sanchez</dc:creator>
  <cp:lastModifiedBy>Brandon Restrepo</cp:lastModifiedBy>
  <cp:revision>59</cp:revision>
  <dcterms:created xsi:type="dcterms:W3CDTF">2020-10-01T23:51:28Z</dcterms:created>
  <dcterms:modified xsi:type="dcterms:W3CDTF">2026-09-03T14:44:12Z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c111285-cafa-4fc9-8a9a-bd902089b24f_Enabled">
    <vt:lpwstr>true</vt:lpwstr>
  </property>
  <property fmtid="{D5CDD505-2E9C-101B-9397-08002B2CF9AE}" pid="3" name="MSIP_Label_fc111285-cafa-4fc9-8a9a-bd902089b24f_SetDate">
    <vt:lpwstr>2025-07-11T16:31:34Z</vt:lpwstr>
  </property>
  <property fmtid="{D5CDD505-2E9C-101B-9397-08002B2CF9AE}" pid="4" name="MSIP_Label_fc111285-cafa-4fc9-8a9a-bd902089b24f_Method">
    <vt:lpwstr>Privileged</vt:lpwstr>
  </property>
  <property fmtid="{D5CDD505-2E9C-101B-9397-08002B2CF9AE}" pid="5" name="MSIP_Label_fc111285-cafa-4fc9-8a9a-bd902089b24f_Name">
    <vt:lpwstr>Public</vt:lpwstr>
  </property>
  <property fmtid="{D5CDD505-2E9C-101B-9397-08002B2CF9AE}" pid="6" name="MSIP_Label_fc111285-cafa-4fc9-8a9a-bd902089b24f_SiteId">
    <vt:lpwstr>cbc2c381-2f2e-4d93-91d1-506c9316ace7</vt:lpwstr>
  </property>
  <property fmtid="{D5CDD505-2E9C-101B-9397-08002B2CF9AE}" pid="7" name="MSIP_Label_fc111285-cafa-4fc9-8a9a-bd902089b24f_ActionId">
    <vt:lpwstr>c6329c04-9ceb-4fca-88c8-0029777b3481</vt:lpwstr>
  </property>
  <property fmtid="{D5CDD505-2E9C-101B-9397-08002B2CF9AE}" pid="8" name="MSIP_Label_fc111285-cafa-4fc9-8a9a-bd902089b24f_ContentBits">
    <vt:lpwstr>0</vt:lpwstr>
  </property>
  <property fmtid="{D5CDD505-2E9C-101B-9397-08002B2CF9AE}" pid="9" name="MSIP_Label_fc111285-cafa-4fc9-8a9a-bd902089b24f_Tag">
    <vt:lpwstr>10, 0, 1, 1</vt:lpwstr>
  </property>
  <property fmtid="{D5CDD505-2E9C-101B-9397-08002B2CF9AE}" pid="10" name="ContentTypeId">
    <vt:lpwstr>0x010100BAA091B23A43D34AA14462823DC894E8</vt:lpwstr>
  </property>
  <property fmtid="{D5CDD505-2E9C-101B-9397-08002B2CF9AE}" pid="11" name="MediaServiceImageTags">
    <vt:lpwstr/>
  </property>
  <property fmtid="{D5CDD505-2E9C-101B-9397-08002B2CF9AE}" pid="12" name="Order">
    <vt:r8>194900</vt:r8>
  </property>
  <property fmtid="{D5CDD505-2E9C-101B-9397-08002B2CF9AE}" pid="13" name="xd_Signature">
    <vt:bool>false</vt:bool>
  </property>
  <property fmtid="{D5CDD505-2E9C-101B-9397-08002B2CF9AE}" pid="14" name="xd_ProgID">
    <vt:lpwstr/>
  </property>
  <property fmtid="{D5CDD505-2E9C-101B-9397-08002B2CF9AE}" pid="15" name="_SourceUrl">
    <vt:lpwstr/>
  </property>
  <property fmtid="{D5CDD505-2E9C-101B-9397-08002B2CF9AE}" pid="16" name="_SharedFileIndex">
    <vt:lpwstr/>
  </property>
  <property fmtid="{D5CDD505-2E9C-101B-9397-08002B2CF9AE}" pid="17" name="ComplianceAssetId">
    <vt:lpwstr/>
  </property>
  <property fmtid="{D5CDD505-2E9C-101B-9397-08002B2CF9AE}" pid="18" name="TemplateUrl">
    <vt:lpwstr/>
  </property>
  <property fmtid="{D5CDD505-2E9C-101B-9397-08002B2CF9AE}" pid="19" name="_ExtendedDescription">
    <vt:lpwstr/>
  </property>
  <property fmtid="{D5CDD505-2E9C-101B-9397-08002B2CF9AE}" pid="20" name="TriggerFlowInfo">
    <vt:lpwstr/>
  </property>
</Properties>
</file>