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12192000"/>
  <p:notesSz cx="6858000" cy="9144000"/>
  <p:embeddedFontLst>
    <p:embeddedFont>
      <p:font typeface="Work Sans"/>
      <p:bold r:id="rId46"/>
      <p:boldItalic r:id="rId47"/>
    </p:embeddedFont>
    <p:embeddedFont>
      <p:font typeface="Noto Sans Symbols"/>
      <p:regular r:id="rId48"/>
      <p:bold r:id="rId49"/>
    </p:embeddedFont>
    <p:embeddedFont>
      <p:font typeface="Arial Black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:go="http://customooxmlschemas.google.com/" r:id="rId51" roundtripDataSignature="AMtx7mghb39bq+2nqwK61kOChjNJfYey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31D975-7F90-42F0-AD83-4F71A8A2CCD6}">
  <a:tblStyle styleId="{DF31D975-7F90-42F0-AD83-4F71A8A2CC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/>
    </a:neCell>
    <a:nwCell>
      <a:tcTxStyle/>
    </a:nwCell>
  </a:tblStyle>
  <a:tblStyle styleId="{6BBCEF59-BA91-40DF-AA9A-E2E2839CA86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E7"/>
          </a:solidFill>
        </a:fill>
      </a:tcStyle>
    </a:wholeTbl>
    <a:band1H>
      <a:tcTxStyle/>
      <a:tcStyle>
        <a:fill>
          <a:solidFill>
            <a:srgbClr val="CAD5CC"/>
          </a:solidFill>
        </a:fill>
      </a:tcStyle>
    </a:band1H>
    <a:band2H>
      <a:tcTxStyle/>
    </a:band2H>
    <a:band1V>
      <a:tcTxStyle/>
      <a:tcStyle>
        <a:fill>
          <a:solidFill>
            <a:srgbClr val="CAD5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9993BCE-FE73-44CA-B3C8-F17BECD32F21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5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A3AACE3A-77A5-4AFF-BC22-1D2F96F84747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02A8042-4A8A-462A-865D-7C8044BA2339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6E6E6"/>
          </a:solidFill>
        </a:fill>
      </a:tcStyle>
    </a:band1H>
    <a:band2H>
      <a:tcTxStyle/>
    </a:band2H>
    <a:band1V>
      <a:tcTxStyle/>
      <a:tcStyle>
        <a:fill>
          <a:solidFill>
            <a:srgbClr val="E6E6E6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  <a:tblStyle styleId="{8AB4B6C1-AD0A-471A-826E-DB090AED0D78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  <p:guide pos="438"/>
        <p:guide pos="2387" orient="horz"/>
        <p:guide pos="28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WorkSans-bold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NotoSansSymbols-regular.fntdata"/><Relationship Id="rId47" Type="http://schemas.openxmlformats.org/officeDocument/2006/relationships/font" Target="fonts/WorkSans-boldItalic.fntdata"/><Relationship Id="rId49" Type="http://schemas.openxmlformats.org/officeDocument/2006/relationships/font" Target="fonts/NotoSansSymbol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customschemas.google.com/relationships/presentationmetadata" Target="metadata"/><Relationship Id="rId50" Type="http://schemas.openxmlformats.org/officeDocument/2006/relationships/font" Target="fonts/ArialBlac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34" name="Google Shape;3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4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25.png"/><Relationship Id="rId5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29.png"/><Relationship Id="rId7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7.png"/><Relationship Id="rId7" Type="http://schemas.openxmlformats.org/officeDocument/2006/relationships/image" Target="../media/image2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045101" y="2493779"/>
            <a:ext cx="9608385" cy="175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142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00AE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1907" y="1755466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>
            <p:ph type="ctrTitle"/>
          </p:nvPr>
        </p:nvSpPr>
        <p:spPr>
          <a:xfrm>
            <a:off x="4309249" y="979184"/>
            <a:ext cx="3573502" cy="73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POSINNOVATE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503519" y="4428565"/>
            <a:ext cx="5184962" cy="14502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Sistema SaaS para gestión comercial y administrativa</a:t>
            </a:r>
            <a:endParaRPr b="1" i="0" sz="32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045101" y="2493779"/>
            <a:ext cx="9608385" cy="175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142"/>
              </a:buClr>
              <a:buSzPts val="3200"/>
              <a:buFont typeface="Calibri"/>
              <a:buNone/>
            </a:pPr>
            <a:r>
              <a:t/>
            </a:r>
            <a:endParaRPr b="1" i="0" sz="3200" u="none" cap="none" strike="noStrike">
              <a:solidFill>
                <a:srgbClr val="00AE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3836141" y="4538886"/>
            <a:ext cx="4674075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APRENDICES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MICHAELL ANDREY LLANES RAMIREZ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BRAYAN SNEYDER CASADIEGO ROJAS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1600" u="none" cap="none" strike="noStrike">
                <a:solidFill>
                  <a:schemeClr val="accent5"/>
                </a:solidFill>
                <a:latin typeface="Arial Black"/>
                <a:ea typeface="Arial Black"/>
                <a:cs typeface="Arial Black"/>
                <a:sym typeface="Arial Black"/>
              </a:rPr>
              <a:t>DANIEL ANDRES PALENCIA CASTILLO</a:t>
            </a:r>
            <a:endParaRPr/>
          </a:p>
        </p:txBody>
      </p:sp>
      <p:pic>
        <p:nvPicPr>
          <p:cNvPr id="105" name="Google Shape;10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9086" y="1823152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>
            <p:ph type="ctrTitle"/>
          </p:nvPr>
        </p:nvSpPr>
        <p:spPr>
          <a:xfrm>
            <a:off x="4386428" y="993079"/>
            <a:ext cx="3573502" cy="7346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POSINNOVATE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1357085" y="2640764"/>
            <a:ext cx="9477829" cy="1576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I. FORMULACIÓN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4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4581907" y="249954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 txBox="1"/>
          <p:nvPr>
            <p:ph type="title"/>
          </p:nvPr>
        </p:nvSpPr>
        <p:spPr>
          <a:xfrm>
            <a:off x="838200" y="774775"/>
            <a:ext cx="10515600" cy="8344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Planteamiento del Problema</a:t>
            </a:r>
            <a:endParaRPr/>
          </a:p>
        </p:txBody>
      </p:sp>
      <p:sp>
        <p:nvSpPr>
          <p:cNvPr id="118" name="Google Shape;118;p4"/>
          <p:cNvSpPr txBox="1"/>
          <p:nvPr>
            <p:ph idx="1" type="body"/>
          </p:nvPr>
        </p:nvSpPr>
        <p:spPr>
          <a:xfrm>
            <a:off x="838200" y="1681821"/>
            <a:ext cx="9865659" cy="4118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Las empresas pequeñas y medianas del sector comercial, como Mundo Carnes, enfrentan dificultades para gestionar eficientemente sus operaciones debido al uso de procesos manuales, herramientas dispersas o sistemas que no se adaptan completamente a sus necesidades especificas.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Falta de centralización de la información 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entre las diferentes áreas del negocio.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Errores en el control 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 inventario 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debido a registros manuales o desactualizados.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Demoras e ineficiencias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en el proceso de ventas 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(POS), afectando la atención al cliente.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Dificultad para generar reportes confiables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que apoyen la toma de decisiones.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Pérdida de control 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en la gestión de compras y proveedores. 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838200" y="528140"/>
            <a:ext cx="3653118" cy="791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Justificación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838200" y="1319462"/>
            <a:ext cx="10515600" cy="1420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None/>
            </a:pPr>
            <a:r>
              <a:rPr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Se propone 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implementar</a:t>
            </a:r>
            <a:r>
              <a:rPr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una plataforma de software integral que permita centralizar y optimizar la gestión de los procesos operativos en la empresa Mundo Carnes. POSinnovate busca mejorar el control de la información, reducir errores operativos y facilitar la toma de decisiones mediante el acceso a datos en tiempo real.</a:t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5" name="Google Shape;125;p5"/>
          <p:cNvGraphicFramePr/>
          <p:nvPr/>
        </p:nvGraphicFramePr>
        <p:xfrm>
          <a:off x="838200" y="28691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{DF31D975-7F90-42F0-AD83-4F71A8A2CCD6}</a:tableStyleId>
              </a:tblPr>
              <a:tblGrid>
                <a:gridCol w="4749800"/>
                <a:gridCol w="5054600"/>
              </a:tblGrid>
              <a:tr h="47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400" u="none" cap="none" strike="noStrike">
                          <a:solidFill>
                            <a:schemeClr val="accent5"/>
                          </a:solidFill>
                        </a:rPr>
                        <a:t>Necesidad</a:t>
                      </a:r>
                      <a:endParaRPr b="1" i="0" sz="24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solidFill>
                      <a:srgbClr val="B8B8B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400" u="none" cap="none" strike="noStrike">
                          <a:solidFill>
                            <a:schemeClr val="accent5"/>
                          </a:solidFill>
                        </a:rPr>
                        <a:t>Propuesta</a:t>
                      </a:r>
                      <a:endParaRPr b="1" i="0" sz="24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solidFill>
                      <a:srgbClr val="B8B8B8"/>
                    </a:solidFill>
                  </a:tcPr>
                </a:tc>
              </a:tr>
              <a:tr h="45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None/>
                      </a:pPr>
                      <a:r>
                        <a:rPr lang="es-CO" sz="2400" u="none" cap="none" strike="noStrike">
                          <a:solidFill>
                            <a:schemeClr val="accent5"/>
                          </a:solidFill>
                        </a:rPr>
                        <a:t> Información dispersa</a:t>
                      </a:r>
                      <a:endParaRPr b="0" i="0" sz="2400" u="none" cap="none" strike="noStrike">
                        <a:solidFill>
                          <a:schemeClr val="accent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s-CO" sz="2400" u="none" cap="none" strike="noStrike">
                          <a:solidFill>
                            <a:schemeClr val="accent5"/>
                          </a:solidFill>
                        </a:rPr>
                        <a:t> Centralización de datos </a:t>
                      </a:r>
                      <a:endParaRPr b="0" i="0" sz="2400" u="none" cap="none" strike="noStrike">
                        <a:solidFill>
                          <a:schemeClr val="accent5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7625" marB="0" marR="7625" marL="7625" anchor="ctr"/>
                </a:tc>
              </a:tr>
              <a:tr h="542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None/>
                      </a:pPr>
                      <a:r>
                        <a:rPr lang="es-CO" sz="2400" u="none" cap="none" strike="noStrike">
                          <a:solidFill>
                            <a:schemeClr val="accent5"/>
                          </a:solidFill>
                        </a:rPr>
                        <a:t> Procesos manuales</a:t>
                      </a:r>
                      <a:endParaRPr b="0" i="0" sz="2400" u="none" cap="none" strike="noStrike">
                        <a:solidFill>
                          <a:schemeClr val="accent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s-CO" sz="2400" u="none" cap="none" strike="noStrike">
                          <a:solidFill>
                            <a:schemeClr val="accent5"/>
                          </a:solidFill>
                        </a:rPr>
                        <a:t> Automatización</a:t>
                      </a:r>
                      <a:endParaRPr b="0" i="0" sz="2400" u="none" cap="none" strike="noStrike">
                        <a:solidFill>
                          <a:schemeClr val="accent5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7625" marB="0" marR="7625" marL="7625" anchor="ctr"/>
                </a:tc>
              </a:tr>
              <a:tr h="45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None/>
                      </a:pPr>
                      <a:r>
                        <a:rPr lang="es-CO" sz="2400" u="none" cap="none" strike="noStrike">
                          <a:solidFill>
                            <a:schemeClr val="accent5"/>
                          </a:solidFill>
                        </a:rPr>
                        <a:t> Ventas lentas</a:t>
                      </a:r>
                      <a:endParaRPr b="0" i="0" sz="2400" u="none" cap="none" strike="noStrike">
                        <a:solidFill>
                          <a:schemeClr val="accent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s-CO" sz="2400" u="none" cap="none" strike="noStrike">
                          <a:solidFill>
                            <a:schemeClr val="accent5"/>
                          </a:solidFill>
                        </a:rPr>
                        <a:t> POS optimizado</a:t>
                      </a:r>
                      <a:endParaRPr b="0" i="0" sz="2400" u="none" cap="none" strike="noStrike">
                        <a:solidFill>
                          <a:schemeClr val="accent5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7625" marB="0" marR="7625" marL="7625" anchor="ctr"/>
                </a:tc>
              </a:tr>
              <a:tr h="47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ourier New"/>
                        <a:buNone/>
                      </a:pPr>
                      <a:r>
                        <a:rPr lang="es-CO" sz="2400" u="none" cap="none" strike="noStrike">
                          <a:solidFill>
                            <a:schemeClr val="accent5"/>
                          </a:solidFill>
                        </a:rPr>
                        <a:t> Sistemas limitados</a:t>
                      </a:r>
                      <a:endParaRPr b="0" i="0" sz="2400" u="none" cap="none" strike="noStrike">
                        <a:solidFill>
                          <a:schemeClr val="accent5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25" marB="0" marR="7625" marL="76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s-CO" sz="2400" u="none" cap="none" strike="noStrike">
                          <a:solidFill>
                            <a:schemeClr val="accent5"/>
                          </a:solidFill>
                        </a:rPr>
                        <a:t> Plataforma modular</a:t>
                      </a:r>
                      <a:endParaRPr b="0" i="0" sz="2400" u="none" cap="none" strike="noStrike">
                        <a:solidFill>
                          <a:schemeClr val="accent5"/>
                        </a:solidFill>
                        <a:latin typeface="Noto Sans Symbols"/>
                        <a:ea typeface="Noto Sans Symbols"/>
                        <a:cs typeface="Noto Sans Symbols"/>
                        <a:sym typeface="Noto Sans Symbols"/>
                      </a:endParaRPr>
                    </a:p>
                  </a:txBody>
                  <a:tcPr marT="7625" marB="0" marR="7625" marL="7625" anchor="ctr"/>
                </a:tc>
              </a:tr>
            </a:tbl>
          </a:graphicData>
        </a:graphic>
      </p:graphicFrame>
      <p:pic>
        <p:nvPicPr>
          <p:cNvPr id="126" name="Google Shape;126;p5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0970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/>
        </p:nvSpPr>
        <p:spPr>
          <a:xfrm>
            <a:off x="838200" y="2140139"/>
            <a:ext cx="3913094" cy="791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i="0" lang="es-CO" sz="3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/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1103042" y="17210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587442" y="2992120"/>
            <a:ext cx="10515600" cy="3435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b="1" lang="es-CO" sz="24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Implementar una plataforma SaaS multiempresa, que centralice y automatice la gestión administrativa en la empresa Mundo Carnes mejorando la eficiencia operativa y la toma de decisiones.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4581907" y="249954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1035424" y="69868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Char char="•"/>
            </a:pPr>
            <a:r>
              <a:rPr b="1"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Diseñar e implementar un módulo de gestión de inventario </a:t>
            </a:r>
            <a:r>
              <a:rPr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que permita el control de productos, movimientos y stock en tiempo real.</a:t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Char char="•"/>
            </a:pPr>
            <a:r>
              <a:rPr b="1"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Desarrollar un sistema de ventas (POS) </a:t>
            </a:r>
            <a:r>
              <a:rPr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que agilice el registro de transacciones, métodos de pago y generación de facturas.</a:t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Char char="•"/>
            </a:pPr>
            <a:r>
              <a:rPr b="1"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Implementar un módulo de gestión de compras </a:t>
            </a:r>
            <a:r>
              <a:rPr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que facilite el registro de proveedores, facturas y seguimiento de pagos.</a:t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Char char="•"/>
            </a:pPr>
            <a:r>
              <a:rPr b="1"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Crear un sistema de reportes</a:t>
            </a:r>
            <a:r>
              <a:rPr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que permita visualizar información clave del negocio para apoyar la toma de decisiones.</a:t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Char char="•"/>
            </a:pPr>
            <a:r>
              <a:rPr b="1"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Establecer un sistema de gestión de usuarios y roles </a:t>
            </a:r>
            <a:r>
              <a:rPr lang="es-CO" sz="2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que garantice la seguridad y el control de acceso dentro de la plataforma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4581907" y="249954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1151965" y="627335"/>
            <a:ext cx="10515600" cy="625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/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4581907" y="249954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/>
          <p:nvPr/>
        </p:nvSpPr>
        <p:spPr>
          <a:xfrm>
            <a:off x="811305" y="1253090"/>
            <a:ext cx="10031507" cy="4708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Implementar un módulo de nómina: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Gestionar empleados, contratos, pagos salariales, deducciones y prestaciones sociales dentro de la plataforma.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Desarrollar una aplicación móvil: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Permitir el acceso a indicadores, inventarios y ventas desde dispositivos Android e iOS mediante aplicación.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Desarrollar una interfaz personalizada por empresa: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Adaptar la apariencia y configuración del sistema según la identidad y necesidades de cada organización.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Incorporar inteligencia artificial para apoyo en decisiones: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Generar recomendaciones y análisis que faciliten la toma de decisiones empresariales.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Implementar una tienda virtual integrada: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Permitir la publicación y comercialización de productos mediante una tienda en línea conectada con el inventario y las ventas del sistema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1160929" y="609596"/>
            <a:ext cx="10515600" cy="607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endParaRPr/>
          </a:p>
        </p:txBody>
      </p:sp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838200" y="1217421"/>
            <a:ext cx="10515600" cy="1961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Resistencia al cambio de los usuarios.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Problemas de conectividad a redes de internet.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Posibles fallos en el sistema que afecten la disponibilidad o el funcionamiento del punto de venta (POS).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Retraso en el desarrollo del sistema.</a:t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4581907" y="249954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 txBox="1"/>
          <p:nvPr/>
        </p:nvSpPr>
        <p:spPr>
          <a:xfrm>
            <a:off x="1160929" y="3553065"/>
            <a:ext cx="10515600" cy="679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None/>
            </a:pPr>
            <a:r>
              <a:rPr b="1" i="0" lang="es-CO" sz="3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Restricciones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838200" y="4211078"/>
            <a:ext cx="10515600" cy="1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Tiempo limitado para el desarrollo del sistema según el cronograma del proyecto.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Dependencia de conexión a internet para el funcionamiento de la plataforma web.</a:t>
            </a:r>
            <a:endParaRPr/>
          </a:p>
          <a:p>
            <a:pPr indent="-2286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Presupuesto limitado para el despliegue.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type="title"/>
          </p:nvPr>
        </p:nvSpPr>
        <p:spPr>
          <a:xfrm>
            <a:off x="1160929" y="360363"/>
            <a:ext cx="3841377" cy="88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Cronograma</a:t>
            </a:r>
            <a:endParaRPr/>
          </a:p>
        </p:txBody>
      </p:sp>
      <p:pic>
        <p:nvPicPr>
          <p:cNvPr id="163" name="Google Shape;163;p10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4581907" y="2499543"/>
            <a:ext cx="3028186" cy="24832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p10"/>
          <p:cNvGraphicFramePr/>
          <p:nvPr/>
        </p:nvGraphicFramePr>
        <p:xfrm>
          <a:off x="914400" y="12460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1141875"/>
                <a:gridCol w="1130300"/>
                <a:gridCol w="1130300"/>
                <a:gridCol w="1130300"/>
                <a:gridCol w="1130300"/>
                <a:gridCol w="1130300"/>
                <a:gridCol w="1130300"/>
                <a:gridCol w="1130300"/>
                <a:gridCol w="1309225"/>
              </a:tblGrid>
              <a:tr h="19812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CRONOGRAMA DE ACTIVIDADES</a:t>
                      </a:r>
                      <a:endParaRPr b="1" i="0" sz="16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98125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FASES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2025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AFFF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981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MARZO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ABRIL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MAYO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JUNIO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JULIO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AGOSTO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SEPTIEMBRE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OCTUBRE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8125">
                <a:tc v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ACTIVIDADES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42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ANALISIS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Levantamiento de requisitos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Identificación de actores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Análisis del problema y evaluación de requisitos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5A5A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PLANEACIÓN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Diseño de la solución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Arquitectura del sistema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Modelado (casos de uso, diagramas, etc.)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7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Planificación de desarrollo 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7FE"/>
                    </a:solidFill>
                  </a:tcPr>
                </a:tc>
              </a:tr>
              <a:tr h="205750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252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CRONOGRAMA DE ACTIVIDADES</a:t>
                      </a:r>
                      <a:endParaRPr b="1" i="0" sz="16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198125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FASES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2025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AFFF"/>
                    </a:solidFill>
                  </a:tcPr>
                </a:tc>
                <a:tc hMerge="1"/>
                <a:tc grid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2026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4B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</a:tr>
              <a:tr h="1981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NOVIEMBRE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DICIEMBRE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FEBRERO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MARZO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ABRIL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MAYO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JUNIO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JULIO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98125">
                <a:tc vMerge="1"/>
                <a:tc grid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ACTIVIDADES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EJECUCIÓN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C63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Desarrollo de módulos: Inventario, ventas (POS), Compras ,Reportes, Seguridad y Configuración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C63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Integración de módulos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Pruebas técnicas del Software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C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39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EVALUACIÓN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D0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Pruebas finales y Corrección de errores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u="none" cap="none" strike="noStrike">
                          <a:solidFill>
                            <a:schemeClr val="accent5"/>
                          </a:solidFill>
                        </a:rPr>
                        <a:t>Socialización del proyecto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0B2"/>
                    </a:solidFill>
                  </a:tcPr>
                </a:tc>
              </a:tr>
            </a:tbl>
          </a:graphicData>
        </a:graphic>
      </p:graphicFrame>
      <p:pic>
        <p:nvPicPr>
          <p:cNvPr id="165" name="Google Shape;165;p10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0970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/>
        </p:nvSpPr>
        <p:spPr>
          <a:xfrm>
            <a:off x="1357085" y="2640764"/>
            <a:ext cx="9477829" cy="1576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II. ANÁLISIS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667870" y="44822"/>
            <a:ext cx="1149723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Herramientas para la Captura de Requisitos </a:t>
            </a:r>
            <a:endParaRPr/>
          </a:p>
        </p:txBody>
      </p:sp>
      <p:pic>
        <p:nvPicPr>
          <p:cNvPr id="176" name="Google Shape;176;p1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581907" y="2481614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2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983" y="1226951"/>
            <a:ext cx="3733634" cy="2649196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79" name="Google Shape;17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2429" y="2279034"/>
            <a:ext cx="5116605" cy="3736376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180" name="Google Shape;18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94334" y="3217255"/>
            <a:ext cx="2355068" cy="2206398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81" name="Google Shape;181;p12"/>
          <p:cNvSpPr txBox="1"/>
          <p:nvPr/>
        </p:nvSpPr>
        <p:spPr>
          <a:xfrm>
            <a:off x="695138" y="907042"/>
            <a:ext cx="2478741" cy="527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</a:pPr>
            <a:r>
              <a:rPr b="1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Encuesta:</a:t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2071397" y="5253225"/>
            <a:ext cx="3416724" cy="717269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734307" y="2634014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"/>
          <p:cNvSpPr txBox="1"/>
          <p:nvPr>
            <p:ph type="title"/>
          </p:nvPr>
        </p:nvSpPr>
        <p:spPr>
          <a:xfrm>
            <a:off x="695138" y="772571"/>
            <a:ext cx="5069168" cy="527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  <p:sp>
        <p:nvSpPr>
          <p:cNvPr id="189" name="Google Shape;189;p13"/>
          <p:cNvSpPr txBox="1"/>
          <p:nvPr>
            <p:ph idx="1" type="body"/>
          </p:nvPr>
        </p:nvSpPr>
        <p:spPr>
          <a:xfrm>
            <a:off x="695138" y="1300272"/>
            <a:ext cx="9605682" cy="50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RF-02 – Gestión de Inventario:</a:t>
            </a: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Durante la observación directa se evidenció que el control de inventario se realiza de forma manual, lo que genera desactualización de la información, errores en el stock y dificultades en la toma de decisiones.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Como: 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Encargado de inventario</a:t>
            </a: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Quiero: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registrar, actualizar y consultar productos en tiempo real</a:t>
            </a: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Para: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mantener un control preciso del stock y evitar pérdidas o desabastecimiento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Condiciones:</a:t>
            </a:r>
            <a:endParaRPr b="1"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permitir registrar nuevos productos. 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permitir editar la información de productos existentes. 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registrar entradas y salidas de inventario. 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actualizar automáticamente el stock en tiempo real. 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permitir consultar el historial de movimientos. </a:t>
            </a: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581907" y="2481614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3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 txBox="1"/>
          <p:nvPr>
            <p:ph idx="1" type="body"/>
          </p:nvPr>
        </p:nvSpPr>
        <p:spPr>
          <a:xfrm>
            <a:off x="734799" y="318191"/>
            <a:ext cx="4325098" cy="159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RF Relacionados: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b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1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581907" y="2460046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4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14"/>
          <p:cNvGraphicFramePr/>
          <p:nvPr/>
        </p:nvGraphicFramePr>
        <p:xfrm>
          <a:off x="595106" y="11164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1855900"/>
                <a:gridCol w="3421125"/>
              </a:tblGrid>
              <a:tr h="133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 – 2.3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MOVIMIENTO DE INVENTARIO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REQUISITO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FUNCIONAL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sistema debe permitir registrar las entradas y salidas de productos desde las diferentes bodegas, actualizando automáticamente las existencias disponibles y manteniendo un historial de movimientos para garantizar el control y trazabilidad del inventario.</a:t>
                      </a:r>
                      <a:endParaRPr b="0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ALTA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0" name="Google Shape;200;p14"/>
          <p:cNvGraphicFramePr/>
          <p:nvPr/>
        </p:nvGraphicFramePr>
        <p:xfrm>
          <a:off x="3524969" y="4003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1515250"/>
                <a:gridCol w="3458450"/>
              </a:tblGrid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 – 2.7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REGISTRAR PRODUCTOS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REQUISITO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FUNCIONAL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sistema debe permitir registrar nuevos productos mediante el ingreso de información como nombre, código, categoría, precio, unidad de medida y stock inicial, garantizando la correcta incorporación de artículos al inventario.</a:t>
                      </a:r>
                      <a:endParaRPr b="0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ALTA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1" name="Google Shape;201;p14"/>
          <p:cNvGraphicFramePr/>
          <p:nvPr/>
        </p:nvGraphicFramePr>
        <p:xfrm>
          <a:off x="6101466" y="11164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1894725"/>
                <a:gridCol w="3382300"/>
              </a:tblGrid>
              <a:tr h="224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 – 2.8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EDICION DE PRODUCTOS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REQUISITO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FUNCIONAL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4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sistema debe permitir modificar la información de los productos registrados, incluyendo datos generales, precios, categorías y estado del producto, asegurando que la información almacenada permanezca actualizada.</a:t>
                      </a:r>
                      <a:endParaRPr b="0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4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ALTA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5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0464" y="1834508"/>
            <a:ext cx="5311588" cy="4261869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208" name="Google Shape;2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385932"/>
            <a:ext cx="3302014" cy="2483223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209" name="Google Shape;209;p15"/>
          <p:cNvSpPr txBox="1"/>
          <p:nvPr>
            <p:ph type="title"/>
          </p:nvPr>
        </p:nvSpPr>
        <p:spPr>
          <a:xfrm>
            <a:off x="667870" y="295833"/>
            <a:ext cx="1149723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Herramientas para la Captura de Requisitos 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668243" y="1095304"/>
            <a:ext cx="3186580" cy="527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None/>
            </a:pPr>
            <a:r>
              <a:rPr b="1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Observación Directa:</a:t>
            </a: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1999680" y="2600648"/>
            <a:ext cx="2787474" cy="224118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3661" y="2923378"/>
            <a:ext cx="2486691" cy="293954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/>
          <p:nvPr>
            <p:ph idx="1" type="body"/>
          </p:nvPr>
        </p:nvSpPr>
        <p:spPr>
          <a:xfrm>
            <a:off x="695138" y="1300272"/>
            <a:ext cx="9417423" cy="41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RF-03 – Registro de Ventas Automatizado:</a:t>
            </a:r>
            <a:endParaRPr b="1"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Según la encuesta realizada al cliente, se requiere agilizar los procesos de venta y mejorar el control de las operaciones. Además, la observación evidenció que el proceso de ventas es manual y poco eficiente, generando retrasos y posibles errores.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Como: </a:t>
            </a: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Vendedor / Cajero</a:t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Quiero: </a:t>
            </a: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registrar ventas de forma rápida y automatizada</a:t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Para: </a:t>
            </a: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reducir tiempos de atención y mejorar la experiencia del cliente</a:t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r>
              <a:rPr b="1"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Condiciones:</a:t>
            </a:r>
            <a:endParaRPr b="1"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</a:pP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permitir registrar ventas mediante selección o escaneo de productos.</a:t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</a:pP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calcular automáticamente el total de la venta.</a:t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</a:pP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permitir seleccionar métodos de pago.</a:t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</a:pP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generar una factura por cada venta realizada.</a:t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</a:pPr>
            <a: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El sistema debe almacenar el historial de ventas.</a:t>
            </a:r>
            <a:b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581907" y="2499543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6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6"/>
          <p:cNvSpPr txBox="1"/>
          <p:nvPr>
            <p:ph type="title"/>
          </p:nvPr>
        </p:nvSpPr>
        <p:spPr>
          <a:xfrm>
            <a:off x="695137" y="772571"/>
            <a:ext cx="5033309" cy="527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Historias de Usuario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/>
          <p:nvPr>
            <p:ph idx="1" type="body"/>
          </p:nvPr>
        </p:nvSpPr>
        <p:spPr>
          <a:xfrm>
            <a:off x="734799" y="318191"/>
            <a:ext cx="4325098" cy="159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RF Relacionados: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None/>
            </a:pPr>
            <a:br>
              <a:rPr lang="es-CO"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17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581907" y="2460046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7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8" name="Google Shape;228;p17"/>
          <p:cNvGraphicFramePr/>
          <p:nvPr/>
        </p:nvGraphicFramePr>
        <p:xfrm>
          <a:off x="600572" y="11164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1855900"/>
                <a:gridCol w="3421125"/>
              </a:tblGrid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 – 3.1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REGISTRO DE VENTAS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REQUISITO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FUNCIONAL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2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sistema debe permitir registrar ventas mediante la selección o escaneo de productos, calculando automáticamente los valores correspondientes y generando la factura de la transacción realizada.</a:t>
                      </a:r>
                      <a:endParaRPr b="0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ALTA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9" name="Google Shape;229;p17"/>
          <p:cNvGraphicFramePr/>
          <p:nvPr/>
        </p:nvGraphicFramePr>
        <p:xfrm>
          <a:off x="3524969" y="4003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1515250"/>
                <a:gridCol w="3458450"/>
              </a:tblGrid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 – 3.4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HISTORIAL DE FACTURAS 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REQUISITO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FUNCIONAL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sistema debe permitir almacenar, consultar y visualizar el historial de facturas generadas, facilitando el seguimiento de las ventas realizadas y el acceso a información histórica de las transacciones.</a:t>
                      </a:r>
                      <a:endParaRPr b="0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ALTA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0" name="Google Shape;230;p17"/>
          <p:cNvGraphicFramePr/>
          <p:nvPr/>
        </p:nvGraphicFramePr>
        <p:xfrm>
          <a:off x="6101466" y="111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1894725"/>
                <a:gridCol w="3382300"/>
              </a:tblGrid>
              <a:tr h="2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RF – 3.2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METODOS DE PAGO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0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TIPO DE REQUISITO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FUNCIONAL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sistema debe permitir seleccionar y gestionar diferentes métodos de pago durante el proceso de venta, facilitando el registro adecuado de las transacciones comerciales.</a:t>
                      </a:r>
                      <a:endParaRPr b="0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PRIORIDAD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s-CO" sz="1500" u="none" cap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ALTA</a:t>
                      </a:r>
                      <a:endParaRPr b="1" i="0" sz="1500" u="none" cap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"/>
          <p:cNvSpPr txBox="1"/>
          <p:nvPr>
            <p:ph type="title"/>
          </p:nvPr>
        </p:nvSpPr>
        <p:spPr>
          <a:xfrm>
            <a:off x="899627" y="655012"/>
            <a:ext cx="4935071" cy="8857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Matriz Stakeholder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6" name="Google Shape;236;p18"/>
          <p:cNvGraphicFramePr/>
          <p:nvPr/>
        </p:nvGraphicFramePr>
        <p:xfrm>
          <a:off x="899627" y="15407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302700"/>
                <a:gridCol w="372750"/>
                <a:gridCol w="751875"/>
                <a:gridCol w="717050"/>
                <a:gridCol w="1540175"/>
                <a:gridCol w="1562875"/>
                <a:gridCol w="1598750"/>
              </a:tblGrid>
              <a:tr h="27090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       HIGH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7FF31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INTERES</a:t>
                      </a:r>
                      <a:endParaRPr b="1" i="0" sz="16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 SATISFACER</a:t>
                      </a:r>
                      <a:endParaRPr b="1" i="0" sz="16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8D9F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    INVOLUCRAR  </a:t>
                      </a:r>
                      <a:endParaRPr b="1" i="0" sz="16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 hMerge="1"/>
              </a:tr>
              <a:tr h="541800">
                <a:tc vMerge="1"/>
                <a:tc vMerge="1"/>
                <a:tc gridSpan="2"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cap="none" strike="noStrike">
                          <a:solidFill>
                            <a:schemeClr val="accent5"/>
                          </a:solidFill>
                        </a:rPr>
                        <a:t> Contador / Área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cap="none" strike="noStrike">
                          <a:solidFill>
                            <a:schemeClr val="accent5"/>
                          </a:solidFill>
                        </a:rPr>
                        <a:t> financiera</a:t>
                      </a:r>
                      <a:endParaRPr b="1" i="0" sz="16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8D9F">
                        <a:alpha val="40000"/>
                      </a:srgbClr>
                    </a:solidFill>
                  </a:tcPr>
                </a:tc>
                <a:tc rowSpan="3" h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cap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Control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 financiero</a:t>
                      </a:r>
                      <a:endParaRPr b="1" i="0" sz="16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8D9F">
                        <a:alpha val="40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cap="none" strike="noStrike">
                          <a:solidFill>
                            <a:schemeClr val="accent5"/>
                          </a:solidFill>
                        </a:rPr>
                        <a:t> Leandro Cáceres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cap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endParaRPr/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cap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Dueño / Cliente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cap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</a:tr>
              <a:tr h="718075">
                <a:tc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cap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1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gridSpan="2" vMerge="1"/>
                <a:tc hMerge="1" vMerge="1"/>
                <a:tc vMerge="1"/>
                <a:tc vMerge="1"/>
                <a:tc vMerge="1"/>
              </a:tr>
              <a:tr h="527225">
                <a:tc vMerge="1"/>
                <a:tc vMerge="1"/>
                <a:tc gridSpan="2" vMerge="1"/>
                <a:tc hMerge="1" vMerge="1"/>
                <a:tc gridSpan="2"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-CO" sz="2000" u="none" cap="none" strike="noStrike">
                          <a:solidFill>
                            <a:schemeClr val="accent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</a:t>
                      </a:r>
                      <a:r>
                        <a:rPr b="1" i="0" lang="es-CO" sz="2400" u="none" cap="none" strike="noStrike">
                          <a:solidFill>
                            <a:schemeClr val="accent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Equipo de Desarrollo </a:t>
                      </a:r>
                      <a:endParaRPr b="1" i="0" sz="20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3" hMerge="1"/>
                <a:tc vMerge="1"/>
              </a:tr>
              <a:tr h="421350">
                <a:tc vMerge="1"/>
                <a:tc v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 MONITOREAR</a:t>
                      </a:r>
                      <a:endParaRPr b="1" i="0" sz="16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5959"/>
                    </a:solidFill>
                  </a:tcPr>
                </a:tc>
                <a:tc hMerge="1"/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cap="none" strike="noStrike">
                          <a:solidFill>
                            <a:schemeClr val="accent5"/>
                          </a:solidFill>
                        </a:rPr>
                        <a:t> COMUNICAR</a:t>
                      </a:r>
                      <a:endParaRPr b="0" i="0" sz="1400" u="none" cap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AFFF"/>
                    </a:solidFill>
                  </a:tcPr>
                </a:tc>
              </a:tr>
              <a:tr h="229275">
                <a:tc vMerge="1"/>
                <a:tc vMerge="1"/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cap="none" strike="noStrike">
                          <a:solidFill>
                            <a:schemeClr val="accent5"/>
                          </a:solidFill>
                        </a:rPr>
                        <a:t> Proveedores</a:t>
                      </a:r>
                      <a:endParaRPr sz="1800"/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tc rowSpan="2" hMerge="1"/>
                <a:tc gridSpan="2" vMerge="1"/>
                <a:tc hMerge="1" vMerge="1"/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Usuario del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 sistema (POS)</a:t>
                      </a:r>
                      <a:endParaRPr b="1" sz="1800"/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>
                        <a:alpha val="20000"/>
                      </a:srgbClr>
                    </a:solidFill>
                  </a:tcPr>
                </a:tc>
              </a:tr>
              <a:tr h="541800">
                <a:tc vMerge="1"/>
                <a:tc vMerge="1"/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Suministro de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 productos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Vendedor / Cajero 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>
                        <a:alpha val="20000"/>
                      </a:srgbClr>
                    </a:solidFill>
                  </a:tcPr>
                </a:tc>
                <a:tc vMerge="1"/>
              </a:tr>
              <a:tr h="5418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LOW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 vMerge="1"/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Clientes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Compradores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 finales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Encargado de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inventario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Gestión de stock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>
                        <a:alpha val="20000"/>
                      </a:srgbClr>
                    </a:solidFill>
                  </a:tcPr>
                </a:tc>
              </a:tr>
              <a:tr h="281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200" u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1" i="0" sz="12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INFLUENCIA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 hMerge="1"/>
                <a:tc hMerge="1"/>
                <a:tc hMerge="1"/>
                <a:tc hMerge="1"/>
              </a:tr>
              <a:tr h="281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100" u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0" i="0" sz="11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b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LOW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 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HIGH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7FF31"/>
                    </a:solidFill>
                  </a:tcPr>
                </a:tc>
              </a:tr>
            </a:tbl>
          </a:graphicData>
        </a:graphic>
      </p:graphicFrame>
      <p:cxnSp>
        <p:nvCxnSpPr>
          <p:cNvPr id="237" name="Google Shape;237;p18"/>
          <p:cNvCxnSpPr/>
          <p:nvPr/>
        </p:nvCxnSpPr>
        <p:spPr>
          <a:xfrm>
            <a:off x="3518533" y="5749234"/>
            <a:ext cx="1889125" cy="0"/>
          </a:xfrm>
          <a:prstGeom prst="straightConnector1">
            <a:avLst/>
          </a:prstGeom>
          <a:noFill/>
          <a:ln cap="flat" cmpd="sng" w="19050">
            <a:solidFill>
              <a:srgbClr val="0C0C0C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38" name="Google Shape;238;p18"/>
          <p:cNvCxnSpPr/>
          <p:nvPr/>
        </p:nvCxnSpPr>
        <p:spPr>
          <a:xfrm rot="10800000">
            <a:off x="1057569" y="2785175"/>
            <a:ext cx="0" cy="1323509"/>
          </a:xfrm>
          <a:prstGeom prst="straightConnector1">
            <a:avLst/>
          </a:prstGeom>
          <a:noFill/>
          <a:ln cap="flat" cmpd="sng" w="19050">
            <a:solidFill>
              <a:srgbClr val="0C0C0C"/>
            </a:solidFill>
            <a:prstDash val="solid"/>
            <a:miter lim="8000"/>
            <a:headEnd len="sm" w="sm" type="none"/>
            <a:tailEnd len="med" w="med" type="triangle"/>
          </a:ln>
        </p:spPr>
      </p:cxnSp>
      <p:graphicFrame>
        <p:nvGraphicFramePr>
          <p:cNvPr id="239" name="Google Shape;239;p18"/>
          <p:cNvGraphicFramePr/>
          <p:nvPr/>
        </p:nvGraphicFramePr>
        <p:xfrm>
          <a:off x="3071911" y="3098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{6BBCEF59-BA91-40DF-AA9A-E2E2839CA868}</a:tableStyleId>
              </a:tblPr>
              <a:tblGrid>
                <a:gridCol w="1525500"/>
                <a:gridCol w="1525500"/>
              </a:tblGrid>
              <a:tr h="501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58D9F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>
                        <a:alpha val="20000"/>
                      </a:srgbClr>
                    </a:solidFill>
                  </a:tcPr>
                </a:tc>
              </a:tr>
              <a:tr h="64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>
                        <a:alpha val="1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 txBox="1"/>
          <p:nvPr>
            <p:ph type="title"/>
          </p:nvPr>
        </p:nvSpPr>
        <p:spPr>
          <a:xfrm>
            <a:off x="972796" y="351072"/>
            <a:ext cx="9381564" cy="6446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Técnica de Priorización de Requisitos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9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581907" y="2499543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19"/>
          <p:cNvGraphicFramePr/>
          <p:nvPr/>
        </p:nvGraphicFramePr>
        <p:xfrm>
          <a:off x="264398" y="1209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1978925"/>
                <a:gridCol w="1890550"/>
                <a:gridCol w="1238175"/>
                <a:gridCol w="1238175"/>
                <a:gridCol w="1238175"/>
              </a:tblGrid>
              <a:tr h="4602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Requisito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Módulo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Valor de Negocio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Urgencia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Prioridad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3.1 Registro de Ventas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Ventas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25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2.3 Movimientos de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Inventario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Inventario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25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6.5 Control de Acceso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Seguridad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25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3.2 Métodos de Pago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Ventas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20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3.4 Historial de Facturas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Ventas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20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2.7 Registro de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Productos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Inventario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20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65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4.3 Registro de Facturas</a:t>
                      </a:r>
                      <a:endParaRPr b="1" sz="1400" u="none" strike="noStrike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de Compra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Compras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20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5.5 Métodos de Pago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Configuración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25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4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6.2 Asignación de Roles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Seguridad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5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25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65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RF 3.3 Registro de Clientes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 en Venta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Ventas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4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16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7FF31"/>
                    </a:solidFill>
                  </a:tcPr>
                </a:tc>
              </a:tr>
            </a:tbl>
          </a:graphicData>
        </a:graphic>
      </p:graphicFrame>
      <p:pic>
        <p:nvPicPr>
          <p:cNvPr id="248" name="Google Shape;248;p19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9" name="Google Shape;249;p19"/>
          <p:cNvGraphicFramePr/>
          <p:nvPr/>
        </p:nvGraphicFramePr>
        <p:xfrm>
          <a:off x="8014632" y="16894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{F9993BCE-FE73-44CA-B3C8-F17BECD32F21}</a:tableStyleId>
              </a:tblPr>
              <a:tblGrid>
                <a:gridCol w="492875"/>
                <a:gridCol w="1748125"/>
                <a:gridCol w="1766050"/>
              </a:tblGrid>
              <a:tr h="40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>
                          <a:solidFill>
                            <a:schemeClr val="accent5"/>
                          </a:solidFill>
                        </a:rPr>
                        <a:t>#</a:t>
                      </a:r>
                      <a:endParaRPr sz="105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VALOR DE NEGOCIO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URGENCIA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694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1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Impacto muy bajo para la empresa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No es urgente, puede esperar mucho tiempo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608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2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Impacto bajo, aporta poca funcionalidad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Poco urgente, puede desarrollarse después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860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3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Impacto medio, mejora procesos importantes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Urgencia moderada, recomendable implementarlo pronto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897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4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Impacto alto, necesario para el funcionamiento eficiente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Muy urgente, afecta procesos importantes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727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5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Impacto crítico, indispensable para el sistema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>
                          <a:solidFill>
                            <a:schemeClr val="accent5"/>
                          </a:solidFill>
                        </a:rPr>
                        <a:t>Urgencia crítica, debe implementarse inmediatamente</a:t>
                      </a:r>
                      <a:endParaRPr sz="1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0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4438470" y="2239567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83845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6" name="Google Shape;256;p20"/>
          <p:cNvGraphicFramePr/>
          <p:nvPr/>
        </p:nvGraphicFramePr>
        <p:xfrm>
          <a:off x="332157" y="735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{A3AACE3A-77A5-4AFF-BC22-1D2F96F84747}</a:tableStyleId>
              </a:tblPr>
              <a:tblGrid>
                <a:gridCol w="1773650"/>
                <a:gridCol w="1346350"/>
                <a:gridCol w="2952850"/>
                <a:gridCol w="3181025"/>
                <a:gridCol w="1018575"/>
              </a:tblGrid>
              <a:tr h="7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Módulo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600" u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Puntaje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Descripción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Conclusión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600" u="none" strike="noStrike">
                          <a:solidFill>
                            <a:schemeClr val="accent5"/>
                          </a:solidFill>
                        </a:rPr>
                        <a:t>Calificación</a:t>
                      </a:r>
                      <a:endParaRPr b="1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</a:tr>
              <a:tr h="723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Gestión de Ventas (POS)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4.9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Automatiza ventas, pagos y facturación.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Módulo crítico para la operación comercial.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 u="none" strike="noStrike">
                          <a:solidFill>
                            <a:schemeClr val="accent5"/>
                          </a:solidFill>
                        </a:rPr>
                        <a:t>MUY ALTA</a:t>
                      </a:r>
                      <a:endParaRPr b="1" i="0" sz="11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82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Gestión de Inventario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4.7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Controla productos, stock y movimientos.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Garantiza control y actualización del inventario.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 u="none" strike="noStrike">
                          <a:solidFill>
                            <a:schemeClr val="accent5"/>
                          </a:solidFill>
                        </a:rPr>
                        <a:t>MUY ALTA</a:t>
                      </a:r>
                      <a:endParaRPr b="1" i="0" sz="11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544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Gestión de Seguridad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4.5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Administra usuarios, roles y permisos.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Protege el acceso y la información del sistema.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 u="none" strike="noStrike">
                          <a:solidFill>
                            <a:schemeClr val="accent5"/>
                          </a:solidFill>
                        </a:rPr>
                        <a:t>ALTA</a:t>
                      </a:r>
                      <a:endParaRPr b="1" i="0" sz="11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C00"/>
                    </a:solidFill>
                  </a:tcPr>
                </a:tc>
              </a:tr>
              <a:tr h="564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Gestión de Compras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4.4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Gestiona proveedores, compras y pagos.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Facilita el abastecimiento y control financiero.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 u="none" strike="noStrike">
                          <a:solidFill>
                            <a:schemeClr val="accent5"/>
                          </a:solidFill>
                        </a:rPr>
                        <a:t>ALTA</a:t>
                      </a:r>
                      <a:endParaRPr b="1" i="0" sz="11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C00"/>
                    </a:solidFill>
                  </a:tcPr>
                </a:tc>
              </a:tr>
              <a:tr h="564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Gestión de Reportes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O" sz="1400" u="none" strike="noStrike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3.9</a:t>
                      </a:r>
                      <a:endParaRPr/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Genera reportes y análisis operativos.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Apoya la toma de decisiones del negocio</a:t>
                      </a:r>
                      <a:endParaRPr b="0" sz="16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 u="none" strike="noStrike">
                          <a:solidFill>
                            <a:schemeClr val="accent5"/>
                          </a:solidFill>
                        </a:rPr>
                        <a:t>MEDIA</a:t>
                      </a:r>
                      <a:endParaRPr b="1" i="0" sz="11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629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Gestión de Configuración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400" u="none" strike="noStrike">
                          <a:solidFill>
                            <a:schemeClr val="accent5"/>
                          </a:solidFill>
                        </a:rPr>
                        <a:t>3.7</a:t>
                      </a:r>
                      <a:endParaRPr b="1" i="0" sz="14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Configura parámetros generales del sistema.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CO" sz="1600">
                          <a:solidFill>
                            <a:schemeClr val="accent5"/>
                          </a:solidFill>
                        </a:rPr>
                        <a:t>Permite adaptar el sistema a diferentes empresas.</a:t>
                      </a:r>
                      <a:endParaRPr b="0" i="0" sz="1600" u="none" strike="noStrike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100" u="none" strike="noStrike">
                          <a:solidFill>
                            <a:schemeClr val="accent5"/>
                          </a:solidFill>
                        </a:rPr>
                        <a:t>MEDIA</a:t>
                      </a:r>
                      <a:endParaRPr b="1" i="0" sz="11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650" marB="0" marR="6650" marL="6650" anchor="ctr">
                    <a:lnL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57" name="Google Shape;257;p20"/>
          <p:cNvSpPr txBox="1"/>
          <p:nvPr>
            <p:ph type="title"/>
          </p:nvPr>
        </p:nvSpPr>
        <p:spPr>
          <a:xfrm>
            <a:off x="748555" y="134470"/>
            <a:ext cx="9399494" cy="662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Conclusión General de la Priorización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8" name="Google Shape;258;p2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4438470" y="2249727"/>
            <a:ext cx="3028186" cy="24832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9" name="Google Shape;259;p20"/>
          <p:cNvGraphicFramePr/>
          <p:nvPr/>
        </p:nvGraphicFramePr>
        <p:xfrm>
          <a:off x="719721" y="47431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{102A8042-4A8A-462A-865D-7C8044BA2339}</a:tableStyleId>
              </a:tblPr>
              <a:tblGrid>
                <a:gridCol w="1143275"/>
                <a:gridCol w="1143275"/>
                <a:gridCol w="1143275"/>
                <a:gridCol w="1143275"/>
                <a:gridCol w="1143275"/>
                <a:gridCol w="1143275"/>
                <a:gridCol w="1116325"/>
                <a:gridCol w="11987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1.0 – 2.9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BAJA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3.0 – 3.9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MEDIA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4.0 – 4.5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ALTA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4.6 – 5.0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/>
                        <a:t>MUY ALTA</a:t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0" name="Google Shape;260;p20"/>
          <p:cNvGraphicFramePr/>
          <p:nvPr/>
        </p:nvGraphicFramePr>
        <p:xfrm>
          <a:off x="719721" y="52012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{102A8042-4A8A-462A-865D-7C8044BA2339}</a:tableStyleId>
              </a:tblPr>
              <a:tblGrid>
                <a:gridCol w="2274475"/>
                <a:gridCol w="2294975"/>
                <a:gridCol w="2294975"/>
                <a:gridCol w="2310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/>
                        <a:t>El módulo tiene poca relevancia para la operación del sistema.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/>
                        <a:t>El módulo es importante, pero el sistema puede operar parcialmente sin él.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/>
                        <a:t>El módulo tiene gran impacto en el funcionamiento y eficiencia del sistema.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6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200"/>
                        <a:t>El módulo es crítico e indispensable para la operación principal del negocio.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1" name="Google Shape;261;p20"/>
          <p:cNvGraphicFramePr/>
          <p:nvPr/>
        </p:nvGraphicFramePr>
        <p:xfrm>
          <a:off x="398931" y="59284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{6BBCEF59-BA91-40DF-AA9A-E2E2839CA868}</a:tableStyleId>
              </a:tblPr>
              <a:tblGrid>
                <a:gridCol w="1639950"/>
                <a:gridCol w="6872050"/>
              </a:tblGrid>
              <a:tr h="36175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400">
                          <a:solidFill>
                            <a:schemeClr val="accent5"/>
                          </a:solidFill>
                        </a:rPr>
                        <a:t>Puntaje  =</a:t>
                      </a:r>
                      <a:endParaRPr b="1" sz="2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400">
                          <a:solidFill>
                            <a:schemeClr val="accent5"/>
                          </a:solidFill>
                        </a:rPr>
                        <a:t>   (Total Suma de Prioridad de Cada Modulo)  </a:t>
                      </a:r>
                      <a:endParaRPr b="1" sz="2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1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400">
                          <a:solidFill>
                            <a:schemeClr val="accent5"/>
                          </a:solidFill>
                        </a:rPr>
                        <a:t>(Total Funciones del Modulo )</a:t>
                      </a:r>
                      <a:endParaRPr b="1" sz="2400">
                        <a:solidFill>
                          <a:schemeClr val="accent5"/>
                        </a:solidFill>
                      </a:endParaRPr>
                    </a:p>
                  </a:txBody>
                  <a:tcPr marT="45725" marB="45725" marR="91450" marL="91450"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type="title"/>
          </p:nvPr>
        </p:nvSpPr>
        <p:spPr>
          <a:xfrm>
            <a:off x="2897542" y="109789"/>
            <a:ext cx="639691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Requerimiento Funcional</a:t>
            </a:r>
            <a:endParaRPr/>
          </a:p>
        </p:txBody>
      </p:sp>
      <p:pic>
        <p:nvPicPr>
          <p:cNvPr id="267" name="Google Shape;267;p21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9" name="Google Shape;269;p21"/>
          <p:cNvGraphicFramePr/>
          <p:nvPr/>
        </p:nvGraphicFramePr>
        <p:xfrm>
          <a:off x="1290320" y="122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2306325"/>
                <a:gridCol w="6471925"/>
              </a:tblGrid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ID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 RF - 3.1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NOMBRE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 REGISTRAR VENTA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TIPO DE REQUISITO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 FUNCIONAL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DESCRIPCION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 El sistema debe permitir registrar ventas en el punto de venta (POS) mediante la selección o escaneo de productos, gestionando de forma automática la información de cada transacción realizada.</a:t>
                      </a:r>
                      <a:endParaRPr b="0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2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CRITERIO DE ACEPTACION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600"/>
                        <a:buFont typeface="Arial"/>
                        <a:buNone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La información registrada debe incluir: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ID de la transacción.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Nombre del Producto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Cantidad por producto.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Total de la venta.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Método de pago utilizado.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Fecha y hora de la transacción.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Usuario (cajero) que realiza la venta.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El sistema debe generar una factura por cada venta realizada.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La venta debe actualizar automáticamente el inventario.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El sistema debe permitir asociar un cliente a la venta.</a:t>
                      </a:r>
                      <a:endParaRPr b="0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PRIORIDAD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MUY ALTA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2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76" name="Google Shape;276;p22"/>
          <p:cNvGraphicFramePr/>
          <p:nvPr/>
        </p:nvGraphicFramePr>
        <p:xfrm>
          <a:off x="1290320" y="122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{6BBCEF59-BA91-40DF-AA9A-E2E2839CA868}</a:tableStyleId>
              </a:tblPr>
              <a:tblGrid>
                <a:gridCol w="2306325"/>
                <a:gridCol w="6573525"/>
              </a:tblGrid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ID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 RNF - 02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NOMBRE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 RENDIMIENTO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TIPO DE REQUISITO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 NO FUNCIONAL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DESCRIPCION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 u="none" strike="noStrike">
                          <a:solidFill>
                            <a:schemeClr val="accent5"/>
                          </a:solidFill>
                        </a:rPr>
                        <a:t> El sistema debe garantizar un alto rendimiento en las operaciones, especialmente en el registro de ventas, asegurando tiempos de respuesta rápidos durante el uso del sistema.</a:t>
                      </a:r>
                      <a:endParaRPr b="0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b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2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CRITERIO DE ACEPTACION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El sistema debe responder a las operaciones en un tiempo máximo de 3 segundos.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El sistema debe mantener tiempos de respuesta óptimos incluso con múltiples usuarios simultáneos.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El rendimiento no debe degradarse significativamente durante picos de uso.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Las consultas y registros en la base de datos deben ejecutarse de manera eficiente.</a:t>
                      </a:r>
                      <a:endParaRPr/>
                    </a:p>
                    <a:p>
                      <a:pPr indent="-285750" lvl="0" marL="28575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600"/>
                        <a:buFont typeface="Arial"/>
                        <a:buChar char="•"/>
                      </a:pPr>
                      <a:r>
                        <a:rPr lang="es-CO" sz="1600" u="none" strike="noStrike">
                          <a:solidFill>
                            <a:schemeClr val="accent5"/>
                          </a:solidFill>
                        </a:rPr>
                        <a:t>El sistema debe optimizar el procesamiento de transacciones en el punto de venta (POS).</a:t>
                      </a:r>
                      <a:endParaRPr b="0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 u="none" strike="noStrike">
                          <a:solidFill>
                            <a:schemeClr val="accent5"/>
                          </a:solidFill>
                        </a:rPr>
                        <a:t>PRIORIDAD</a:t>
                      </a:r>
                      <a:endParaRPr b="1" i="0" sz="20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AA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1800" u="none" strike="noStrike">
                          <a:solidFill>
                            <a:schemeClr val="accent5"/>
                          </a:solidFill>
                        </a:rPr>
                        <a:t> ALTA</a:t>
                      </a:r>
                      <a:endParaRPr b="1" i="0" sz="1800" u="none" strike="noStrike">
                        <a:solidFill>
                          <a:schemeClr val="accent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5" marB="0" marR="7625" marL="7625" anchor="ctr">
                    <a:lnL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6C00"/>
                    </a:solidFill>
                  </a:tcPr>
                </a:tc>
              </a:tr>
            </a:tbl>
          </a:graphicData>
        </a:graphic>
      </p:graphicFrame>
      <p:sp>
        <p:nvSpPr>
          <p:cNvPr id="277" name="Google Shape;277;p22"/>
          <p:cNvSpPr txBox="1"/>
          <p:nvPr>
            <p:ph type="title"/>
          </p:nvPr>
        </p:nvSpPr>
        <p:spPr>
          <a:xfrm>
            <a:off x="2074582" y="109789"/>
            <a:ext cx="752661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000"/>
              <a:buFont typeface="Arial"/>
              <a:buNone/>
            </a:pPr>
            <a:r>
              <a:rPr b="1" lang="es-CO" sz="4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equerimiento</a:t>
            </a:r>
            <a:r>
              <a:rPr b="1" lang="es-CO" sz="4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NO Funcional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/>
        </p:nvSpPr>
        <p:spPr>
          <a:xfrm>
            <a:off x="1357085" y="2640764"/>
            <a:ext cx="9477829" cy="1576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i="0" lang="es-CO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III. DISEÑO</a:t>
            </a:r>
            <a:endParaRPr b="1" i="0" sz="6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type="title"/>
          </p:nvPr>
        </p:nvSpPr>
        <p:spPr>
          <a:xfrm>
            <a:off x="694765" y="35859"/>
            <a:ext cx="120440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24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853535" y="180486"/>
            <a:ext cx="1006739" cy="991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747" y="1316695"/>
            <a:ext cx="5176203" cy="4295212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290" name="Google Shape;29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212196"/>
            <a:ext cx="5358765" cy="4399712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291" name="Google Shape;291;p24"/>
          <p:cNvSpPr/>
          <p:nvPr/>
        </p:nvSpPr>
        <p:spPr>
          <a:xfrm>
            <a:off x="591671" y="5889812"/>
            <a:ext cx="10685929" cy="573741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1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https://app.diagrams.net/#G1zsjM8CkM5pNbRYq9Vt0dityL5cinlMFL#%7B%22pageId%22%3A%22cB_vHiHhmkbrAM2H_2q5%22%7D</a:t>
            </a:r>
            <a:endParaRPr/>
          </a:p>
        </p:txBody>
      </p:sp>
      <p:pic>
        <p:nvPicPr>
          <p:cNvPr id="292" name="Google Shape;292;p24"/>
          <p:cNvPicPr preferRelativeResize="0"/>
          <p:nvPr/>
        </p:nvPicPr>
        <p:blipFill rotWithShape="1">
          <a:blip r:embed="rId6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 txBox="1"/>
          <p:nvPr>
            <p:ph type="title"/>
          </p:nvPr>
        </p:nvSpPr>
        <p:spPr>
          <a:xfrm>
            <a:off x="838200" y="318191"/>
            <a:ext cx="5257800" cy="989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Casos de Usos tablas</a:t>
            </a:r>
            <a:endParaRPr/>
          </a:p>
        </p:txBody>
      </p:sp>
      <p:pic>
        <p:nvPicPr>
          <p:cNvPr id="298" name="Google Shape;298;p25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5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5"/>
          <p:cNvPicPr preferRelativeResize="0"/>
          <p:nvPr/>
        </p:nvPicPr>
        <p:blipFill rotWithShape="1">
          <a:blip r:embed="rId5">
            <a:alphaModFix/>
          </a:blip>
          <a:srcRect b="0" l="2216" r="0" t="0"/>
          <a:stretch/>
        </p:blipFill>
        <p:spPr>
          <a:xfrm>
            <a:off x="838200" y="1111340"/>
            <a:ext cx="8301445" cy="5300268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6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853535" y="180486"/>
            <a:ext cx="1006739" cy="991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6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>
            <p:ph type="title"/>
          </p:nvPr>
        </p:nvSpPr>
        <p:spPr>
          <a:xfrm>
            <a:off x="695138" y="609784"/>
            <a:ext cx="6306669" cy="645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Metodología Ágil Scrum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6"/>
          <p:cNvSpPr txBox="1"/>
          <p:nvPr>
            <p:ph idx="1" type="body"/>
          </p:nvPr>
        </p:nvSpPr>
        <p:spPr>
          <a:xfrm>
            <a:off x="695138" y="1261223"/>
            <a:ext cx="10158397" cy="4186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¿Por qué Scrum?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Permitió organizar el desarrollo de POSInnovate de forma incremental.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Facilitó la gestión de requisitos y el seguimiento del avance.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Mejoró la comunicación y distribución de tareas del equipo.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Roles del Proyecto: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Product Owner: </a:t>
            </a: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Cliente (Mundo Carnes).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Development Team: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Brayan Sneyder Casadiego Rojas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Michaell Andrey Llanes Ramírez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Daniel Andrés Palencia Castillo </a:t>
            </a:r>
            <a:endParaRPr/>
          </a:p>
          <a:p>
            <a:pPr indent="-158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7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853535" y="180486"/>
            <a:ext cx="1006739" cy="991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/>
          <p:cNvPicPr preferRelativeResize="0"/>
          <p:nvPr/>
        </p:nvPicPr>
        <p:blipFill rotWithShape="1">
          <a:blip r:embed="rId4">
            <a:alphaModFix/>
          </a:blip>
          <a:srcRect b="46066" l="0" r="0" t="1020"/>
          <a:stretch/>
        </p:blipFill>
        <p:spPr>
          <a:xfrm>
            <a:off x="629771" y="2813264"/>
            <a:ext cx="9242612" cy="2407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7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 txBox="1"/>
          <p:nvPr/>
        </p:nvSpPr>
        <p:spPr>
          <a:xfrm>
            <a:off x="629771" y="1171575"/>
            <a:ext cx="924261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Esta tabla muestra los requerimientos funcionales gestionados en Jira. Cada actividad corresponde a una funcionalidad del sistema y su estado evidencia que fueron desarrolladas y completadas exitosamente durante los sprints del proyecto.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7"/>
          <p:cNvSpPr txBox="1"/>
          <p:nvPr>
            <p:ph type="title"/>
          </p:nvPr>
        </p:nvSpPr>
        <p:spPr>
          <a:xfrm>
            <a:off x="695138" y="609784"/>
            <a:ext cx="6306669" cy="645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Metodología Ágil Scrum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8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842" y="1325048"/>
            <a:ext cx="10232315" cy="4375543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324" name="Google Shape;324;p28"/>
          <p:cNvSpPr txBox="1"/>
          <p:nvPr/>
        </p:nvSpPr>
        <p:spPr>
          <a:xfrm>
            <a:off x="979842" y="2229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Mockup de Dashboard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28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9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280" y="1249221"/>
            <a:ext cx="9692640" cy="5007258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332" name="Google Shape;332;p29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/>
        </p:nvSpPr>
        <p:spPr>
          <a:xfrm>
            <a:off x="979842" y="22294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Mockup de Inventario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74" y="1030942"/>
            <a:ext cx="11746210" cy="563375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>
            <p:ph type="title"/>
          </p:nvPr>
        </p:nvSpPr>
        <p:spPr>
          <a:xfrm>
            <a:off x="730623" y="1178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/>
          </a:p>
        </p:txBody>
      </p:sp>
      <p:pic>
        <p:nvPicPr>
          <p:cNvPr id="340" name="Google Shape;340;p30"/>
          <p:cNvPicPr preferRelativeResize="0"/>
          <p:nvPr/>
        </p:nvPicPr>
        <p:blipFill rotWithShape="1">
          <a:blip r:embed="rId4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0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/>
        </p:nvSpPr>
        <p:spPr>
          <a:xfrm>
            <a:off x="838200" y="1924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Diccionario de Datos</a:t>
            </a:r>
            <a:endParaRPr/>
          </a:p>
        </p:txBody>
      </p:sp>
      <p:pic>
        <p:nvPicPr>
          <p:cNvPr id="347" name="Google Shape;347;p31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3035" y="1138767"/>
            <a:ext cx="8175812" cy="478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1"/>
          <p:cNvPicPr preferRelativeResize="0"/>
          <p:nvPr/>
        </p:nvPicPr>
        <p:blipFill rotWithShape="1">
          <a:blip r:embed="rId5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784668" y="318191"/>
            <a:ext cx="923111" cy="90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2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306" y="1183952"/>
            <a:ext cx="8117541" cy="4731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2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734307" y="267226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 txBox="1"/>
          <p:nvPr/>
        </p:nvSpPr>
        <p:spPr>
          <a:xfrm>
            <a:off x="838200" y="1924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Diccionario de Datos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/>
          <p:nvPr/>
        </p:nvSpPr>
        <p:spPr>
          <a:xfrm>
            <a:off x="1357085" y="2640764"/>
            <a:ext cx="9477829" cy="1576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-CO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IV. DESARROLLO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4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1134196" y="180486"/>
            <a:ext cx="726078" cy="7147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69" name="Google Shape;369;p34"/>
          <p:cNvGraphicFramePr/>
          <p:nvPr/>
        </p:nvGraphicFramePr>
        <p:xfrm>
          <a:off x="672352" y="10399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{8AB4B6C1-AD0A-471A-826E-DB090AED0D78}</a:tableStyleId>
              </a:tblPr>
              <a:tblGrid>
                <a:gridCol w="1479175"/>
                <a:gridCol w="2474250"/>
                <a:gridCol w="6893850"/>
              </a:tblGrid>
              <a:tr h="35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LOGO</a:t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</a:t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203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Herramienta de desarrollo frontend que permite crear y ejecutar aplicaciones web de forma rápida, optimizando los tiempos de compilación y despliegue.</a:t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3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React</a:t>
                      </a:r>
                      <a:endParaRPr b="1" sz="20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Biblioteca de JavaScript utilizada para desarrollar la interfaz de usuario de POSInnovate mediante componentes reutilizables y una experiencia dinámica para el usuario.</a:t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3465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JavaScript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Lenguaje de programación utilizado para implementar la lógica del lado del cliente y diversas funcionalidades interactivas dentro de la aplicación.</a:t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174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Node.js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Entorno de ejecución basado en JavaScript utilizado para desarrollar la lógica del servidor y los servicios backend de POSInnovate.</a:t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70" name="Google Shape;37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4031" y="3987354"/>
            <a:ext cx="2198322" cy="1104599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371" name="Google Shape;37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4031" y="1540777"/>
            <a:ext cx="2248804" cy="924517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372" name="Google Shape;37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8790" y="5364358"/>
            <a:ext cx="2248804" cy="924516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373" name="Google Shape;37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8790" y="2710804"/>
            <a:ext cx="2223563" cy="1104598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374" name="Google Shape;374;p34"/>
          <p:cNvSpPr txBox="1"/>
          <p:nvPr/>
        </p:nvSpPr>
        <p:spPr>
          <a:xfrm>
            <a:off x="4430719" y="245706"/>
            <a:ext cx="3703830" cy="89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Software Usado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1134196" y="180486"/>
            <a:ext cx="726078" cy="7147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0" name="Google Shape;380;p35"/>
          <p:cNvGraphicFramePr/>
          <p:nvPr/>
        </p:nvGraphicFramePr>
        <p:xfrm>
          <a:off x="784411" y="842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{8AB4B6C1-AD0A-471A-826E-DB090AED0D78}</a:tableStyleId>
              </a:tblPr>
              <a:tblGrid>
                <a:gridCol w="1273025"/>
                <a:gridCol w="2765550"/>
                <a:gridCol w="6584625"/>
              </a:tblGrid>
              <a:tr h="431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NOMBRE</a:t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LOGO</a:t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DESCRIPCION</a:t>
                      </a:r>
                      <a:endParaRPr sz="180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223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GitHub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Plataforma de control de versiones utilizada para almacenar, gestionar y colaborar en el código fuente del proyecto, permitiendo el seguimiento de cambios y el trabajo en equipo.</a:t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24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ESLint</a:t>
                      </a:r>
                      <a:endParaRPr b="1" sz="20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Herramienta de análisis estático de código que permite identificar errores, mantener buenas prácticas de programación y garantizar la calidad del código fuente.</a:t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344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Postman</a:t>
                      </a:r>
                      <a:endParaRPr b="1" sz="20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Plataforma utilizada para probar, validar y documentar los servicios API desarrollados durante la construcción del sistema.</a:t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O" sz="20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Jira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800">
                          <a:solidFill>
                            <a:schemeClr val="accent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Herramienta de gestión de proyectos utilizada para planificar tareas, administrar historias de usuario, controlar avances y dar seguimiento al desarrollo bajo la metodología Scrum.</a:t>
                      </a:r>
                      <a:endParaRPr sz="180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81" name="Google Shape;381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51529" y="1389527"/>
            <a:ext cx="2563906" cy="995082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382" name="Google Shape;382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1528" y="5197866"/>
            <a:ext cx="2563905" cy="995082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descr="Postman Mini- API Testing Tool - Apps en Google Play" id="383" name="Google Shape;383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78423" y="3827927"/>
            <a:ext cx="2483225" cy="11833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JS Foundation: ESLint - Credly" id="384" name="Google Shape;384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54307" y="2482277"/>
            <a:ext cx="2970794" cy="1273336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5"/>
          <p:cNvSpPr txBox="1"/>
          <p:nvPr/>
        </p:nvSpPr>
        <p:spPr>
          <a:xfrm>
            <a:off x="4430719" y="140931"/>
            <a:ext cx="3703830" cy="898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Software Usado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 txBox="1"/>
          <p:nvPr/>
        </p:nvSpPr>
        <p:spPr>
          <a:xfrm>
            <a:off x="1357085" y="2640764"/>
            <a:ext cx="9477829" cy="1576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-CO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V. IMPLEMENTACIÓN</a:t>
            </a:r>
            <a:endParaRPr b="1"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7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853535" y="180486"/>
            <a:ext cx="1006739" cy="991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7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7"/>
          <p:cNvSpPr txBox="1"/>
          <p:nvPr>
            <p:ph type="title"/>
          </p:nvPr>
        </p:nvSpPr>
        <p:spPr>
          <a:xfrm>
            <a:off x="695138" y="609784"/>
            <a:ext cx="6306669" cy="645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ct val="100000"/>
              <a:buFont typeface="Arial"/>
              <a:buNone/>
            </a:pPr>
            <a: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Pruebas de Usabilidad</a:t>
            </a:r>
            <a:br>
              <a:rPr b="1" lang="es-CO" sz="3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CO" sz="27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RF-2.7 Registro de Productos</a:t>
            </a:r>
            <a:endParaRPr b="1" sz="36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7"/>
          <p:cNvSpPr txBox="1"/>
          <p:nvPr>
            <p:ph idx="1" type="body"/>
          </p:nvPr>
        </p:nvSpPr>
        <p:spPr>
          <a:xfrm>
            <a:off x="259977" y="1452475"/>
            <a:ext cx="9574306" cy="806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Evaluar la facilidad de uso y el correcto funcionamiento del proceso de registro de productos dentro del módulo de Inventario.</a:t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138" y="2339789"/>
            <a:ext cx="8780556" cy="4098684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400" name="Google Shape;400;p37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734307" y="2672263"/>
            <a:ext cx="3028186" cy="2483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8"/>
          <p:cNvPicPr preferRelativeResize="0"/>
          <p:nvPr/>
        </p:nvPicPr>
        <p:blipFill rotWithShape="1">
          <a:blip r:embed="rId3">
            <a:alphaModFix/>
          </a:blip>
          <a:srcRect b="22927" l="24976" r="24976" t="22927"/>
          <a:stretch/>
        </p:blipFill>
        <p:spPr>
          <a:xfrm>
            <a:off x="10853535" y="180486"/>
            <a:ext cx="1006739" cy="991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8"/>
          <p:cNvPicPr preferRelativeResize="0"/>
          <p:nvPr/>
        </p:nvPicPr>
        <p:blipFill rotWithShape="1">
          <a:blip r:embed="rId4">
            <a:alphaModFix amt="5000"/>
          </a:blip>
          <a:srcRect b="0" l="0" r="0" t="0"/>
          <a:stretch/>
        </p:blipFill>
        <p:spPr>
          <a:xfrm>
            <a:off x="4581907" y="2519863"/>
            <a:ext cx="3028186" cy="248322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8"/>
          <p:cNvSpPr txBox="1"/>
          <p:nvPr>
            <p:ph idx="1" type="body"/>
          </p:nvPr>
        </p:nvSpPr>
        <p:spPr>
          <a:xfrm>
            <a:off x="215153" y="4246048"/>
            <a:ext cx="9574306" cy="806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</a:pPr>
            <a: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La prueba fue exitosa, evidenciando que el sistema permite registrar productos de forma rápida, clara y eficiente, mostrando una confirmación inmediata mediante el mensaje </a:t>
            </a:r>
            <a:r>
              <a:rPr b="1"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“Producto creado con éxito”.</a:t>
            </a: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CO" sz="20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058" y="2719331"/>
            <a:ext cx="3532766" cy="1167653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409" name="Google Shape;409;p38"/>
          <p:cNvSpPr txBox="1"/>
          <p:nvPr/>
        </p:nvSpPr>
        <p:spPr>
          <a:xfrm>
            <a:off x="233082" y="1253455"/>
            <a:ext cx="9574306" cy="806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Posteriormente, se realizó una prueba de usabilidad sobre el registro de productos, con el fin de comprobar que el usuario pudiera ingresar la información solicitada de manera intuitiva y recibir una confirmación exitosa del registro efectuado.</a:t>
            </a:r>
            <a:b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8"/>
          <p:cNvSpPr txBox="1"/>
          <p:nvPr>
            <p:ph type="title"/>
          </p:nvPr>
        </p:nvSpPr>
        <p:spPr>
          <a:xfrm>
            <a:off x="695138" y="609784"/>
            <a:ext cx="6306669" cy="645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b="1" lang="es-CO" sz="3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Resultado de Usabilidad</a:t>
            </a:r>
            <a:endParaRPr b="1" sz="3200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  <property fmtid="{D5CDD505-2E9C-101B-9397-08002B2CF9AE}" pid="10" name="ContentTypeId">
    <vt:lpwstr>0x010100DFC498A2056BBE41884A04D4FF5445B0</vt:lpwstr>
  </property>
  <property fmtid="{D5CDD505-2E9C-101B-9397-08002B2CF9AE}" pid="11" name="MediaServiceImageTags">
    <vt:lpwstr/>
  </property>
  <property fmtid="{D5CDD505-2E9C-101B-9397-08002B2CF9AE}" pid="12" name="Order">
    <vt:r8>194900.0</vt:r8>
  </property>
  <property fmtid="{D5CDD505-2E9C-101B-9397-08002B2CF9AE}" pid="13" name="xd_Signature">
    <vt:bool>false</vt:bool>
  </property>
  <property fmtid="{D5CDD505-2E9C-101B-9397-08002B2CF9AE}" pid="14" name="xd_ProgID">
    <vt:lpwstr/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</Properties>
</file>