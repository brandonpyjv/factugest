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9"/>
  </p:notesMasterIdLst>
  <p:sldIdLst>
    <p:sldId id="293" r:id="rId2"/>
    <p:sldId id="269" r:id="rId3"/>
    <p:sldId id="259" r:id="rId4"/>
    <p:sldId id="298" r:id="rId5"/>
    <p:sldId id="299" r:id="rId6"/>
    <p:sldId id="289" r:id="rId7"/>
    <p:sldId id="312" r:id="rId8"/>
    <p:sldId id="313" r:id="rId9"/>
    <p:sldId id="314" r:id="rId10"/>
    <p:sldId id="315" r:id="rId11"/>
    <p:sldId id="294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295" r:id="rId24"/>
    <p:sldId id="327" r:id="rId25"/>
    <p:sldId id="328" r:id="rId26"/>
    <p:sldId id="300" r:id="rId27"/>
    <p:sldId id="306" r:id="rId28"/>
    <p:sldId id="307" r:id="rId29"/>
    <p:sldId id="331" r:id="rId30"/>
    <p:sldId id="332" r:id="rId31"/>
    <p:sldId id="296" r:id="rId32"/>
    <p:sldId id="311" r:id="rId33"/>
    <p:sldId id="308" r:id="rId34"/>
    <p:sldId id="297" r:id="rId35"/>
    <p:sldId id="329" r:id="rId36"/>
    <p:sldId id="330" r:id="rId37"/>
    <p:sldId id="287" r:id="rId38"/>
  </p:sldIdLst>
  <p:sldSz cx="12192000" cy="6858000"/>
  <p:notesSz cx="6858000" cy="9144000"/>
  <p:embeddedFontLst>
    <p:embeddedFont>
      <p:font typeface="Inter" panose="020B0604020202020204" charset="0"/>
      <p:regular r:id="rId40"/>
      <p:bold r:id="rId41"/>
      <p:italic r:id="rId42"/>
      <p:boldItalic r:id="rId43"/>
    </p:embeddedFont>
    <p:embeddedFont>
      <p:font typeface="Inter Medium" panose="020B0604020202020204" charset="0"/>
      <p:regular r:id="rId44"/>
      <p:bold r:id="rId45"/>
      <p:italic r:id="rId46"/>
      <p:boldItalic r:id="rId47"/>
    </p:embeddedFont>
    <p:embeddedFont>
      <p:font typeface="Inter SemiBold" panose="020B0604020202020204" charset="0"/>
      <p:regular r:id="rId48"/>
      <p:bold r:id="rId49"/>
      <p:italic r:id="rId50"/>
      <p:boldItalic r:id="rId51"/>
    </p:embeddedFont>
    <p:embeddedFont>
      <p:font typeface="Plus Jakarta Sans" panose="020B0604020202020204" charset="0"/>
      <p:regular r:id="rId52"/>
      <p:bold r:id="rId53"/>
      <p:italic r:id="rId54"/>
      <p:boldItalic r:id="rId55"/>
    </p:embeddedFont>
    <p:embeddedFont>
      <p:font typeface="Plus Jakarta Sans ExtraBold" panose="020B0604020202020204" charset="0"/>
      <p:bold r:id="rId56"/>
      <p:boldItalic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  <p15:guide id="4" pos="438">
          <p15:clr>
            <a:srgbClr val="A4A3A4"/>
          </p15:clr>
        </p15:guide>
        <p15:guide id="5" orient="horz" pos="2387">
          <p15:clr>
            <a:srgbClr val="A4A3A4"/>
          </p15:clr>
        </p15:guide>
        <p15:guide id="6" orient="horz" pos="2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iuq0NguNk5LHHA5FwT6FGEpdEK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57BCAD3-15E7-4015-9B5F-DF1D467188F8}">
  <a:tblStyle styleId="{457BCAD3-15E7-4015-9B5F-DF1D467188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E7"/>
          </a:solidFill>
        </a:fill>
      </a:tcStyle>
    </a:wholeTbl>
    <a:band1H>
      <a:tcTxStyle/>
      <a:tcStyle>
        <a:tcBdr/>
        <a:fill>
          <a:solidFill>
            <a:srgbClr val="CAD5CC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5CC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873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8" y="138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" Target="slides/slide7.xml"/><Relationship Id="rId51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0.fntdata"/><Relationship Id="rId57" Type="http://schemas.openxmlformats.org/officeDocument/2006/relationships/font" Target="fonts/font1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5599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86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5867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4350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8933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1473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7023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756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814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45345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57230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22596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2502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1052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53921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3305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7086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16084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1390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44023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97136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6990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19948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93372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16358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2627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0547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07743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93096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80065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715802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7444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6108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54433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EC388"/>
              </a:buClr>
              <a:buSzPts val="2400"/>
              <a:buNone/>
              <a:defRPr sz="2400">
                <a:solidFill>
                  <a:srgbClr val="8EC3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2000"/>
              <a:buNone/>
              <a:defRPr sz="2000">
                <a:solidFill>
                  <a:srgbClr val="8EC3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800"/>
              <a:buNone/>
              <a:defRPr sz="1800">
                <a:solidFill>
                  <a:srgbClr val="8EC3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EC388"/>
              </a:buClr>
              <a:buSzPts val="1600"/>
              <a:buNone/>
              <a:defRPr sz="1600">
                <a:solidFill>
                  <a:srgbClr val="8EC3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EC3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10" Type="http://schemas.openxmlformats.org/officeDocument/2006/relationships/image" Target="../media/image19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6.png"/><Relationship Id="rId10" Type="http://schemas.openxmlformats.org/officeDocument/2006/relationships/image" Target="../media/image24.png"/><Relationship Id="rId4" Type="http://schemas.openxmlformats.org/officeDocument/2006/relationships/image" Target="../media/image12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5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6.png"/><Relationship Id="rId9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l="24976" t="22927" r="24976" b="22927"/>
          <a:stretch/>
        </p:blipFill>
        <p:spPr>
          <a:xfrm>
            <a:off x="10424123" y="870486"/>
            <a:ext cx="923111" cy="9087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ítulo 4">
            <a:extLst>
              <a:ext uri="{FF2B5EF4-FFF2-40B4-BE49-F238E27FC236}">
                <a16:creationId xmlns:a16="http://schemas.microsoft.com/office/drawing/2014/main" id="{0D27D3C6-3047-48C6-E08D-1D2554CFC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6443" y="3996267"/>
            <a:ext cx="3579112" cy="1915365"/>
          </a:xfrm>
        </p:spPr>
        <p:txBody>
          <a:bodyPr>
            <a:normAutofit/>
          </a:bodyPr>
          <a:lstStyle/>
          <a:p>
            <a:r>
              <a:rPr lang="es-CO" sz="1600" b="1" dirty="0">
                <a:solidFill>
                  <a:srgbClr val="334155"/>
                </a:solidFill>
                <a:latin typeface="Inter"/>
                <a:cs typeface="Inter"/>
                <a:sym typeface="Arial"/>
              </a:rPr>
              <a:t>INTEGRANTES:</a:t>
            </a:r>
            <a:br>
              <a:rPr lang="es-CO" sz="1600" b="1" dirty="0">
                <a:solidFill>
                  <a:srgbClr val="334155"/>
                </a:solidFill>
                <a:latin typeface="Inter"/>
                <a:cs typeface="Inter"/>
                <a:sym typeface="Arial"/>
              </a:rPr>
            </a:br>
            <a:endParaRPr lang="es-CO" sz="1600" b="1" dirty="0">
              <a:solidFill>
                <a:srgbClr val="334155"/>
              </a:solidFill>
              <a:latin typeface="Inter"/>
              <a:cs typeface="Inter"/>
              <a:sym typeface="Arial"/>
            </a:endParaRPr>
          </a:p>
          <a:p>
            <a:r>
              <a:rPr lang="es-CO" sz="1600" b="1" dirty="0">
                <a:solidFill>
                  <a:srgbClr val="334155"/>
                </a:solidFill>
                <a:latin typeface="Inter"/>
                <a:cs typeface="Inter"/>
                <a:sym typeface="Arial"/>
              </a:rPr>
              <a:t>BRANDON RESTREPO</a:t>
            </a:r>
          </a:p>
          <a:p>
            <a:r>
              <a:rPr lang="es-CO" sz="1600" b="1" dirty="0">
                <a:solidFill>
                  <a:srgbClr val="334155"/>
                </a:solidFill>
                <a:latin typeface="Inter"/>
                <a:cs typeface="Inter"/>
                <a:sym typeface="Arial"/>
              </a:rPr>
              <a:t>WILMER CONTRERAS</a:t>
            </a:r>
          </a:p>
          <a:p>
            <a:r>
              <a:rPr lang="es-CO" sz="1600" b="1" dirty="0">
                <a:solidFill>
                  <a:srgbClr val="334155"/>
                </a:solidFill>
                <a:latin typeface="Inter"/>
                <a:cs typeface="Inter"/>
                <a:sym typeface="Arial"/>
              </a:rPr>
              <a:t>JOHAN ACOSTA</a:t>
            </a:r>
          </a:p>
        </p:txBody>
      </p:sp>
      <p:pic>
        <p:nvPicPr>
          <p:cNvPr id="3" name="Google Shape;90;p13" descr="image.png">
            <a:extLst>
              <a:ext uri="{FF2B5EF4-FFF2-40B4-BE49-F238E27FC236}">
                <a16:creationId xmlns:a16="http://schemas.microsoft.com/office/drawing/2014/main" id="{24B006EC-E35D-15B6-DB4E-F558902378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71999" y="618067"/>
            <a:ext cx="3048000" cy="304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0859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1D120AAC-3F32-0221-6CDC-92BF2903B2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85;p13" descr="image.png">
            <a:extLst>
              <a:ext uri="{FF2B5EF4-FFF2-40B4-BE49-F238E27FC236}">
                <a16:creationId xmlns:a16="http://schemas.microsoft.com/office/drawing/2014/main" id="{6F82DF70-D1DF-BB77-7DA3-E4B341DD60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430934"/>
            <a:ext cx="4715581" cy="3996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86;p13" descr="image.png">
            <a:extLst>
              <a:ext uri="{FF2B5EF4-FFF2-40B4-BE49-F238E27FC236}">
                <a16:creationId xmlns:a16="http://schemas.microsoft.com/office/drawing/2014/main" id="{8FC35288-A11A-A47A-B1D2-293289B98EA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9053" y="4713643"/>
            <a:ext cx="23622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7;p13" descr="image.png">
            <a:extLst>
              <a:ext uri="{FF2B5EF4-FFF2-40B4-BE49-F238E27FC236}">
                <a16:creationId xmlns:a16="http://schemas.microsoft.com/office/drawing/2014/main" id="{1413AA8C-5895-3BE3-7C09-659710DFA8AD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9053" y="1154709"/>
            <a:ext cx="20574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88;p13">
            <a:extLst>
              <a:ext uri="{FF2B5EF4-FFF2-40B4-BE49-F238E27FC236}">
                <a16:creationId xmlns:a16="http://schemas.microsoft.com/office/drawing/2014/main" id="{06A82DE9-312C-9BF6-8485-7633EE9826C0}"/>
              </a:ext>
            </a:extLst>
          </p:cNvPr>
          <p:cNvSpPr txBox="1"/>
          <p:nvPr/>
        </p:nvSpPr>
        <p:spPr>
          <a:xfrm>
            <a:off x="1100667" y="1796641"/>
            <a:ext cx="2555522" cy="69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 dirty="0" err="1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FactuGest</a:t>
            </a:r>
            <a:endParaRPr dirty="0"/>
          </a:p>
        </p:txBody>
      </p:sp>
      <p:sp>
        <p:nvSpPr>
          <p:cNvPr id="8" name="Google Shape;89;p13">
            <a:extLst>
              <a:ext uri="{FF2B5EF4-FFF2-40B4-BE49-F238E27FC236}">
                <a16:creationId xmlns:a16="http://schemas.microsoft.com/office/drawing/2014/main" id="{C69884FC-0D06-AD26-4B09-9A0E6F0199C6}"/>
              </a:ext>
            </a:extLst>
          </p:cNvPr>
          <p:cNvSpPr txBox="1"/>
          <p:nvPr/>
        </p:nvSpPr>
        <p:spPr>
          <a:xfrm>
            <a:off x="1033639" y="3013774"/>
            <a:ext cx="479989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Plataforma integral de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facturación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electrónica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, control de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inventarios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gestión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comercial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 para </a:t>
            </a:r>
            <a:r>
              <a:rPr lang="en-US" sz="1600" b="0" i="0" u="none" strike="noStrike" cap="none" dirty="0" err="1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PyMEs</a:t>
            </a:r>
            <a:r>
              <a:rPr lang="en-US" sz="1600" b="0" i="0" u="none" strike="noStrike" cap="none" dirty="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9" name="Google Shape;90;p13" descr="image.png">
            <a:extLst>
              <a:ext uri="{FF2B5EF4-FFF2-40B4-BE49-F238E27FC236}">
                <a16:creationId xmlns:a16="http://schemas.microsoft.com/office/drawing/2014/main" id="{180BC0BB-653F-7D4E-99DB-6BE23B72993E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 b="21597"/>
          <a:stretch/>
        </p:blipFill>
        <p:spPr>
          <a:xfrm>
            <a:off x="6929790" y="2065609"/>
            <a:ext cx="3048000" cy="24969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91;p13" descr="image.png">
            <a:extLst>
              <a:ext uri="{FF2B5EF4-FFF2-40B4-BE49-F238E27FC236}">
                <a16:creationId xmlns:a16="http://schemas.microsoft.com/office/drawing/2014/main" id="{B074B4B6-84CD-D85F-C918-B84500ED341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29242" y="4823180"/>
            <a:ext cx="1714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98E55B9-4796-1AD4-FD91-7F8439DF9EDA}"/>
              </a:ext>
            </a:extLst>
          </p:cNvPr>
          <p:cNvSpPr txBox="1"/>
          <p:nvPr/>
        </p:nvSpPr>
        <p:spPr>
          <a:xfrm>
            <a:off x="7703256" y="4892245"/>
            <a:ext cx="3836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dirty="0"/>
              <a:t> </a:t>
            </a:r>
            <a:endParaRPr lang="es-CO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1;p3">
            <a:extLst>
              <a:ext uri="{FF2B5EF4-FFF2-40B4-BE49-F238E27FC236}">
                <a16:creationId xmlns:a16="http://schemas.microsoft.com/office/drawing/2014/main" id="{C3D3D267-D1DB-7794-090F-4F88F9C7C45B}"/>
              </a:ext>
            </a:extLst>
          </p:cNvPr>
          <p:cNvSpPr txBox="1"/>
          <p:nvPr/>
        </p:nvSpPr>
        <p:spPr>
          <a:xfrm>
            <a:off x="2100942" y="2640764"/>
            <a:ext cx="7990115" cy="1576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I. FORMULACIÓN DEL PROYECTO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8DFFA8D-D658-9F01-0D10-9353E89340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DF402D3-A560-9210-3DEA-358303C1C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6D8587E6-BFC7-BE58-BA04-C802D8D4E3F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98;p14">
            <a:extLst>
              <a:ext uri="{FF2B5EF4-FFF2-40B4-BE49-F238E27FC236}">
                <a16:creationId xmlns:a16="http://schemas.microsoft.com/office/drawing/2014/main" id="{991CF9BB-DF68-B80D-CE2B-3886C0EE68F9}"/>
              </a:ext>
            </a:extLst>
          </p:cNvPr>
          <p:cNvSpPr txBox="1"/>
          <p:nvPr/>
        </p:nvSpPr>
        <p:spPr>
          <a:xfrm>
            <a:off x="3225799" y="1819301"/>
            <a:ext cx="5334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Las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pequeñas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y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medianas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empresas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enfrentan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graves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ineficiencias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en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sus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procesos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administrativos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diarios</a:t>
            </a:r>
            <a:r>
              <a:rPr lang="en-US" b="0" i="0" u="none" strike="noStrike" cap="none" dirty="0">
                <a:solidFill>
                  <a:srgbClr val="1E293B"/>
                </a:solidFill>
                <a:latin typeface="Inter Medium"/>
                <a:ea typeface="Inter Medium"/>
                <a:cs typeface="Inter Medium"/>
                <a:sym typeface="Inter Medium"/>
              </a:rPr>
              <a:t>:</a:t>
            </a:r>
            <a:endParaRPr sz="1600" dirty="0"/>
          </a:p>
        </p:txBody>
      </p:sp>
      <p:sp>
        <p:nvSpPr>
          <p:cNvPr id="5" name="Google Shape;99;p14">
            <a:extLst>
              <a:ext uri="{FF2B5EF4-FFF2-40B4-BE49-F238E27FC236}">
                <a16:creationId xmlns:a16="http://schemas.microsoft.com/office/drawing/2014/main" id="{EA7A02FA-34B0-AF63-A102-2AE6DAAE872B}"/>
              </a:ext>
            </a:extLst>
          </p:cNvPr>
          <p:cNvSpPr txBox="1"/>
          <p:nvPr/>
        </p:nvSpPr>
        <p:spPr>
          <a:xfrm>
            <a:off x="3568699" y="3098134"/>
            <a:ext cx="4991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Procesos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Manuales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Lentos: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Registro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papel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 hojas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cálculo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propensas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errores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cálculo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pérdida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6" name="Google Shape;100;p14">
            <a:extLst>
              <a:ext uri="{FF2B5EF4-FFF2-40B4-BE49-F238E27FC236}">
                <a16:creationId xmlns:a16="http://schemas.microsoft.com/office/drawing/2014/main" id="{5B4F722C-786F-CFFE-D300-F5B1368F9963}"/>
              </a:ext>
            </a:extLst>
          </p:cNvPr>
          <p:cNvSpPr txBox="1"/>
          <p:nvPr/>
        </p:nvSpPr>
        <p:spPr>
          <a:xfrm>
            <a:off x="3568699" y="3978393"/>
            <a:ext cx="4991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Falta de Control de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Desconocimiento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stock real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tiempo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real,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generando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quiebres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pérdidas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financieras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7" name="Google Shape;101;p14">
            <a:extLst>
              <a:ext uri="{FF2B5EF4-FFF2-40B4-BE49-F238E27FC236}">
                <a16:creationId xmlns:a16="http://schemas.microsoft.com/office/drawing/2014/main" id="{BF02A646-2048-7FDD-AC29-70A54734C468}"/>
              </a:ext>
            </a:extLst>
          </p:cNvPr>
          <p:cNvSpPr txBox="1"/>
          <p:nvPr/>
        </p:nvSpPr>
        <p:spPr>
          <a:xfrm>
            <a:off x="3568699" y="4895118"/>
            <a:ext cx="49911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Retrasos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Incumplimiento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Emisión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compleja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facturas y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falta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reporte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contable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inmediata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pic>
        <p:nvPicPr>
          <p:cNvPr id="9" name="Google Shape;103;p14" descr="image.png">
            <a:extLst>
              <a:ext uri="{FF2B5EF4-FFF2-40B4-BE49-F238E27FC236}">
                <a16:creationId xmlns:a16="http://schemas.microsoft.com/office/drawing/2014/main" id="{C004CC2B-BBDE-64FA-2358-C502D7675DB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25799" y="316069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4;p14" descr="image.png">
            <a:extLst>
              <a:ext uri="{FF2B5EF4-FFF2-40B4-BE49-F238E27FC236}">
                <a16:creationId xmlns:a16="http://schemas.microsoft.com/office/drawing/2014/main" id="{9E53F49B-9951-00D1-52E8-969A679BB2C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25799" y="402952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05;p14" descr="image.png">
            <a:extLst>
              <a:ext uri="{FF2B5EF4-FFF2-40B4-BE49-F238E27FC236}">
                <a16:creationId xmlns:a16="http://schemas.microsoft.com/office/drawing/2014/main" id="{6517A9A5-B598-7234-6DEB-A2509CC08F6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25799" y="498299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7;p14">
            <a:extLst>
              <a:ext uri="{FF2B5EF4-FFF2-40B4-BE49-F238E27FC236}">
                <a16:creationId xmlns:a16="http://schemas.microsoft.com/office/drawing/2014/main" id="{EEE9E0F4-D1BB-7771-0302-5F992181AFCD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06;p14">
            <a:extLst>
              <a:ext uri="{FF2B5EF4-FFF2-40B4-BE49-F238E27FC236}">
                <a16:creationId xmlns:a16="http://schemas.microsoft.com/office/drawing/2014/main" id="{72A46E4C-75C3-B387-4882-65CAAFC1DC0B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Planteamiento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del </a:t>
            </a: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Problema</a:t>
            </a:r>
            <a:endParaRPr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99E4AC5-0AD0-CBE8-2F4D-2BE03FB0B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9091" y="5260006"/>
            <a:ext cx="1606476" cy="160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27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13495FBF-C467-5FBA-8029-DB074EC699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38;p16" descr="image.png">
            <a:extLst>
              <a:ext uri="{FF2B5EF4-FFF2-40B4-BE49-F238E27FC236}">
                <a16:creationId xmlns:a16="http://schemas.microsoft.com/office/drawing/2014/main" id="{6E2E430C-E153-EE1C-9507-83BAA4900C8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24" y="4722657"/>
            <a:ext cx="11049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39;p16" descr="image.png">
            <a:extLst>
              <a:ext uri="{FF2B5EF4-FFF2-40B4-BE49-F238E27FC236}">
                <a16:creationId xmlns:a16="http://schemas.microsoft.com/office/drawing/2014/main" id="{468D5443-582F-1671-D734-A0438BEAA997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40;p16" descr="image.png">
            <a:extLst>
              <a:ext uri="{FF2B5EF4-FFF2-40B4-BE49-F238E27FC236}">
                <a16:creationId xmlns:a16="http://schemas.microsoft.com/office/drawing/2014/main" id="{FC5C9815-BADF-30F6-D886-CBF83C550DC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330600" y="2143125"/>
            <a:ext cx="3530649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1;p16" descr="image.png">
            <a:extLst>
              <a:ext uri="{FF2B5EF4-FFF2-40B4-BE49-F238E27FC236}">
                <a16:creationId xmlns:a16="http://schemas.microsoft.com/office/drawing/2014/main" id="{DB18B452-3E7B-2BAD-B2A3-F989A189E07E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089850" y="2143125"/>
            <a:ext cx="3530500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42;p16">
            <a:extLst>
              <a:ext uri="{FF2B5EF4-FFF2-40B4-BE49-F238E27FC236}">
                <a16:creationId xmlns:a16="http://schemas.microsoft.com/office/drawing/2014/main" id="{5E997E55-5B2C-5B1F-ACD6-0232B1BA8AAF}"/>
              </a:ext>
            </a:extLst>
          </p:cNvPr>
          <p:cNvSpPr txBox="1"/>
          <p:nvPr/>
        </p:nvSpPr>
        <p:spPr>
          <a:xfrm>
            <a:off x="847649" y="4922682"/>
            <a:ext cx="10496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Clave: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FactuGest transforma un proceso administrativo lento e ineficiente en una ventaja competitiva ágil, segura y altamente escalable.</a:t>
            </a:r>
            <a:endParaRPr/>
          </a:p>
        </p:txBody>
      </p:sp>
      <p:sp>
        <p:nvSpPr>
          <p:cNvPr id="8" name="Google Shape;143;p16">
            <a:extLst>
              <a:ext uri="{FF2B5EF4-FFF2-40B4-BE49-F238E27FC236}">
                <a16:creationId xmlns:a16="http://schemas.microsoft.com/office/drawing/2014/main" id="{BB673D82-9844-81FF-8F16-05547A57D028}"/>
              </a:ext>
            </a:extLst>
          </p:cNvPr>
          <p:cNvSpPr txBox="1"/>
          <p:nvPr/>
        </p:nvSpPr>
        <p:spPr>
          <a:xfrm>
            <a:off x="771525" y="2438400"/>
            <a:ext cx="3130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60%</a:t>
            </a:r>
            <a:endParaRPr/>
          </a:p>
        </p:txBody>
      </p:sp>
      <p:sp>
        <p:nvSpPr>
          <p:cNvPr id="9" name="Google Shape;144;p16">
            <a:extLst>
              <a:ext uri="{FF2B5EF4-FFF2-40B4-BE49-F238E27FC236}">
                <a16:creationId xmlns:a16="http://schemas.microsoft.com/office/drawing/2014/main" id="{3B6CA20A-FEB1-78F9-468F-4FDC2B95D7ED}"/>
              </a:ext>
            </a:extLst>
          </p:cNvPr>
          <p:cNvSpPr txBox="1"/>
          <p:nvPr/>
        </p:nvSpPr>
        <p:spPr>
          <a:xfrm>
            <a:off x="771525" y="3095625"/>
            <a:ext cx="313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AHORRO DE TIEMPO</a:t>
            </a:r>
            <a:endParaRPr/>
          </a:p>
        </p:txBody>
      </p:sp>
      <p:sp>
        <p:nvSpPr>
          <p:cNvPr id="10" name="Google Shape;145;p16">
            <a:extLst>
              <a:ext uri="{FF2B5EF4-FFF2-40B4-BE49-F238E27FC236}">
                <a16:creationId xmlns:a16="http://schemas.microsoft.com/office/drawing/2014/main" id="{7F5BD657-AF87-8886-6DF6-C35BD3A52FB7}"/>
              </a:ext>
            </a:extLst>
          </p:cNvPr>
          <p:cNvSpPr txBox="1"/>
          <p:nvPr/>
        </p:nvSpPr>
        <p:spPr>
          <a:xfrm>
            <a:off x="771525" y="3390900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drástica del tiempo dedicado a la elaboración manual de facturas y conciliación de inventario.</a:t>
            </a:r>
            <a:endParaRPr/>
          </a:p>
        </p:txBody>
      </p:sp>
      <p:sp>
        <p:nvSpPr>
          <p:cNvPr id="11" name="Google Shape;146;p16">
            <a:extLst>
              <a:ext uri="{FF2B5EF4-FFF2-40B4-BE49-F238E27FC236}">
                <a16:creationId xmlns:a16="http://schemas.microsoft.com/office/drawing/2014/main" id="{E9D89837-1FC1-52DA-1166-8ADA8FE0349A}"/>
              </a:ext>
            </a:extLst>
          </p:cNvPr>
          <p:cNvSpPr txBox="1"/>
          <p:nvPr/>
        </p:nvSpPr>
        <p:spPr>
          <a:xfrm>
            <a:off x="4530625" y="2438400"/>
            <a:ext cx="3130599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99%</a:t>
            </a:r>
            <a:endParaRPr/>
          </a:p>
        </p:txBody>
      </p:sp>
      <p:sp>
        <p:nvSpPr>
          <p:cNvPr id="12" name="Google Shape;147;p16">
            <a:extLst>
              <a:ext uri="{FF2B5EF4-FFF2-40B4-BE49-F238E27FC236}">
                <a16:creationId xmlns:a16="http://schemas.microsoft.com/office/drawing/2014/main" id="{82E4A53F-2F14-E0B4-AF8C-33277AF1AF19}"/>
              </a:ext>
            </a:extLst>
          </p:cNvPr>
          <p:cNvSpPr txBox="1"/>
          <p:nvPr/>
        </p:nvSpPr>
        <p:spPr>
          <a:xfrm>
            <a:off x="4530625" y="3095625"/>
            <a:ext cx="313059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PRECISIÓN OPERATIVA</a:t>
            </a:r>
            <a:endParaRPr/>
          </a:p>
        </p:txBody>
      </p:sp>
      <p:sp>
        <p:nvSpPr>
          <p:cNvPr id="13" name="Google Shape;148;p16">
            <a:extLst>
              <a:ext uri="{FF2B5EF4-FFF2-40B4-BE49-F238E27FC236}">
                <a16:creationId xmlns:a16="http://schemas.microsoft.com/office/drawing/2014/main" id="{8F27A4DE-9F11-3566-FC53-7A14E13FD9AD}"/>
              </a:ext>
            </a:extLst>
          </p:cNvPr>
          <p:cNvSpPr txBox="1"/>
          <p:nvPr/>
        </p:nvSpPr>
        <p:spPr>
          <a:xfrm>
            <a:off x="4530625" y="3390900"/>
            <a:ext cx="3130599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Eliminación del margen de error humano en la facturación y el cálculo de impuestos y montos totales.</a:t>
            </a:r>
            <a:endParaRPr/>
          </a:p>
        </p:txBody>
      </p:sp>
      <p:sp>
        <p:nvSpPr>
          <p:cNvPr id="14" name="Google Shape;149;p16">
            <a:extLst>
              <a:ext uri="{FF2B5EF4-FFF2-40B4-BE49-F238E27FC236}">
                <a16:creationId xmlns:a16="http://schemas.microsoft.com/office/drawing/2014/main" id="{42F0F8AD-1719-04AE-BA0D-3E9745617E26}"/>
              </a:ext>
            </a:extLst>
          </p:cNvPr>
          <p:cNvSpPr txBox="1"/>
          <p:nvPr/>
        </p:nvSpPr>
        <p:spPr>
          <a:xfrm>
            <a:off x="8289875" y="2438400"/>
            <a:ext cx="3130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24/7</a:t>
            </a:r>
            <a:endParaRPr/>
          </a:p>
        </p:txBody>
      </p:sp>
      <p:sp>
        <p:nvSpPr>
          <p:cNvPr id="15" name="Google Shape;150;p16">
            <a:extLst>
              <a:ext uri="{FF2B5EF4-FFF2-40B4-BE49-F238E27FC236}">
                <a16:creationId xmlns:a16="http://schemas.microsoft.com/office/drawing/2014/main" id="{F62B417C-7D32-2577-2382-61B227AEA5A6}"/>
              </a:ext>
            </a:extLst>
          </p:cNvPr>
          <p:cNvSpPr txBox="1"/>
          <p:nvPr/>
        </p:nvSpPr>
        <p:spPr>
          <a:xfrm>
            <a:off x="8289875" y="3095625"/>
            <a:ext cx="31304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CENTRALIZADO</a:t>
            </a:r>
            <a:endParaRPr/>
          </a:p>
        </p:txBody>
      </p:sp>
      <p:sp>
        <p:nvSpPr>
          <p:cNvPr id="16" name="Google Shape;151;p16">
            <a:extLst>
              <a:ext uri="{FF2B5EF4-FFF2-40B4-BE49-F238E27FC236}">
                <a16:creationId xmlns:a16="http://schemas.microsoft.com/office/drawing/2014/main" id="{E4AE597C-19F5-659B-0B99-083584ED224B}"/>
              </a:ext>
            </a:extLst>
          </p:cNvPr>
          <p:cNvSpPr txBox="1"/>
          <p:nvPr/>
        </p:nvSpPr>
        <p:spPr>
          <a:xfrm>
            <a:off x="8289875" y="3390900"/>
            <a:ext cx="3130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Disponibilidad de la información contable e inventario en cualquier momento y desde cualquier dispositivo.</a:t>
            </a:r>
            <a:endParaRPr/>
          </a:p>
        </p:txBody>
      </p:sp>
      <p:pic>
        <p:nvPicPr>
          <p:cNvPr id="17" name="Google Shape;152;p16" descr="image.png">
            <a:extLst>
              <a:ext uri="{FF2B5EF4-FFF2-40B4-BE49-F238E27FC236}">
                <a16:creationId xmlns:a16="http://schemas.microsoft.com/office/drawing/2014/main" id="{BF968762-9436-FE34-FBCB-C5FB4CC3B570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5273" y="499888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54;p16">
            <a:extLst>
              <a:ext uri="{FF2B5EF4-FFF2-40B4-BE49-F238E27FC236}">
                <a16:creationId xmlns:a16="http://schemas.microsoft.com/office/drawing/2014/main" id="{4CF8287F-6AA8-24B0-6B72-8A0480EFA084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53;p16">
            <a:extLst>
              <a:ext uri="{FF2B5EF4-FFF2-40B4-BE49-F238E27FC236}">
                <a16:creationId xmlns:a16="http://schemas.microsoft.com/office/drawing/2014/main" id="{3A3C55D1-1764-1508-0286-5FAFD912FB5C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Justificación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del Proyecto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6841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272611BD-5090-88E2-8DB2-78DB7477A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General</a:t>
            </a:r>
            <a:endParaRPr dirty="0"/>
          </a:p>
        </p:txBody>
      </p:sp>
      <p:sp>
        <p:nvSpPr>
          <p:cNvPr id="5" name="Google Shape;121;p15">
            <a:extLst>
              <a:ext uri="{FF2B5EF4-FFF2-40B4-BE49-F238E27FC236}">
                <a16:creationId xmlns:a16="http://schemas.microsoft.com/office/drawing/2014/main" id="{0A05D3C4-AA59-62DF-0BF8-05EDD87093D6}"/>
              </a:ext>
            </a:extLst>
          </p:cNvPr>
          <p:cNvSpPr txBox="1"/>
          <p:nvPr/>
        </p:nvSpPr>
        <p:spPr>
          <a:xfrm>
            <a:off x="2921667" y="2851081"/>
            <a:ext cx="605084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 b="0" i="0" u="none" strike="noStrike" cap="none" dirty="0">
                <a:solidFill>
                  <a:schemeClr val="bg2"/>
                </a:solidFill>
                <a:latin typeface="Inter"/>
                <a:ea typeface="Inter"/>
                <a:cs typeface="Inter"/>
                <a:sym typeface="Inter"/>
              </a:rPr>
              <a:t>Desarrollar e implementar el sistema web </a:t>
            </a:r>
            <a:r>
              <a:rPr lang="es-MX" sz="1600" b="1" i="0" u="none" strike="noStrike" cap="none" dirty="0" err="1">
                <a:solidFill>
                  <a:schemeClr val="bg2"/>
                </a:solidFill>
                <a:latin typeface="Inter"/>
                <a:ea typeface="Inter"/>
                <a:cs typeface="Inter"/>
                <a:sym typeface="Inter"/>
              </a:rPr>
              <a:t>FactuGest</a:t>
            </a:r>
            <a:r>
              <a:rPr lang="es-MX" sz="1600" b="0" i="0" u="none" strike="noStrike" cap="none" dirty="0">
                <a:solidFill>
                  <a:schemeClr val="bg2"/>
                </a:solidFill>
                <a:latin typeface="Inter"/>
                <a:ea typeface="Inter"/>
                <a:cs typeface="Inter"/>
                <a:sym typeface="Inter"/>
              </a:rPr>
              <a:t> para automatizar el ciclo de facturación, la gestión de clientes y el control de inventarios en tiempo real, optimizando la operatividad comercial de las </a:t>
            </a:r>
            <a:r>
              <a:rPr lang="es-MX" sz="1600" b="0" i="0" u="none" strike="noStrike" cap="none" dirty="0" err="1">
                <a:solidFill>
                  <a:schemeClr val="bg2"/>
                </a:solidFill>
                <a:latin typeface="Inter"/>
                <a:ea typeface="Inter"/>
                <a:cs typeface="Inter"/>
                <a:sym typeface="Inter"/>
              </a:rPr>
              <a:t>PyMEs</a:t>
            </a:r>
            <a:r>
              <a:rPr lang="es-MX" sz="1600" b="0" i="0" u="none" strike="noStrike" cap="none" dirty="0">
                <a:solidFill>
                  <a:schemeClr val="bg2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lang="es-MX" sz="1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519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4B0AA0B5-E4A9-52D1-B9C7-4150FF2200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14;p15" descr="image.png">
            <a:extLst>
              <a:ext uri="{FF2B5EF4-FFF2-40B4-BE49-F238E27FC236}">
                <a16:creationId xmlns:a16="http://schemas.microsoft.com/office/drawing/2014/main" id="{FFC20BA2-7BBE-62FF-011C-9F57FFB6C5A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426" y="2360250"/>
            <a:ext cx="3530649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5;p15" descr="image.png">
            <a:extLst>
              <a:ext uri="{FF2B5EF4-FFF2-40B4-BE49-F238E27FC236}">
                <a16:creationId xmlns:a16="http://schemas.microsoft.com/office/drawing/2014/main" id="{DFBA7DD4-9081-DC3B-CAA1-7C9BE303A55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30675" y="2360250"/>
            <a:ext cx="3530649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6;p15" descr="image.png">
            <a:extLst>
              <a:ext uri="{FF2B5EF4-FFF2-40B4-BE49-F238E27FC236}">
                <a16:creationId xmlns:a16="http://schemas.microsoft.com/office/drawing/2014/main" id="{C69DD1A2-7111-10DA-6405-8FDFB7914E5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89925" y="2360250"/>
            <a:ext cx="3530649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19;p15" descr="image.png">
            <a:extLst>
              <a:ext uri="{FF2B5EF4-FFF2-40B4-BE49-F238E27FC236}">
                <a16:creationId xmlns:a16="http://schemas.microsoft.com/office/drawing/2014/main" id="{B3FBF345-A726-1835-ABFD-48BE01DFDDA3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651" y="26364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5">
            <a:extLst>
              <a:ext uri="{FF2B5EF4-FFF2-40B4-BE49-F238E27FC236}">
                <a16:creationId xmlns:a16="http://schemas.microsoft.com/office/drawing/2014/main" id="{48E0DCC4-6B0D-B029-B860-BD7B490CBFF8}"/>
              </a:ext>
            </a:extLst>
          </p:cNvPr>
          <p:cNvSpPr txBox="1"/>
          <p:nvPr/>
        </p:nvSpPr>
        <p:spPr>
          <a:xfrm>
            <a:off x="847651" y="3360375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Módulo de Facturación</a:t>
            </a:r>
            <a:endParaRPr/>
          </a:p>
        </p:txBody>
      </p:sp>
      <p:sp>
        <p:nvSpPr>
          <p:cNvPr id="12" name="Google Shape;121;p15">
            <a:extLst>
              <a:ext uri="{FF2B5EF4-FFF2-40B4-BE49-F238E27FC236}">
                <a16:creationId xmlns:a16="http://schemas.microsoft.com/office/drawing/2014/main" id="{41093DC5-39EE-6E72-38FF-A0DFF46AFC25}"/>
              </a:ext>
            </a:extLst>
          </p:cNvPr>
          <p:cNvSpPr txBox="1"/>
          <p:nvPr/>
        </p:nvSpPr>
        <p:spPr>
          <a:xfrm>
            <a:off x="847651" y="3712800"/>
            <a:ext cx="2978199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Diseñar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interfaz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ágil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para la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generación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emisión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descarga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comprobantes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formatos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estándar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(PDF/XML) con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cálculo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automático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impuestos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3" name="Google Shape;122;p15" descr="image.png">
            <a:extLst>
              <a:ext uri="{FF2B5EF4-FFF2-40B4-BE49-F238E27FC236}">
                <a16:creationId xmlns:a16="http://schemas.microsoft.com/office/drawing/2014/main" id="{114C72D4-25D5-513C-C6D1-36578569D95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06900" y="26364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23;p15">
            <a:extLst>
              <a:ext uri="{FF2B5EF4-FFF2-40B4-BE49-F238E27FC236}">
                <a16:creationId xmlns:a16="http://schemas.microsoft.com/office/drawing/2014/main" id="{CF52E2B2-3726-82ED-44F4-4658311AEE4D}"/>
              </a:ext>
            </a:extLst>
          </p:cNvPr>
          <p:cNvSpPr txBox="1"/>
          <p:nvPr/>
        </p:nvSpPr>
        <p:spPr>
          <a:xfrm>
            <a:off x="4606900" y="3360375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Control de Inventarios</a:t>
            </a:r>
            <a:endParaRPr/>
          </a:p>
        </p:txBody>
      </p:sp>
      <p:sp>
        <p:nvSpPr>
          <p:cNvPr id="15" name="Google Shape;124;p15">
            <a:extLst>
              <a:ext uri="{FF2B5EF4-FFF2-40B4-BE49-F238E27FC236}">
                <a16:creationId xmlns:a16="http://schemas.microsoft.com/office/drawing/2014/main" id="{BD29F493-59FD-CF3B-60D6-ABFD14995270}"/>
              </a:ext>
            </a:extLst>
          </p:cNvPr>
          <p:cNvSpPr txBox="1"/>
          <p:nvPr/>
        </p:nvSpPr>
        <p:spPr>
          <a:xfrm>
            <a:off x="4606900" y="3712800"/>
            <a:ext cx="2978199" cy="779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Implementar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125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sistema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seguimiento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stock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dinámico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alertas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por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bajo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volumen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registro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detallado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 entradas y </a:t>
            </a:r>
            <a:r>
              <a:rPr lang="en-US" sz="1125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salidas</a:t>
            </a:r>
            <a:r>
              <a:rPr lang="en-US" sz="1125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6" name="Google Shape;125;p15" descr="image.png">
            <a:extLst>
              <a:ext uri="{FF2B5EF4-FFF2-40B4-BE49-F238E27FC236}">
                <a16:creationId xmlns:a16="http://schemas.microsoft.com/office/drawing/2014/main" id="{6BB4ED0C-3F9C-A098-E46D-27D83A8C7D8D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366150" y="26364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6;p15">
            <a:extLst>
              <a:ext uri="{FF2B5EF4-FFF2-40B4-BE49-F238E27FC236}">
                <a16:creationId xmlns:a16="http://schemas.microsoft.com/office/drawing/2014/main" id="{EB21095C-9230-F570-3CE7-1DE82D224F45}"/>
              </a:ext>
            </a:extLst>
          </p:cNvPr>
          <p:cNvSpPr txBox="1"/>
          <p:nvPr/>
        </p:nvSpPr>
        <p:spPr>
          <a:xfrm>
            <a:off x="8366150" y="3360375"/>
            <a:ext cx="3127109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Reportes y Métricas</a:t>
            </a:r>
            <a:endParaRPr/>
          </a:p>
        </p:txBody>
      </p:sp>
      <p:sp>
        <p:nvSpPr>
          <p:cNvPr id="18" name="Google Shape;127;p15">
            <a:extLst>
              <a:ext uri="{FF2B5EF4-FFF2-40B4-BE49-F238E27FC236}">
                <a16:creationId xmlns:a16="http://schemas.microsoft.com/office/drawing/2014/main" id="{745119BF-E919-8323-C2C6-E31DD68B29A9}"/>
              </a:ext>
            </a:extLst>
          </p:cNvPr>
          <p:cNvSpPr txBox="1"/>
          <p:nvPr/>
        </p:nvSpPr>
        <p:spPr>
          <a:xfrm>
            <a:off x="8366150" y="3712800"/>
            <a:ext cx="2978199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Proporcionar un panel de control interactivo con métricas financieras y comerciales para facilitar la toma de decisiones estratégicas.</a:t>
            </a:r>
            <a:endParaRPr/>
          </a:p>
        </p:txBody>
      </p:sp>
      <p:pic>
        <p:nvPicPr>
          <p:cNvPr id="19" name="Google Shape;128;p15" descr="image.png">
            <a:extLst>
              <a:ext uri="{FF2B5EF4-FFF2-40B4-BE49-F238E27FC236}">
                <a16:creationId xmlns:a16="http://schemas.microsoft.com/office/drawing/2014/main" id="{AA535D84-E7B6-CEB8-F2A6-B34AB5CE81E9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28626" y="278887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29;p15" descr="image.png">
            <a:extLst>
              <a:ext uri="{FF2B5EF4-FFF2-40B4-BE49-F238E27FC236}">
                <a16:creationId xmlns:a16="http://schemas.microsoft.com/office/drawing/2014/main" id="{9821A041-7997-5D5D-71C5-FC07684C8EF3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745013" y="278887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30;p15" descr="image.png">
            <a:extLst>
              <a:ext uri="{FF2B5EF4-FFF2-40B4-BE49-F238E27FC236}">
                <a16:creationId xmlns:a16="http://schemas.microsoft.com/office/drawing/2014/main" id="{9F48CA1D-03C1-0E4D-96AA-7159F91CCDB5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518550" y="278887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Objetivo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Especificos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482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E379AC-14BA-0D80-78A8-2080EA36BF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5524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Alcance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2629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5135A98-CE2B-358F-3B61-F64EC0070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261196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Riesgos</a:t>
            </a:r>
            <a:endParaRPr dirty="0"/>
          </a:p>
        </p:txBody>
      </p:sp>
      <p:sp>
        <p:nvSpPr>
          <p:cNvPr id="3" name="Google Shape;132;p15">
            <a:extLst>
              <a:ext uri="{FF2B5EF4-FFF2-40B4-BE49-F238E27FC236}">
                <a16:creationId xmlns:a16="http://schemas.microsoft.com/office/drawing/2014/main" id="{6EC3B4A6-D45D-3139-5172-6CA61450A213}"/>
              </a:ext>
            </a:extLst>
          </p:cNvPr>
          <p:cNvSpPr/>
          <p:nvPr/>
        </p:nvSpPr>
        <p:spPr>
          <a:xfrm>
            <a:off x="571500" y="4284802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1;p15">
            <a:extLst>
              <a:ext uri="{FF2B5EF4-FFF2-40B4-BE49-F238E27FC236}">
                <a16:creationId xmlns:a16="http://schemas.microsoft.com/office/drawing/2014/main" id="{DEA058E4-2AB9-8C31-C741-00C16C58B7F8}"/>
              </a:ext>
            </a:extLst>
          </p:cNvPr>
          <p:cNvSpPr txBox="1"/>
          <p:nvPr/>
        </p:nvSpPr>
        <p:spPr>
          <a:xfrm>
            <a:off x="571499" y="3869304"/>
            <a:ext cx="261196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Restricciones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051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496BD96-8A3E-82A4-36C0-B5786AAAB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5524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Cronograma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5453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70;p11">
            <a:extLst>
              <a:ext uri="{FF2B5EF4-FFF2-40B4-BE49-F238E27FC236}">
                <a16:creationId xmlns:a16="http://schemas.microsoft.com/office/drawing/2014/main" id="{22E24F0A-EE5A-6939-818B-24451CD36525}"/>
              </a:ext>
            </a:extLst>
          </p:cNvPr>
          <p:cNvSpPr txBox="1"/>
          <p:nvPr/>
        </p:nvSpPr>
        <p:spPr>
          <a:xfrm>
            <a:off x="2761342" y="2920582"/>
            <a:ext cx="6669315" cy="10168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II. ANÁLISIS</a:t>
            </a:r>
            <a:endParaRPr sz="1100" dirty="0"/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AF178EBC-A15A-FF95-0807-A3E2F4C0FD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44052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B922EC7-5F81-65CB-56EA-E37EF9E994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Herramientas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para la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Captura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Requisitos</a:t>
            </a:r>
            <a:endParaRPr dirty="0"/>
          </a:p>
        </p:txBody>
      </p:sp>
      <p:sp>
        <p:nvSpPr>
          <p:cNvPr id="3" name="Google Shape;162;p17">
            <a:extLst>
              <a:ext uri="{FF2B5EF4-FFF2-40B4-BE49-F238E27FC236}">
                <a16:creationId xmlns:a16="http://schemas.microsoft.com/office/drawing/2014/main" id="{16A0DE04-A60B-E852-032F-885E7C199321}"/>
              </a:ext>
            </a:extLst>
          </p:cNvPr>
          <p:cNvSpPr txBox="1"/>
          <p:nvPr/>
        </p:nvSpPr>
        <p:spPr>
          <a:xfrm>
            <a:off x="647700" y="1721635"/>
            <a:ext cx="176177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Encuesta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468445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C6FEE11-CC7D-21F9-56AC-C5FE0C483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Historias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Usuario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043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281CAFD-4757-AFE4-44EC-53402AD8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RF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Relacionados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9214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B2F244E-21C6-F9EE-22C9-5390FD154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Herramientas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para la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Captura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Requisitos</a:t>
            </a:r>
            <a:endParaRPr dirty="0"/>
          </a:p>
        </p:txBody>
      </p:sp>
      <p:sp>
        <p:nvSpPr>
          <p:cNvPr id="3" name="Google Shape;162;p17">
            <a:extLst>
              <a:ext uri="{FF2B5EF4-FFF2-40B4-BE49-F238E27FC236}">
                <a16:creationId xmlns:a16="http://schemas.microsoft.com/office/drawing/2014/main" id="{99CD6418-F2B7-6A65-D88A-0D80CF798883}"/>
              </a:ext>
            </a:extLst>
          </p:cNvPr>
          <p:cNvSpPr txBox="1"/>
          <p:nvPr/>
        </p:nvSpPr>
        <p:spPr>
          <a:xfrm>
            <a:off x="647700" y="1721635"/>
            <a:ext cx="23438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Observación</a:t>
            </a:r>
            <a:r>
              <a:rPr lang="en-US" sz="1600" b="1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Directa</a:t>
            </a:r>
            <a:r>
              <a:rPr lang="en-US" sz="1600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1639953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7C39AC-4263-3B0A-D839-A547B8E55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Historias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Usuario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8235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0D892A8-E490-5F23-2D3C-7172F7A47F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7883878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RF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Relacionados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: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5852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48A10F1-A0BD-565D-75D1-0D39B3DA3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38847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Matriz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Stakeholoder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8682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E1F0B7E5-E4D2-3B9D-C202-1E966766B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670983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Técnica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Priorización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Requisitos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20548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79895E9-6FD1-3551-585E-B6BA860281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2813"/>
            <a:ext cx="670983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Conclusión General de la Priorización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cs typeface="Plus Jakarta Sans ExtraBold"/>
                <a:sym typeface="Plus Jakarta Sans ExtraBold"/>
              </a:rPr>
              <a:t> 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994318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94D8E1D-6EE8-ABF3-3FB0-CC387045F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5465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Requerimiento Funcional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109006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F7C78399-1E29-27CA-5313-4AC6DD3B19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5465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Requerimiento no Funcional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13958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2;p23">
            <a:extLst>
              <a:ext uri="{FF2B5EF4-FFF2-40B4-BE49-F238E27FC236}">
                <a16:creationId xmlns:a16="http://schemas.microsoft.com/office/drawing/2014/main" id="{A5A9BDB2-C597-8A4A-8476-8F00C90E6F0D}"/>
              </a:ext>
            </a:extLst>
          </p:cNvPr>
          <p:cNvSpPr txBox="1"/>
          <p:nvPr/>
        </p:nvSpPr>
        <p:spPr>
          <a:xfrm>
            <a:off x="3585431" y="2982671"/>
            <a:ext cx="5021137" cy="892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III. DISEÑO</a:t>
            </a:r>
            <a:endParaRPr sz="48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BBC8D485-FC01-5E30-AE40-B0421AADFC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82163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7AA0D39-E2EC-02DC-5EF0-8FAFFA955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5465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Casos de Uso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038931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5465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Casos de Uso Tablas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2879158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5E5D415-B509-BDF6-3699-3CAA5A9D8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61;p17">
            <a:extLst>
              <a:ext uri="{FF2B5EF4-FFF2-40B4-BE49-F238E27FC236}">
                <a16:creationId xmlns:a16="http://schemas.microsoft.com/office/drawing/2014/main" id="{4001B884-A951-789A-E95D-8244FFB4FB7F}"/>
              </a:ext>
            </a:extLst>
          </p:cNvPr>
          <p:cNvSpPr txBox="1"/>
          <p:nvPr/>
        </p:nvSpPr>
        <p:spPr>
          <a:xfrm>
            <a:off x="3600450" y="2157064"/>
            <a:ext cx="4991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Metodología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Ágil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(Scrum):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Desarrollo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basado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iteraciones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cortas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(sprints de 2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semanas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para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entregas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continuas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funcionales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del software.</a:t>
            </a:r>
            <a:endParaRPr sz="1600" dirty="0"/>
          </a:p>
        </p:txBody>
      </p:sp>
      <p:sp>
        <p:nvSpPr>
          <p:cNvPr id="5" name="Google Shape;162;p17">
            <a:extLst>
              <a:ext uri="{FF2B5EF4-FFF2-40B4-BE49-F238E27FC236}">
                <a16:creationId xmlns:a16="http://schemas.microsoft.com/office/drawing/2014/main" id="{FE3438EF-C07C-A651-D64D-82C571D18D0B}"/>
              </a:ext>
            </a:extLst>
          </p:cNvPr>
          <p:cNvSpPr txBox="1"/>
          <p:nvPr/>
        </p:nvSpPr>
        <p:spPr>
          <a:xfrm>
            <a:off x="3600450" y="3240768"/>
            <a:ext cx="4991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Levantamiento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Requisitos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Análisis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directo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las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necesidades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comerciales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usuarios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definición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historias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usuario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600" dirty="0"/>
          </a:p>
        </p:txBody>
      </p:sp>
      <p:sp>
        <p:nvSpPr>
          <p:cNvPr id="6" name="Google Shape;163;p17">
            <a:extLst>
              <a:ext uri="{FF2B5EF4-FFF2-40B4-BE49-F238E27FC236}">
                <a16:creationId xmlns:a16="http://schemas.microsoft.com/office/drawing/2014/main" id="{8D7F46D1-4A1A-14BF-A02D-423A9974ACF1}"/>
              </a:ext>
            </a:extLst>
          </p:cNvPr>
          <p:cNvSpPr txBox="1"/>
          <p:nvPr/>
        </p:nvSpPr>
        <p:spPr>
          <a:xfrm>
            <a:off x="3600450" y="4161901"/>
            <a:ext cx="4991100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Pruebas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b="1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Integración</a:t>
            </a:r>
            <a:r>
              <a:rPr lang="en-US" b="1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Validación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constante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cada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módulo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inventario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facturación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reportes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garantizando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calidad</a:t>
            </a:r>
            <a:r>
              <a:rPr lang="en-US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 software.</a:t>
            </a:r>
            <a:endParaRPr sz="1600" dirty="0"/>
          </a:p>
        </p:txBody>
      </p:sp>
      <p:pic>
        <p:nvPicPr>
          <p:cNvPr id="8" name="Google Shape;165;p17" descr="image.png">
            <a:extLst>
              <a:ext uri="{FF2B5EF4-FFF2-40B4-BE49-F238E27FC236}">
                <a16:creationId xmlns:a16="http://schemas.microsoft.com/office/drawing/2014/main" id="{EB3D131F-9411-E973-CEEA-B1D74DC02CC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63005" y="2405719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66;p17" descr="image.png">
            <a:extLst>
              <a:ext uri="{FF2B5EF4-FFF2-40B4-BE49-F238E27FC236}">
                <a16:creationId xmlns:a16="http://schemas.microsoft.com/office/drawing/2014/main" id="{070BA4FC-0C69-B108-D28F-BAFFB53EC42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63005" y="334002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67;p17" descr="image.png">
            <a:extLst>
              <a:ext uri="{FF2B5EF4-FFF2-40B4-BE49-F238E27FC236}">
                <a16:creationId xmlns:a16="http://schemas.microsoft.com/office/drawing/2014/main" id="{EE0C013B-A67E-B68F-E53B-5916161D37F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63005" y="4274324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Metodología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de Desarrollo</a:t>
            </a:r>
            <a:endParaRPr dirty="0"/>
          </a:p>
        </p:txBody>
      </p:sp>
      <p:pic>
        <p:nvPicPr>
          <p:cNvPr id="16" name="Picture 4" descr="Admin with Cogwheels - Free people icons">
            <a:extLst>
              <a:ext uri="{FF2B5EF4-FFF2-40B4-BE49-F238E27FC236}">
                <a16:creationId xmlns:a16="http://schemas.microsoft.com/office/drawing/2014/main" id="{F950F51C-535C-25C0-F429-96C6701C5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066" y="5511894"/>
            <a:ext cx="1286933" cy="128693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3154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 Panel de Control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B7C7DD4-18B0-D0E9-9364-3228B0F09D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4198" y="1070837"/>
            <a:ext cx="9243603" cy="544512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5360D48-848A-F93B-13D8-9AF45AEF46BB}"/>
              </a:ext>
            </a:extLst>
          </p:cNvPr>
          <p:cNvSpPr txBox="1"/>
          <p:nvPr/>
        </p:nvSpPr>
        <p:spPr>
          <a:xfrm>
            <a:off x="1587087" y="6301547"/>
            <a:ext cx="438473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1" dirty="0">
                <a:solidFill>
                  <a:srgbClr val="334155"/>
                </a:solidFill>
                <a:latin typeface="Inter"/>
                <a:cs typeface="Inter"/>
              </a:rPr>
              <a:t>Figura  2. Borrador panel principal del sistema </a:t>
            </a:r>
            <a:r>
              <a:rPr lang="es-CO" sz="1200" b="1" dirty="0" err="1">
                <a:solidFill>
                  <a:srgbClr val="334155"/>
                </a:solidFill>
                <a:latin typeface="Inter"/>
                <a:cs typeface="Inter"/>
              </a:rPr>
              <a:t>FactuGest</a:t>
            </a:r>
            <a:r>
              <a:rPr lang="es-CO" sz="1200" b="1" dirty="0">
                <a:solidFill>
                  <a:srgbClr val="334155"/>
                </a:solidFill>
                <a:latin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5803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69;p17">
            <a:extLst>
              <a:ext uri="{FF2B5EF4-FFF2-40B4-BE49-F238E27FC236}">
                <a16:creationId xmlns:a16="http://schemas.microsoft.com/office/drawing/2014/main" id="{81F0DD6F-780A-27A8-380E-E1A99AFA476A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8;p17">
            <a:extLst>
              <a:ext uri="{FF2B5EF4-FFF2-40B4-BE49-F238E27FC236}">
                <a16:creationId xmlns:a16="http://schemas.microsoft.com/office/drawing/2014/main" id="{16D628CE-8029-6333-6103-2254556DB8BE}"/>
              </a:ext>
            </a:extLst>
          </p:cNvPr>
          <p:cNvSpPr txBox="1"/>
          <p:nvPr/>
        </p:nvSpPr>
        <p:spPr>
          <a:xfrm>
            <a:off x="571500" y="476250"/>
            <a:ext cx="55245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Mockup de </a:t>
            </a:r>
            <a:r>
              <a:rPr lang="en-US" sz="2700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Crear</a:t>
            </a:r>
            <a:r>
              <a:rPr lang="en-US" sz="2700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Nueva Factura</a:t>
            </a:r>
            <a:endParaRPr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1B584C4-5BB9-C68D-BD54-5BA8E780F3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086" y="1140719"/>
            <a:ext cx="9083827" cy="537524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E3237A2-A6B2-405F-DED2-2B80ABF6CB8A}"/>
              </a:ext>
            </a:extLst>
          </p:cNvPr>
          <p:cNvSpPr txBox="1"/>
          <p:nvPr/>
        </p:nvSpPr>
        <p:spPr>
          <a:xfrm>
            <a:off x="1655686" y="6391363"/>
            <a:ext cx="42258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b="1" dirty="0">
                <a:solidFill>
                  <a:srgbClr val="334155"/>
                </a:solidFill>
                <a:latin typeface="Inter"/>
                <a:cs typeface="Inter"/>
              </a:rPr>
              <a:t>Figura  3. Borrador factura del sistema </a:t>
            </a:r>
            <a:r>
              <a:rPr lang="es-CO" sz="1200" b="1" dirty="0" err="1">
                <a:solidFill>
                  <a:srgbClr val="334155"/>
                </a:solidFill>
                <a:latin typeface="Inter"/>
                <a:cs typeface="Inter"/>
              </a:rPr>
              <a:t>FactuGest</a:t>
            </a:r>
            <a:r>
              <a:rPr lang="es-CO" sz="1200" b="1" dirty="0">
                <a:solidFill>
                  <a:srgbClr val="334155"/>
                </a:solidFill>
                <a:latin typeface="Inter"/>
                <a:cs typeface="Inte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8772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30108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Base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712759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326E8D-29DD-38AC-4B96-E1C57C900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441818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Diccionario de Datos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370714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3;p33">
            <a:extLst>
              <a:ext uri="{FF2B5EF4-FFF2-40B4-BE49-F238E27FC236}">
                <a16:creationId xmlns:a16="http://schemas.microsoft.com/office/drawing/2014/main" id="{138F84EF-3724-48DD-F366-6C02647240C4}"/>
              </a:ext>
            </a:extLst>
          </p:cNvPr>
          <p:cNvSpPr txBox="1"/>
          <p:nvPr/>
        </p:nvSpPr>
        <p:spPr>
          <a:xfrm>
            <a:off x="2733120" y="3034882"/>
            <a:ext cx="6725759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IV. DESARROLLO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Google Shape;84;p13" descr="image.png">
            <a:extLst>
              <a:ext uri="{FF2B5EF4-FFF2-40B4-BE49-F238E27FC236}">
                <a16:creationId xmlns:a16="http://schemas.microsoft.com/office/drawing/2014/main" id="{F351DA7C-7126-24E6-81C6-B3EC476DDC5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3411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16066" y="846872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7976847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Google Shape;192;p18">
            <a:extLst>
              <a:ext uri="{FF2B5EF4-FFF2-40B4-BE49-F238E27FC236}">
                <a16:creationId xmlns:a16="http://schemas.microsoft.com/office/drawing/2014/main" id="{D93CB84A-018B-D336-DE20-54CF3DE4976B}"/>
              </a:ext>
            </a:extLst>
          </p:cNvPr>
          <p:cNvSpPr txBox="1"/>
          <p:nvPr/>
        </p:nvSpPr>
        <p:spPr>
          <a:xfrm>
            <a:off x="375882" y="418247"/>
            <a:ext cx="778227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- Backend, Base de Datos y Web</a:t>
            </a:r>
            <a:endParaRPr dirty="0"/>
          </a:p>
        </p:txBody>
      </p:sp>
      <p:pic>
        <p:nvPicPr>
          <p:cNvPr id="4" name="Google Shape;187;p18" descr="image.png">
            <a:extLst>
              <a:ext uri="{FF2B5EF4-FFF2-40B4-BE49-F238E27FC236}">
                <a16:creationId xmlns:a16="http://schemas.microsoft.com/office/drawing/2014/main" id="{814C9B0C-1481-6A4D-7AE4-5A43EAC3245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5851" y="1735462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B4794E1-CF16-E507-6236-947F0502DFC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882" y="3001135"/>
            <a:ext cx="836219" cy="85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89;p18" descr="image.png">
            <a:extLst>
              <a:ext uri="{FF2B5EF4-FFF2-40B4-BE49-F238E27FC236}">
                <a16:creationId xmlns:a16="http://schemas.microsoft.com/office/drawing/2014/main" id="{4FEBBEC8-0141-3C90-2E15-08B2F7C13AD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876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90;p18" descr="image.png">
            <a:extLst>
              <a:ext uri="{FF2B5EF4-FFF2-40B4-BE49-F238E27FC236}">
                <a16:creationId xmlns:a16="http://schemas.microsoft.com/office/drawing/2014/main" id="{CB7BA741-7142-72B7-51B6-CFA76538A06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03501" y="4513521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1;p18" descr="image.png">
            <a:extLst>
              <a:ext uri="{FF2B5EF4-FFF2-40B4-BE49-F238E27FC236}">
                <a16:creationId xmlns:a16="http://schemas.microsoft.com/office/drawing/2014/main" id="{18D8E3B5-0E01-F98D-D66D-0E43963D893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14806" y="4513521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94;p18">
            <a:extLst>
              <a:ext uri="{FF2B5EF4-FFF2-40B4-BE49-F238E27FC236}">
                <a16:creationId xmlns:a16="http://schemas.microsoft.com/office/drawing/2014/main" id="{7D86662D-56E2-D9D7-D15B-060FFB696D65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81905" y="5535949"/>
            <a:ext cx="933149" cy="93314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79;p18">
            <a:extLst>
              <a:ext uri="{FF2B5EF4-FFF2-40B4-BE49-F238E27FC236}">
                <a16:creationId xmlns:a16="http://schemas.microsoft.com/office/drawing/2014/main" id="{7FA6E4FA-849F-7242-4DD4-B79BC9680F1C}"/>
              </a:ext>
            </a:extLst>
          </p:cNvPr>
          <p:cNvSpPr txBox="1"/>
          <p:nvPr/>
        </p:nvSpPr>
        <p:spPr>
          <a:xfrm>
            <a:off x="2493636" y="2054549"/>
            <a:ext cx="171021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Python con </a:t>
            </a:r>
            <a:r>
              <a:rPr lang="en-US" sz="1350" b="1" i="0" u="none" strike="noStrike" cap="none" dirty="0" err="1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FastAPI</a:t>
            </a:r>
            <a:endParaRPr dirty="0"/>
          </a:p>
        </p:txBody>
      </p:sp>
      <p:sp>
        <p:nvSpPr>
          <p:cNvPr id="11" name="Google Shape;181;p18">
            <a:extLst>
              <a:ext uri="{FF2B5EF4-FFF2-40B4-BE49-F238E27FC236}">
                <a16:creationId xmlns:a16="http://schemas.microsoft.com/office/drawing/2014/main" id="{D6966D3D-7FE9-763C-8FB5-72EA12BC27A2}"/>
              </a:ext>
            </a:extLst>
          </p:cNvPr>
          <p:cNvSpPr txBox="1"/>
          <p:nvPr/>
        </p:nvSpPr>
        <p:spPr>
          <a:xfrm>
            <a:off x="2808674" y="3325125"/>
            <a:ext cx="1080135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MySQL</a:t>
            </a:r>
            <a:endParaRPr dirty="0"/>
          </a:p>
        </p:txBody>
      </p:sp>
      <p:sp>
        <p:nvSpPr>
          <p:cNvPr id="12" name="Google Shape;183;p18">
            <a:extLst>
              <a:ext uri="{FF2B5EF4-FFF2-40B4-BE49-F238E27FC236}">
                <a16:creationId xmlns:a16="http://schemas.microsoft.com/office/drawing/2014/main" id="{AE8E8D92-0E30-06D2-639B-4BEC87153D25}"/>
              </a:ext>
            </a:extLst>
          </p:cNvPr>
          <p:cNvSpPr txBox="1"/>
          <p:nvPr/>
        </p:nvSpPr>
        <p:spPr>
          <a:xfrm>
            <a:off x="2328613" y="4642108"/>
            <a:ext cx="204025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HTML, CSS y JavaScript</a:t>
            </a:r>
            <a:endParaRPr dirty="0"/>
          </a:p>
        </p:txBody>
      </p:sp>
      <p:sp>
        <p:nvSpPr>
          <p:cNvPr id="13" name="Google Shape;185;p18">
            <a:extLst>
              <a:ext uri="{FF2B5EF4-FFF2-40B4-BE49-F238E27FC236}">
                <a16:creationId xmlns:a16="http://schemas.microsoft.com/office/drawing/2014/main" id="{49BF5F14-A201-FA4C-9BEA-C612C4078AF5}"/>
              </a:ext>
            </a:extLst>
          </p:cNvPr>
          <p:cNvSpPr txBox="1"/>
          <p:nvPr/>
        </p:nvSpPr>
        <p:spPr>
          <a:xfrm>
            <a:off x="2938689" y="5901358"/>
            <a:ext cx="82010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PyCharm</a:t>
            </a:r>
            <a:endParaRPr dirty="0"/>
          </a:p>
        </p:txBody>
      </p:sp>
      <p:sp>
        <p:nvSpPr>
          <p:cNvPr id="14" name="Google Shape;180;p18">
            <a:extLst>
              <a:ext uri="{FF2B5EF4-FFF2-40B4-BE49-F238E27FC236}">
                <a16:creationId xmlns:a16="http://schemas.microsoft.com/office/drawing/2014/main" id="{B06F346E-BCBE-44F9-D1D7-C4A1D8FBBB80}"/>
              </a:ext>
            </a:extLst>
          </p:cNvPr>
          <p:cNvSpPr txBox="1"/>
          <p:nvPr/>
        </p:nvSpPr>
        <p:spPr>
          <a:xfrm>
            <a:off x="5185480" y="1937869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Lenguaje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framework backend de alto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rendimiento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construir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APIs REST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rápidas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asíncronas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eficientes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6" name="Google Shape;182;p18">
            <a:extLst>
              <a:ext uri="{FF2B5EF4-FFF2-40B4-BE49-F238E27FC236}">
                <a16:creationId xmlns:a16="http://schemas.microsoft.com/office/drawing/2014/main" id="{E5F35F2E-E15D-32B4-EFE9-854E706A4D7C}"/>
              </a:ext>
            </a:extLst>
          </p:cNvPr>
          <p:cNvSpPr txBox="1"/>
          <p:nvPr/>
        </p:nvSpPr>
        <p:spPr>
          <a:xfrm>
            <a:off x="5264501" y="3214070"/>
            <a:ext cx="5787319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s-MX" sz="1350" b="1" dirty="0">
                <a:solidFill>
                  <a:srgbClr val="003366"/>
                </a:solidFill>
                <a:latin typeface="Plus Jakarta Sans"/>
                <a:cs typeface="Plus Jakarta Sans"/>
              </a:rPr>
              <a:t>Base de datos relacional que permite almacenar y gestionar de forma eficiente la información de facturación, clientes e inventario.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19" name="Google Shape;184;p18">
            <a:extLst>
              <a:ext uri="{FF2B5EF4-FFF2-40B4-BE49-F238E27FC236}">
                <a16:creationId xmlns:a16="http://schemas.microsoft.com/office/drawing/2014/main" id="{A0DC273B-02A0-08EC-448F-6B6D27AB28B5}"/>
              </a:ext>
            </a:extLst>
          </p:cNvPr>
          <p:cNvSpPr txBox="1"/>
          <p:nvPr/>
        </p:nvSpPr>
        <p:spPr>
          <a:xfrm>
            <a:off x="5724878" y="4490271"/>
            <a:ext cx="470852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Tecnologías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estándar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el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desarrollo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la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interfaz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usuario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web,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estructuración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diseño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interactividad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20" name="Google Shape;186;p18">
            <a:extLst>
              <a:ext uri="{FF2B5EF4-FFF2-40B4-BE49-F238E27FC236}">
                <a16:creationId xmlns:a16="http://schemas.microsoft.com/office/drawing/2014/main" id="{AF261DFC-D721-ED25-DE9B-C426812B8699}"/>
              </a:ext>
            </a:extLst>
          </p:cNvPr>
          <p:cNvSpPr txBox="1"/>
          <p:nvPr/>
        </p:nvSpPr>
        <p:spPr>
          <a:xfrm>
            <a:off x="5751496" y="5699271"/>
            <a:ext cx="4813331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Entorno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desarrollo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integrado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(IDE)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profesional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la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programación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depuración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gestión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eficiente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del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proyecto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Python.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7865072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13;p19">
            <a:extLst>
              <a:ext uri="{FF2B5EF4-FFF2-40B4-BE49-F238E27FC236}">
                <a16:creationId xmlns:a16="http://schemas.microsoft.com/office/drawing/2014/main" id="{674911B7-95B5-712F-35A8-57FEC42F3B04}"/>
              </a:ext>
            </a:extLst>
          </p:cNvPr>
          <p:cNvSpPr/>
          <p:nvPr/>
        </p:nvSpPr>
        <p:spPr>
          <a:xfrm>
            <a:off x="481189" y="836930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12;p19">
            <a:extLst>
              <a:ext uri="{FF2B5EF4-FFF2-40B4-BE49-F238E27FC236}">
                <a16:creationId xmlns:a16="http://schemas.microsoft.com/office/drawing/2014/main" id="{DA5B7F3C-C4E1-2C3C-A80A-D53E220848D0}"/>
              </a:ext>
            </a:extLst>
          </p:cNvPr>
          <p:cNvSpPr txBox="1"/>
          <p:nvPr/>
        </p:nvSpPr>
        <p:spPr>
          <a:xfrm>
            <a:off x="481189" y="408305"/>
            <a:ext cx="7089724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Herramientas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- </a:t>
            </a:r>
            <a:r>
              <a:rPr lang="en-US" sz="2700" b="0" i="0" u="none" strike="noStrike" cap="none" dirty="0" err="1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Asistencia</a:t>
            </a:r>
            <a:r>
              <a:rPr lang="en-US" sz="2700" b="0" i="0" u="none" strike="noStrike" cap="none" dirty="0">
                <a:solidFill>
                  <a:srgbClr val="003366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IA, Testing y Git</a:t>
            </a:r>
            <a:endParaRPr dirty="0"/>
          </a:p>
        </p:txBody>
      </p:sp>
      <p:graphicFrame>
        <p:nvGraphicFramePr>
          <p:cNvPr id="18" name="Google Shape;369;p34">
            <a:extLst>
              <a:ext uri="{FF2B5EF4-FFF2-40B4-BE49-F238E27FC236}">
                <a16:creationId xmlns:a16="http://schemas.microsoft.com/office/drawing/2014/main" id="{03B7E3F0-3B02-36F5-11B8-4870F2E887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4173344"/>
              </p:ext>
            </p:extLst>
          </p:nvPr>
        </p:nvGraphicFramePr>
        <p:xfrm>
          <a:off x="672362" y="1209675"/>
          <a:ext cx="10847275" cy="53855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7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NOMBRE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LOGO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O" sz="1350" b="1" i="0" u="none" strike="noStrike" cap="none" dirty="0">
                          <a:solidFill>
                            <a:srgbClr val="003366"/>
                          </a:solidFill>
                          <a:latin typeface="Plus Jakarta Sans"/>
                          <a:ea typeface="Arial"/>
                          <a:cs typeface="Plus Jakarta Sans"/>
                          <a:sym typeface="Arial"/>
                        </a:rPr>
                        <a:t>DESCRIPCION</a:t>
                      </a:r>
                      <a:endParaRPr sz="1350" b="1" i="0" u="none" strike="noStrike" cap="none" dirty="0">
                        <a:solidFill>
                          <a:srgbClr val="003366"/>
                        </a:solidFill>
                        <a:latin typeface="Plus Jakarta Sans"/>
                        <a:ea typeface="Arial"/>
                        <a:cs typeface="Plus Jakarta Sans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3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highlight>
                          <a:srgbClr val="C0C0C0"/>
                        </a:highlight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9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400" b="0" i="0" u="none" strike="noStrike" cap="none" dirty="0">
                        <a:solidFill>
                          <a:schemeClr val="tx1"/>
                        </a:solidFill>
                        <a:highlight>
                          <a:srgbClr val="C0C0C0"/>
                        </a:highlight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accent5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9" name="Google Shape;214;p19">
            <a:extLst>
              <a:ext uri="{FF2B5EF4-FFF2-40B4-BE49-F238E27FC236}">
                <a16:creationId xmlns:a16="http://schemas.microsoft.com/office/drawing/2014/main" id="{BB405D65-7548-5574-5245-4B8612EEC6C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2719" y="1674675"/>
            <a:ext cx="966387" cy="966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9;p19" descr="image.png">
            <a:extLst>
              <a:ext uri="{FF2B5EF4-FFF2-40B4-BE49-F238E27FC236}">
                <a16:creationId xmlns:a16="http://schemas.microsoft.com/office/drawing/2014/main" id="{959B4F65-47E5-59BA-5C6E-F8E60E028A7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7287" y="3048760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0;p19" descr="image.png">
            <a:extLst>
              <a:ext uri="{FF2B5EF4-FFF2-40B4-BE49-F238E27FC236}">
                <a16:creationId xmlns:a16="http://schemas.microsoft.com/office/drawing/2014/main" id="{F5A32B8F-B913-5C82-028A-AF747D09BF8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27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11;p19" descr="image.png">
            <a:extLst>
              <a:ext uri="{FF2B5EF4-FFF2-40B4-BE49-F238E27FC236}">
                <a16:creationId xmlns:a16="http://schemas.microsoft.com/office/drawing/2014/main" id="{85243684-8CB1-3508-B1BA-C5247D4660EB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92319" y="456837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03;p19">
            <a:extLst>
              <a:ext uri="{FF2B5EF4-FFF2-40B4-BE49-F238E27FC236}">
                <a16:creationId xmlns:a16="http://schemas.microsoft.com/office/drawing/2014/main" id="{A474D557-9450-C96E-D7EC-2BB258332AFE}"/>
              </a:ext>
            </a:extLst>
          </p:cNvPr>
          <p:cNvSpPr txBox="1"/>
          <p:nvPr/>
        </p:nvSpPr>
        <p:spPr>
          <a:xfrm>
            <a:off x="2932697" y="2048330"/>
            <a:ext cx="84010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Claude AI</a:t>
            </a:r>
            <a:endParaRPr dirty="0"/>
          </a:p>
        </p:txBody>
      </p:sp>
      <p:sp>
        <p:nvSpPr>
          <p:cNvPr id="24" name="Google Shape;205;p19">
            <a:extLst>
              <a:ext uri="{FF2B5EF4-FFF2-40B4-BE49-F238E27FC236}">
                <a16:creationId xmlns:a16="http://schemas.microsoft.com/office/drawing/2014/main" id="{E5547885-B74A-9214-5288-982141BFBB08}"/>
              </a:ext>
            </a:extLst>
          </p:cNvPr>
          <p:cNvSpPr txBox="1"/>
          <p:nvPr/>
        </p:nvSpPr>
        <p:spPr>
          <a:xfrm>
            <a:off x="2962700" y="3319462"/>
            <a:ext cx="780097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Postman</a:t>
            </a:r>
            <a:endParaRPr dirty="0"/>
          </a:p>
        </p:txBody>
      </p:sp>
      <p:sp>
        <p:nvSpPr>
          <p:cNvPr id="25" name="Google Shape;207;p19">
            <a:extLst>
              <a:ext uri="{FF2B5EF4-FFF2-40B4-BE49-F238E27FC236}">
                <a16:creationId xmlns:a16="http://schemas.microsoft.com/office/drawing/2014/main" id="{EF227A22-E6A4-FB5C-2682-062ABF0ABA96}"/>
              </a:ext>
            </a:extLst>
          </p:cNvPr>
          <p:cNvSpPr txBox="1"/>
          <p:nvPr/>
        </p:nvSpPr>
        <p:spPr>
          <a:xfrm>
            <a:off x="2817681" y="4687439"/>
            <a:ext cx="107013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33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 y GitHub</a:t>
            </a:r>
            <a:endParaRPr dirty="0"/>
          </a:p>
        </p:txBody>
      </p:sp>
      <p:sp>
        <p:nvSpPr>
          <p:cNvPr id="26" name="Google Shape;204;p19">
            <a:extLst>
              <a:ext uri="{FF2B5EF4-FFF2-40B4-BE49-F238E27FC236}">
                <a16:creationId xmlns:a16="http://schemas.microsoft.com/office/drawing/2014/main" id="{F97FE013-88EE-D1AB-18B7-F2F9F42E4A4B}"/>
              </a:ext>
            </a:extLst>
          </p:cNvPr>
          <p:cNvSpPr txBox="1"/>
          <p:nvPr/>
        </p:nvSpPr>
        <p:spPr>
          <a:xfrm>
            <a:off x="5571016" y="1846243"/>
            <a:ext cx="4549422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Asistente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inteligencia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artificial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utilizado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la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optimización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código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diseño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conceptual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asistencia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el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desarrollo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27" name="Google Shape;206;p19">
            <a:extLst>
              <a:ext uri="{FF2B5EF4-FFF2-40B4-BE49-F238E27FC236}">
                <a16:creationId xmlns:a16="http://schemas.microsoft.com/office/drawing/2014/main" id="{17EA5077-7DDB-7958-608F-C9D160B9FE7D}"/>
              </a:ext>
            </a:extLst>
          </p:cNvPr>
          <p:cNvSpPr txBox="1"/>
          <p:nvPr/>
        </p:nvSpPr>
        <p:spPr>
          <a:xfrm>
            <a:off x="5091289" y="3106059"/>
            <a:ext cx="5791199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Plataforma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pruebas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validar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documentar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los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endpoints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servicios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la API REST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construida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FastAPI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  <p:sp>
        <p:nvSpPr>
          <p:cNvPr id="28" name="Google Shape;208;p19">
            <a:extLst>
              <a:ext uri="{FF2B5EF4-FFF2-40B4-BE49-F238E27FC236}">
                <a16:creationId xmlns:a16="http://schemas.microsoft.com/office/drawing/2014/main" id="{222D4656-9D18-49BF-1608-D9A28A79A586}"/>
              </a:ext>
            </a:extLst>
          </p:cNvPr>
          <p:cNvSpPr txBox="1"/>
          <p:nvPr/>
        </p:nvSpPr>
        <p:spPr>
          <a:xfrm>
            <a:off x="5777298" y="4448705"/>
            <a:ext cx="4419179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Control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versiones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distribuido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plataforma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en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la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nube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para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alojamiento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de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código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,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ramificación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y </a:t>
            </a:r>
            <a:r>
              <a:rPr lang="en-US" sz="1350" b="1" dirty="0" err="1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colaboración</a:t>
            </a:r>
            <a:r>
              <a:rPr lang="en-US" sz="1350" b="1" dirty="0">
                <a:solidFill>
                  <a:srgbClr val="003366"/>
                </a:solidFill>
                <a:latin typeface="Plus Jakarta Sans"/>
                <a:cs typeface="Plus Jakarta Sans"/>
                <a:sym typeface="Inter"/>
              </a:rPr>
              <a:t> continua.</a:t>
            </a:r>
            <a:endParaRPr sz="1350" b="1" dirty="0">
              <a:solidFill>
                <a:srgbClr val="003366"/>
              </a:solidFill>
              <a:latin typeface="Plus Jakarta Sans"/>
              <a:cs typeface="Plus Jakarta Sans"/>
            </a:endParaRPr>
          </a:p>
        </p:txBody>
      </p:sp>
    </p:spTree>
    <p:extLst>
      <p:ext uri="{BB962C8B-B14F-4D97-AF65-F5344CB8AC3E}">
        <p14:creationId xmlns:p14="http://schemas.microsoft.com/office/powerpoint/2010/main" val="24407614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90;p36">
            <a:extLst>
              <a:ext uri="{FF2B5EF4-FFF2-40B4-BE49-F238E27FC236}">
                <a16:creationId xmlns:a16="http://schemas.microsoft.com/office/drawing/2014/main" id="{71AE5CF3-DBC4-BAE8-C6EE-F8876AFE298A}"/>
              </a:ext>
            </a:extLst>
          </p:cNvPr>
          <p:cNvSpPr txBox="1"/>
          <p:nvPr/>
        </p:nvSpPr>
        <p:spPr>
          <a:xfrm>
            <a:off x="1914676" y="3034882"/>
            <a:ext cx="8362648" cy="788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lang="es-CO" sz="48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V. IMPLEMENTACIÓN</a:t>
            </a:r>
            <a:endParaRPr sz="4800" b="1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9E110A48-56E6-3553-9070-E94091458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165886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6CCC5A5-4DB2-FC14-B379-DB735B3B5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444076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Pruebas de Usabilidad 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49687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2C5FE9B-108E-14D0-F5FE-5D0F8BF3B5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389" y="1501609"/>
            <a:ext cx="5027221" cy="5027221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5A6150D9-67B2-A8B1-D14C-A719F9A789B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32;p15">
            <a:extLst>
              <a:ext uri="{FF2B5EF4-FFF2-40B4-BE49-F238E27FC236}">
                <a16:creationId xmlns:a16="http://schemas.microsoft.com/office/drawing/2014/main" id="{CC02D98E-02A7-CC82-CFE6-99DD61643922}"/>
              </a:ext>
            </a:extLst>
          </p:cNvPr>
          <p:cNvSpPr/>
          <p:nvPr/>
        </p:nvSpPr>
        <p:spPr>
          <a:xfrm>
            <a:off x="571500" y="904875"/>
            <a:ext cx="76200" cy="304800"/>
          </a:xfrm>
          <a:prstGeom prst="roundRect">
            <a:avLst>
              <a:gd name="adj" fmla="val 50000"/>
            </a:avLst>
          </a:prstGeom>
          <a:solidFill>
            <a:srgbClr val="F5B01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131;p15">
            <a:extLst>
              <a:ext uri="{FF2B5EF4-FFF2-40B4-BE49-F238E27FC236}">
                <a16:creationId xmlns:a16="http://schemas.microsoft.com/office/drawing/2014/main" id="{32517378-B997-B034-EBF5-2DA5C5C61B6A}"/>
              </a:ext>
            </a:extLst>
          </p:cNvPr>
          <p:cNvSpPr txBox="1"/>
          <p:nvPr/>
        </p:nvSpPr>
        <p:spPr>
          <a:xfrm>
            <a:off x="571500" y="489377"/>
            <a:ext cx="546523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700" dirty="0">
                <a:solidFill>
                  <a:srgbClr val="003366"/>
                </a:solidFill>
                <a:latin typeface="Plus Jakarta Sans ExtraBold"/>
                <a:cs typeface="Plus Jakarta Sans ExtraBold"/>
              </a:rPr>
              <a:t>Resultado de Usabilidad</a:t>
            </a:r>
            <a:endParaRPr sz="2700" dirty="0">
              <a:solidFill>
                <a:srgbClr val="003366"/>
              </a:solidFill>
              <a:latin typeface="Plus Jakarta Sans ExtraBold"/>
              <a:cs typeface="Plus Jakarta Sans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497439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utoShape 4" descr="Correo y sitio web en línea">
            <a:extLst>
              <a:ext uri="{FF2B5EF4-FFF2-40B4-BE49-F238E27FC236}">
                <a16:creationId xmlns:a16="http://schemas.microsoft.com/office/drawing/2014/main" id="{EAD54A52-3378-3CC3-29EF-E9E8EE665D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F281F11-A0F4-A0C6-E778-619B5F7C80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469" b="47778"/>
          <a:stretch/>
        </p:blipFill>
        <p:spPr>
          <a:xfrm>
            <a:off x="3349096" y="4392992"/>
            <a:ext cx="5189008" cy="380394"/>
          </a:xfrm>
          <a:prstGeom prst="rect">
            <a:avLst/>
          </a:prstGeom>
        </p:spPr>
      </p:pic>
      <p:pic>
        <p:nvPicPr>
          <p:cNvPr id="2" name="Google Shape;84;p13" descr="image.png">
            <a:extLst>
              <a:ext uri="{FF2B5EF4-FFF2-40B4-BE49-F238E27FC236}">
                <a16:creationId xmlns:a16="http://schemas.microsoft.com/office/drawing/2014/main" id="{FBE692BC-B46C-755F-B649-B15BA25BC35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99333"/>
          <a:stretch/>
        </p:blipFill>
        <p:spPr>
          <a:xfrm>
            <a:off x="0" y="6820763"/>
            <a:ext cx="12192000" cy="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rgbClr val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664</Words>
  <Application>Microsoft Office PowerPoint</Application>
  <PresentationFormat>Panorámica</PresentationFormat>
  <Paragraphs>90</Paragraphs>
  <Slides>37</Slides>
  <Notes>37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37</vt:i4>
      </vt:variant>
    </vt:vector>
  </HeadingPairs>
  <TitlesOfParts>
    <vt:vector size="45" baseType="lpstr">
      <vt:lpstr>Inter Medium</vt:lpstr>
      <vt:lpstr>Inter</vt:lpstr>
      <vt:lpstr>Inter SemiBold</vt:lpstr>
      <vt:lpstr>Plus Jakarta Sans</vt:lpstr>
      <vt:lpstr>Arial</vt:lpstr>
      <vt:lpstr>Calibri</vt:lpstr>
      <vt:lpstr>Plus Jakarta Sans ExtraBold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Enrique Pedraza Sanchez</dc:creator>
  <cp:lastModifiedBy>Johan Acosta</cp:lastModifiedBy>
  <cp:revision>28</cp:revision>
  <dcterms:created xsi:type="dcterms:W3CDTF">2020-10-01T23:51:28Z</dcterms:created>
  <dcterms:modified xsi:type="dcterms:W3CDTF">2026-08-08T16:46:42Z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  <property fmtid="{D5CDD505-2E9C-101B-9397-08002B2CF9AE}" pid="10" name="ContentTypeId">
    <vt:lpwstr>0x010100BAA091B23A43D34AA14462823DC894E8</vt:lpwstr>
  </property>
  <property fmtid="{D5CDD505-2E9C-101B-9397-08002B2CF9AE}" pid="11" name="MediaServiceImageTags">
    <vt:lpwstr/>
  </property>
  <property fmtid="{D5CDD505-2E9C-101B-9397-08002B2CF9AE}" pid="12" name="Order">
    <vt:r8>194900</vt:r8>
  </property>
  <property fmtid="{D5CDD505-2E9C-101B-9397-08002B2CF9AE}" pid="13" name="xd_Signature">
    <vt:bool>false</vt:bool>
  </property>
  <property fmtid="{D5CDD505-2E9C-101B-9397-08002B2CF9AE}" pid="14" name="xd_ProgID">
    <vt:lpwstr/>
  </property>
  <property fmtid="{D5CDD505-2E9C-101B-9397-08002B2CF9AE}" pid="15" name="_SourceUrl">
    <vt:lpwstr/>
  </property>
  <property fmtid="{D5CDD505-2E9C-101B-9397-08002B2CF9AE}" pid="16" name="_SharedFileIndex">
    <vt:lpwstr/>
  </property>
  <property fmtid="{D5CDD505-2E9C-101B-9397-08002B2CF9AE}" pid="17" name="ComplianceAssetId">
    <vt:lpwstr/>
  </property>
  <property fmtid="{D5CDD505-2E9C-101B-9397-08002B2CF9AE}" pid="18" name="TemplateUrl">
    <vt:lpwstr/>
  </property>
  <property fmtid="{D5CDD505-2E9C-101B-9397-08002B2CF9AE}" pid="19" name="_ExtendedDescription">
    <vt:lpwstr/>
  </property>
  <property fmtid="{D5CDD505-2E9C-101B-9397-08002B2CF9AE}" pid="20" name="TriggerFlowInfo">
    <vt:lpwstr/>
  </property>
</Properties>
</file>